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6" r:id="rId9"/>
    <p:sldId id="267" r:id="rId10"/>
    <p:sldId id="274" r:id="rId11"/>
    <p:sldId id="276" r:id="rId12"/>
    <p:sldId id="275" r:id="rId13"/>
    <p:sldId id="268" r:id="rId14"/>
    <p:sldId id="277" r:id="rId15"/>
    <p:sldId id="271" r:id="rId16"/>
    <p:sldId id="261" r:id="rId17"/>
    <p:sldId id="278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>
        <p:scale>
          <a:sx n="82" d="100"/>
          <a:sy n="82" d="100"/>
        </p:scale>
        <p:origin x="-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241F8-F934-41DA-BF7B-CCB9DBA572C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EBE50-8A77-4A3F-9037-AD93CA4C035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STRAVA FITNESS DATA</a:t>
            </a:r>
            <a:br>
              <a:rPr lang="en-US" dirty="0"/>
            </a:br>
            <a:r>
              <a:rPr lang="en-US" dirty="0"/>
              <a:t>ANALYTICS CASE-STUDY</a:t>
            </a:r>
          </a:p>
        </p:txBody>
      </p:sp>
      <p:pic>
        <p:nvPicPr>
          <p:cNvPr id="4" name="Google Shape;5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25900" y="4539924"/>
            <a:ext cx="2318100" cy="23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/>
          </a:bodyPr>
          <a:lstStyle/>
          <a:p>
            <a:pPr marL="0" lvl="0" indent="0">
              <a:lnSpc>
                <a:spcPct val="12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sz="20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Case Study: How Can a Wellness Technology Company Play It Smart?</a:t>
            </a:r>
          </a:p>
          <a:p>
            <a:pPr marL="0" lvl="0" indent="0">
              <a:lnSpc>
                <a:spcPct val="125000"/>
              </a:lnSpc>
              <a:spcBef>
                <a:spcPts val="1800"/>
              </a:spcBef>
              <a:buClr>
                <a:schemeClr val="dk1"/>
              </a:buClr>
              <a:buSzPts val="1100"/>
              <a:buNone/>
            </a:pPr>
            <a:r>
              <a:rPr lang="en-US" sz="1500" b="1" dirty="0" smtClean="0">
                <a:solidFill>
                  <a:schemeClr val="dk1"/>
                </a:solidFill>
                <a:highlight>
                  <a:schemeClr val="lt1"/>
                </a:highlight>
              </a:rPr>
              <a:t>Background</a:t>
            </a:r>
          </a:p>
          <a:p>
            <a:pPr marL="173038" indent="-173038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US" sz="1700" dirty="0" smtClean="0">
                <a:solidFill>
                  <a:schemeClr val="dk1"/>
                </a:solidFill>
                <a:highlight>
                  <a:schemeClr val="lt1"/>
                </a:highlight>
              </a:rPr>
              <a:t>Bellabeat, a high-tech manufacturer of health-focused products for women founded</a:t>
            </a:r>
            <a:br>
              <a:rPr lang="en-US" sz="1700" dirty="0" smtClean="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-US" sz="1700" dirty="0" smtClean="0">
                <a:solidFill>
                  <a:schemeClr val="dk1"/>
                </a:solidFill>
                <a:highlight>
                  <a:schemeClr val="lt1"/>
                </a:highlight>
              </a:rPr>
              <a:t> in 2013.</a:t>
            </a:r>
          </a:p>
          <a:p>
            <a:pPr marL="173038" indent="-173038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US" sz="1700" dirty="0" smtClean="0">
                <a:solidFill>
                  <a:schemeClr val="dk1"/>
                </a:solidFill>
                <a:highlight>
                  <a:schemeClr val="lt1"/>
                </a:highlight>
              </a:rPr>
              <a:t> Bellabeat is a successful small company, but they have the potential to become a larger player in the global smart device market. </a:t>
            </a:r>
          </a:p>
          <a:p>
            <a:pPr marL="173038" indent="-173038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US" sz="1700" dirty="0" smtClean="0">
                <a:solidFill>
                  <a:schemeClr val="dk1"/>
                </a:solidFill>
                <a:highlight>
                  <a:schemeClr val="lt1"/>
                </a:highlight>
              </a:rPr>
              <a:t>Urška Sršen, co-founder and Chief Creative Officer of Bellabeat, believes that analyzing smart device fitness data could help unlock new growth opportunities for the company.</a:t>
            </a:r>
          </a:p>
          <a:p>
            <a:pPr marL="173038" indent="-173038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1700" dirty="0" smtClean="0">
                <a:solidFill>
                  <a:schemeClr val="dk1"/>
                </a:solidFill>
                <a:highlight>
                  <a:schemeClr val="lt1"/>
                </a:highlight>
              </a:rPr>
              <a:t>Sršen knows that an analysis of Bellabeat’s available consumer data would reveal more opportunities for growth</a:t>
            </a:r>
            <a:endParaRPr lang="en-US"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173038" indent="-173038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" sz="1800" dirty="0" smtClean="0">
                <a:solidFill>
                  <a:schemeClr val="dk1"/>
                </a:solidFill>
                <a:highlight>
                  <a:schemeClr val="lt1"/>
                </a:highlight>
              </a:rPr>
              <a:t>We are asked to focus on one of Bellabeat’s products and analyze smart device data to gain insight into how consumers are using their smart devices</a:t>
            </a:r>
            <a:endParaRPr lang="en-US" sz="1700" dirty="0" smtClean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600" b="1" dirty="0" smtClean="0"/>
              <a:t>Business Task</a:t>
            </a:r>
          </a:p>
          <a:p>
            <a:r>
              <a:rPr lang="en-US" sz="1600" dirty="0" smtClean="0"/>
              <a:t>The objective of this project is to </a:t>
            </a:r>
            <a:r>
              <a:rPr lang="en-US" sz="1600" b="1" dirty="0" smtClean="0"/>
              <a:t>analyze user activity, sleep patterns, and body metrics from smart fitness devices to </a:t>
            </a:r>
            <a:r>
              <a:rPr lang="en-US" sz="1600" dirty="0" smtClean="0"/>
              <a:t>understand user behavior. </a:t>
            </a:r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Tools Used</a:t>
            </a:r>
          </a:p>
          <a:p>
            <a:r>
              <a:rPr lang="en-US" sz="1600" dirty="0"/>
              <a:t>Python – For exploring, processing and cleaning of data (some of the files contained rows more than Excel can </a:t>
            </a:r>
            <a:r>
              <a:rPr lang="en-US" sz="1600" dirty="0" smtClean="0"/>
              <a:t>handle</a:t>
            </a:r>
          </a:p>
          <a:p>
            <a:r>
              <a:rPr lang="en-US" sz="1600" dirty="0" smtClean="0"/>
              <a:t>SQL – For more analysis and storage</a:t>
            </a:r>
          </a:p>
          <a:p>
            <a:r>
              <a:rPr lang="en-US" sz="1600" dirty="0" err="1" smtClean="0"/>
              <a:t>PowerBI</a:t>
            </a:r>
            <a:r>
              <a:rPr lang="en-US" sz="1600" dirty="0" smtClean="0"/>
              <a:t> – Analysis and Visualization</a:t>
            </a:r>
          </a:p>
          <a:p>
            <a:endParaRPr lang="en-US" sz="1600" dirty="0" smtClean="0"/>
          </a:p>
          <a:p>
            <a:pPr>
              <a:buNone/>
            </a:pPr>
            <a:r>
              <a:rPr lang="en-US" sz="1600" b="1" dirty="0" smtClean="0"/>
              <a:t>Data &amp; Source Integrity</a:t>
            </a:r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Reliability</a:t>
            </a:r>
          </a:p>
          <a:p>
            <a:r>
              <a:rPr lang="en-US" sz="1600" dirty="0" smtClean="0"/>
              <a:t>Data used for this project is from </a:t>
            </a:r>
            <a:r>
              <a:rPr lang="en-US" sz="1600" dirty="0" err="1" smtClean="0"/>
              <a:t>strava</a:t>
            </a:r>
            <a:r>
              <a:rPr lang="en-US" sz="1600" dirty="0" smtClean="0"/>
              <a:t> tracking  device under brand  </a:t>
            </a:r>
            <a:r>
              <a:rPr lang="en-US" sz="1600" dirty="0" err="1" smtClean="0"/>
              <a:t>Fitbit</a:t>
            </a:r>
            <a:r>
              <a:rPr lang="en-US" sz="1600" dirty="0" smtClean="0"/>
              <a:t> open/public data. The fitness data is from 33 individuals wearing </a:t>
            </a:r>
            <a:r>
              <a:rPr lang="en-US" sz="1600" dirty="0" err="1" smtClean="0"/>
              <a:t>strava</a:t>
            </a:r>
            <a:r>
              <a:rPr lang="en-US" sz="1600" dirty="0" smtClean="0"/>
              <a:t> fitness tracker. Since there is no information regarding participants’ age, sex and profession, accuracy and unbiased stand can not be vetted</a:t>
            </a:r>
          </a:p>
          <a:p>
            <a:pPr>
              <a:buNone/>
            </a:pPr>
            <a:r>
              <a:rPr lang="en-US" sz="1600" b="1" dirty="0" smtClean="0"/>
              <a:t>Originality</a:t>
            </a:r>
          </a:p>
          <a:p>
            <a:r>
              <a:rPr lang="en-US" sz="1600" dirty="0" smtClean="0"/>
              <a:t>Data set contains 33 user fitness tracking data down to the second. This data is collected between 12-4-2016 – 12-5-2016 which includes 19 days from April and 12 days from May. Totally 31 days of data is present</a:t>
            </a:r>
          </a:p>
          <a:p>
            <a:endParaRPr lang="en-US" sz="1600" dirty="0" smtClean="0"/>
          </a:p>
          <a:p>
            <a:pPr>
              <a:buNone/>
            </a:pPr>
            <a:endParaRPr lang="en-US" sz="1600" dirty="0" smtClean="0"/>
          </a:p>
          <a:p>
            <a:endParaRPr lang="en-US" sz="1600" dirty="0" smtClean="0"/>
          </a:p>
          <a:p>
            <a:pPr>
              <a:buNone/>
            </a:pPr>
            <a:endParaRPr lang="en-US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500" b="1" dirty="0" smtClean="0"/>
              <a:t>Comprehensiveness</a:t>
            </a:r>
            <a:endParaRPr lang="en-US" sz="1500" dirty="0" smtClean="0"/>
          </a:p>
          <a:p>
            <a:pPr marL="0" indent="0">
              <a:buNone/>
            </a:pPr>
            <a:r>
              <a:rPr lang="en-US" sz="1500" dirty="0" smtClean="0"/>
              <a:t>There are some discrepancies in the data sets</a:t>
            </a:r>
          </a:p>
          <a:p>
            <a:r>
              <a:rPr lang="en-US" sz="1500" dirty="0" smtClean="0"/>
              <a:t>There is no information about the age, sex, height and profession of the personnel providing fitness logs. This makes identifying pattern of activity of individual</a:t>
            </a:r>
          </a:p>
          <a:p>
            <a:r>
              <a:rPr lang="en-US" sz="1500" dirty="0" smtClean="0"/>
              <a:t>dailyActivities_merged.csv contains distance data but there is no information regarding distance measuring unit but we are taking in km based on the steps taken</a:t>
            </a:r>
          </a:p>
          <a:p>
            <a:r>
              <a:rPr lang="en-US" sz="1500" dirty="0" smtClean="0"/>
              <a:t>Not all participants have full 31 days  of data. This makes the time-frame for data </a:t>
            </a:r>
            <a:br>
              <a:rPr lang="en-US" sz="1500" dirty="0" smtClean="0"/>
            </a:br>
            <a:r>
              <a:rPr lang="en-US" sz="1500" dirty="0" smtClean="0"/>
              <a:t>analysis inconsistent.</a:t>
            </a:r>
          </a:p>
          <a:p>
            <a:r>
              <a:rPr lang="en-US" sz="1500" dirty="0" smtClean="0"/>
              <a:t>Some of the data contains 1440 </a:t>
            </a:r>
            <a:r>
              <a:rPr lang="en-US" sz="1500" dirty="0" err="1" smtClean="0"/>
              <a:t>mins</a:t>
            </a:r>
            <a:r>
              <a:rPr lang="en-US" sz="1500" dirty="0" smtClean="0"/>
              <a:t> of sedentary minutes which is equivalent  to </a:t>
            </a:r>
            <a:r>
              <a:rPr lang="en-US" sz="1500" dirty="0" smtClean="0"/>
              <a:t>day. </a:t>
            </a:r>
            <a:r>
              <a:rPr lang="en-US" sz="1500" dirty="0" smtClean="0"/>
              <a:t>This indicates not wearing the tracker throughout the day</a:t>
            </a:r>
          </a:p>
          <a:p>
            <a:pPr>
              <a:buNone/>
            </a:pPr>
            <a:endParaRPr lang="en-US" sz="1500" dirty="0" smtClean="0"/>
          </a:p>
          <a:p>
            <a:endParaRPr lang="en-US" sz="1500" dirty="0" smtClean="0"/>
          </a:p>
          <a:p>
            <a:pPr>
              <a:buNone/>
            </a:pPr>
            <a:endParaRPr lang="en-US" sz="15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4646" y="2929496"/>
            <a:ext cx="1949966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86050" y="2929496"/>
            <a:ext cx="592935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500" b="1" dirty="0" smtClean="0"/>
              <a:t>Data-set Observations</a:t>
            </a:r>
          </a:p>
          <a:p>
            <a:r>
              <a:rPr lang="en-US" sz="1500" dirty="0" smtClean="0"/>
              <a:t>The </a:t>
            </a:r>
            <a:r>
              <a:rPr lang="en-US" sz="1500" dirty="0" err="1" smtClean="0"/>
              <a:t>Strava</a:t>
            </a:r>
            <a:r>
              <a:rPr lang="en-US" sz="1500" dirty="0" smtClean="0"/>
              <a:t> data set contains 18 files containing different tracking data. These are: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1500" dirty="0" smtClean="0"/>
              <a:t>The data set has 18 files where 3 files are in both wide and long format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1500" dirty="0" smtClean="0"/>
              <a:t>dailyActivity_merged file = dailyCalories_merged + dailySteps_merged + dailyIntensities_merged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1500" dirty="0" smtClean="0"/>
              <a:t>In Remaining files the data is in minutes, hours and seconds, if we want to go into minute analysis we can use all those files.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1500" dirty="0" smtClean="0"/>
              <a:t>In this Analysis , we are taking only the dailyActivity data (calories, steps, activity </a:t>
            </a:r>
            <a:r>
              <a:rPr lang="en-US" sz="1500" dirty="0" smtClean="0"/>
              <a:t>details, intensities),  </a:t>
            </a:r>
            <a:r>
              <a:rPr lang="en-US" sz="1500" dirty="0" smtClean="0"/>
              <a:t>sleepday,  weightlog data and heart_rate data</a:t>
            </a:r>
          </a:p>
          <a:p>
            <a:pPr marL="266700" indent="-266700">
              <a:buFont typeface="Arial" pitchFamily="34" charset="0"/>
              <a:buChar char="•"/>
            </a:pPr>
            <a:r>
              <a:rPr lang="en-US" sz="1500" dirty="0" smtClean="0"/>
              <a:t>Heartrate_seconds_merged.csv contains heart rate of an individual for 24 hrs in  seconds interval</a:t>
            </a:r>
          </a:p>
          <a:p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b="1" dirty="0" smtClean="0"/>
              <a:t>Cleaning and Processing Data</a:t>
            </a:r>
          </a:p>
          <a:p>
            <a:pPr>
              <a:buNone/>
            </a:pPr>
            <a:endParaRPr lang="en-US" sz="1600" b="1" dirty="0" smtClean="0"/>
          </a:p>
          <a:p>
            <a:r>
              <a:rPr lang="en-US" sz="1600" b="1" dirty="0" smtClean="0"/>
              <a:t>Duplicates</a:t>
            </a:r>
            <a:r>
              <a:rPr lang="en-US" sz="1600" dirty="0" smtClean="0"/>
              <a:t>:  No duplicates in all the datasets except daily_sleep which has 3 duplicates. Removed the duplicates</a:t>
            </a:r>
          </a:p>
          <a:p>
            <a:r>
              <a:rPr lang="en-US" sz="1600" b="1" dirty="0" smtClean="0"/>
              <a:t>Null Values: </a:t>
            </a:r>
            <a:r>
              <a:rPr lang="en-US" sz="1600" dirty="0" smtClean="0"/>
              <a:t>We do not have null values in all the datasets except Weight_Info  dataset has Fat column where 65 rows are null out of 67 rows present so we are ignoring the column</a:t>
            </a:r>
          </a:p>
          <a:p>
            <a:r>
              <a:rPr lang="en-US" sz="1600" b="1" dirty="0" smtClean="0"/>
              <a:t>Data types</a:t>
            </a:r>
            <a:r>
              <a:rPr lang="en-US" sz="1600" dirty="0" smtClean="0"/>
              <a:t>:  Changed the data type of Date column in all the 4 datasets to consistent format</a:t>
            </a:r>
          </a:p>
          <a:p>
            <a:r>
              <a:rPr lang="en-US" sz="1600" b="1" dirty="0" smtClean="0"/>
              <a:t>New columns </a:t>
            </a:r>
            <a:r>
              <a:rPr lang="en-US" sz="1600" dirty="0" smtClean="0"/>
              <a:t>: </a:t>
            </a:r>
          </a:p>
          <a:p>
            <a:pPr marL="717550" indent="-358775">
              <a:buFont typeface="Wingdings" pitchFamily="2" charset="2"/>
              <a:buChar char="§"/>
            </a:pPr>
            <a:r>
              <a:rPr lang="en-US" sz="1600" dirty="0" smtClean="0"/>
              <a:t>Added Month ,Week_name columns in all the 4 datasets</a:t>
            </a:r>
          </a:p>
          <a:p>
            <a:pPr marL="717550" indent="-358775">
              <a:buFont typeface="Wingdings" pitchFamily="2" charset="2"/>
              <a:buChar char="§"/>
            </a:pPr>
            <a:r>
              <a:rPr lang="en-US" sz="1600" dirty="0" smtClean="0"/>
              <a:t>Added Sleep_hrs, Hours_in_bed  columns  in daily_sleep dataset</a:t>
            </a:r>
          </a:p>
          <a:p>
            <a:pPr marL="717550" indent="-358775">
              <a:buFont typeface="Wingdings" pitchFamily="2" charset="2"/>
              <a:buChar char="§"/>
            </a:pPr>
            <a:r>
              <a:rPr lang="en-US" sz="1600" dirty="0" smtClean="0"/>
              <a:t>BMI_Category  column in Weight_Info dataset in  for better analysis</a:t>
            </a:r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Analyzing the datasets</a:t>
            </a:r>
          </a:p>
          <a:p>
            <a:pPr>
              <a:buNone/>
            </a:pPr>
            <a:endParaRPr lang="en-US" sz="1600" b="1" dirty="0"/>
          </a:p>
          <a:p>
            <a:r>
              <a:rPr lang="en-US" sz="1600" b="1" dirty="0" smtClean="0"/>
              <a:t>Daily_Activity</a:t>
            </a:r>
            <a:r>
              <a:rPr lang="en-US" sz="1600" dirty="0" smtClean="0"/>
              <a:t>  there are 33 users with 940 rows</a:t>
            </a:r>
          </a:p>
          <a:p>
            <a:r>
              <a:rPr lang="en-US" sz="1600" b="1" dirty="0" smtClean="0"/>
              <a:t>Daily_sleep</a:t>
            </a:r>
            <a:r>
              <a:rPr lang="en-US" sz="1600" dirty="0" smtClean="0"/>
              <a:t>  we have 24 users with 410 rows</a:t>
            </a:r>
          </a:p>
          <a:p>
            <a:r>
              <a:rPr lang="en-US" sz="1600" dirty="0" smtClean="0"/>
              <a:t> </a:t>
            </a:r>
            <a:r>
              <a:rPr lang="en-US" sz="1600" b="1" dirty="0" smtClean="0"/>
              <a:t>weight_info</a:t>
            </a:r>
            <a:r>
              <a:rPr lang="en-US" sz="1600" dirty="0" smtClean="0"/>
              <a:t> we have 8 users with 67 rows</a:t>
            </a:r>
          </a:p>
          <a:p>
            <a:r>
              <a:rPr lang="en-US" sz="1600" b="1" dirty="0" smtClean="0"/>
              <a:t>Heart_ratesec</a:t>
            </a:r>
            <a:r>
              <a:rPr lang="en-US" sz="1600" dirty="0"/>
              <a:t> </a:t>
            </a:r>
            <a:r>
              <a:rPr lang="en-US" sz="1600" dirty="0" smtClean="0"/>
              <a:t>there are 14 users with 2483658 rows. </a:t>
            </a:r>
          </a:p>
          <a:p>
            <a:r>
              <a:rPr lang="en-US" sz="1600" dirty="0" smtClean="0"/>
              <a:t>So if we merge all the 3 files with common data we will loose lot of data. so trying to analyze them individually and then merging 2 individually</a:t>
            </a:r>
          </a:p>
          <a:p>
            <a:pPr>
              <a:buNone/>
            </a:pP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00298" y="1000108"/>
            <a:ext cx="614366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/>
              <a:t>In the daily_Activity data  21 users are having 31 Active_days and  the remaining 12 users have the Active days as shown in image on left</a:t>
            </a:r>
          </a:p>
          <a:p>
            <a:endParaRPr lang="en-US" sz="1500" dirty="0" smtClean="0"/>
          </a:p>
          <a:p>
            <a:endParaRPr lang="en-US" sz="1500" dirty="0" smtClean="0"/>
          </a:p>
          <a:p>
            <a:endParaRPr lang="en-US" sz="1500" dirty="0" smtClean="0"/>
          </a:p>
          <a:p>
            <a:endParaRPr lang="en-US" sz="1500" dirty="0"/>
          </a:p>
          <a:p>
            <a:r>
              <a:rPr lang="en-US" sz="1500" dirty="0" smtClean="0"/>
              <a:t>3 participants who are in April are not there in May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 smtClean="0"/>
              <a:t>2347167796 -- Active for 18 days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 smtClean="0"/>
              <a:t>4057192912 -- Active for 4 days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 smtClean="0"/>
              <a:t>8253242879 -- Active for 19 days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2500298" y="3714752"/>
            <a:ext cx="28553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 smtClean="0"/>
              <a:t>Average </a:t>
            </a:r>
            <a:r>
              <a:rPr lang="en-US" sz="1500" b="1" dirty="0"/>
              <a:t>calories burnt per </a:t>
            </a:r>
            <a:r>
              <a:rPr lang="en-US" sz="1500" b="1" dirty="0" smtClean="0"/>
              <a:t>month</a:t>
            </a:r>
            <a:endParaRPr lang="en-US" sz="15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922708" y="3714752"/>
            <a:ext cx="272125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 Average </a:t>
            </a:r>
            <a:r>
              <a:rPr lang="en-US" sz="1500" b="1" dirty="0" smtClean="0"/>
              <a:t>Steps taken per month</a:t>
            </a:r>
            <a:endParaRPr lang="en-US" sz="1500" b="1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4143380"/>
            <a:ext cx="20764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37022" y="4143380"/>
            <a:ext cx="20478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428596" y="428605"/>
            <a:ext cx="785818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 smtClean="0"/>
              <a:t>Analyzing dailyActivity data set</a:t>
            </a:r>
          </a:p>
          <a:p>
            <a:pPr algn="ctr"/>
            <a:endParaRPr lang="en-US" sz="24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71736" y="1643050"/>
            <a:ext cx="253365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Group 11"/>
          <p:cNvGrpSpPr/>
          <p:nvPr/>
        </p:nvGrpSpPr>
        <p:grpSpPr>
          <a:xfrm>
            <a:off x="571473" y="928671"/>
            <a:ext cx="1714512" cy="5500726"/>
            <a:chOff x="571472" y="928670"/>
            <a:chExt cx="1819275" cy="6205519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71472" y="928670"/>
              <a:ext cx="1819275" cy="3857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94622" y="4743414"/>
              <a:ext cx="1762125" cy="2390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28596" y="428605"/>
            <a:ext cx="785818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 smtClean="0"/>
              <a:t>Analyzing daily_Activity Steps taken</a:t>
            </a:r>
          </a:p>
          <a:p>
            <a:pPr algn="ctr"/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928670"/>
            <a:ext cx="5715040" cy="537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1142984"/>
            <a:ext cx="20955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357950" y="2857496"/>
            <a:ext cx="23574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/>
              <a:t>Based on the data we can say that steps taken is higher on Tuesday and Saturday and lowest on Sunday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/>
              <a:t>The users 8877689391 and 8053475328 are taking high steps taken weekly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/>
              <a:t>1927972279 and 8792009665 has the lowest steps taken weekly</a:t>
            </a:r>
          </a:p>
          <a:p>
            <a:pPr>
              <a:buFont typeface="Arial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100156"/>
            <a:ext cx="5533425" cy="532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74" y="1142984"/>
            <a:ext cx="1928826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28596" y="428605"/>
            <a:ext cx="785818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 smtClean="0"/>
              <a:t>Analyzing daily_Activity Calories burnt</a:t>
            </a:r>
          </a:p>
          <a:p>
            <a:pPr algn="ctr"/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215074" y="2714620"/>
            <a:ext cx="23574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/>
              <a:t>Based on the data we can say that calories burnt is higher on Tuesday and Saturday and lowest on Thursday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/>
              <a:t>The users 8877689391 and 8378563200 are taking burnt high calories  weekly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/>
              <a:t>1624580081and 3977333714 has the lowest calories burnt weekly</a:t>
            </a:r>
          </a:p>
          <a:p>
            <a:pPr>
              <a:buFont typeface="Arial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Steps taken vs. Calories burnt</a:t>
            </a:r>
            <a:endParaRPr lang="en-US" sz="2400" b="1" dirty="0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428736"/>
            <a:ext cx="3429024" cy="226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2571744"/>
            <a:ext cx="3071834" cy="940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4143372" y="1571612"/>
            <a:ext cx="43577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/>
              <a:t>We can say that total steps is directly proportional to calories burnt. As the no. of steps increases the Calories burnt increases</a:t>
            </a:r>
            <a:endParaRPr lang="en-US" sz="1500" dirty="0"/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4004127"/>
            <a:ext cx="8321841" cy="1695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428605"/>
            <a:ext cx="785818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 smtClean="0"/>
              <a:t>Analyzing daily_Activity Steps taken and calories burnt</a:t>
            </a:r>
          </a:p>
          <a:p>
            <a:pPr algn="ctr"/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128731"/>
            <a:ext cx="3276600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928662" y="3905916"/>
            <a:ext cx="3143272" cy="380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28662" y="5489127"/>
            <a:ext cx="3143272" cy="259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128731"/>
            <a:ext cx="320040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4668450" y="4928508"/>
            <a:ext cx="3143272" cy="14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14348" y="6098469"/>
            <a:ext cx="7786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Out of 33 we can see only 6 participants are taking the </a:t>
            </a:r>
            <a:r>
              <a:rPr lang="en-US" sz="1400" b="1" dirty="0" smtClean="0"/>
              <a:t>10,000 steps/day. We can see those with 10,000 steps are not losing calories</a:t>
            </a:r>
            <a:r>
              <a:rPr lang="en-US" sz="1400" dirty="0" smtClean="0"/>
              <a:t> we should look into their food habits</a:t>
            </a:r>
            <a:endParaRPr lang="en-US" sz="1400" dirty="0"/>
          </a:p>
        </p:txBody>
      </p:sp>
      <p:sp>
        <p:nvSpPr>
          <p:cNvPr id="15" name="Rectangle 14"/>
          <p:cNvSpPr/>
          <p:nvPr/>
        </p:nvSpPr>
        <p:spPr>
          <a:xfrm>
            <a:off x="4668450" y="5189812"/>
            <a:ext cx="3143272" cy="14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668450" y="4261118"/>
            <a:ext cx="3143272" cy="14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668450" y="1463461"/>
            <a:ext cx="3143272" cy="14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668450" y="2260854"/>
            <a:ext cx="3143272" cy="14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668450" y="5440839"/>
            <a:ext cx="3143272" cy="14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65375" y="4952348"/>
            <a:ext cx="3143272" cy="14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Active vs. Sedentary minutes</a:t>
            </a:r>
            <a:endParaRPr lang="en-US" sz="24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14422"/>
            <a:ext cx="5105400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884" y="1390601"/>
            <a:ext cx="2964675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857884" y="2535597"/>
            <a:ext cx="29289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Any activity with </a:t>
            </a:r>
            <a:r>
              <a:rPr lang="en-US" sz="1400" b="1" dirty="0" smtClean="0"/>
              <a:t>very low movement or energy expenditure </a:t>
            </a:r>
            <a:r>
              <a:rPr lang="en-US" sz="1400" dirty="0" smtClean="0"/>
              <a:t>is called sedentary.</a:t>
            </a:r>
          </a:p>
          <a:p>
            <a:endParaRPr lang="en-US" sz="1400" dirty="0" smtClean="0"/>
          </a:p>
          <a:p>
            <a:r>
              <a:rPr lang="en-US" sz="1400" dirty="0" smtClean="0"/>
              <a:t>Sedentary minutes are recorded when : you are sitting, Lying down, Working at a desk, Watching TV, Driving</a:t>
            </a:r>
          </a:p>
          <a:p>
            <a:endParaRPr lang="en-US" sz="1400" dirty="0" smtClean="0"/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/>
              <a:t>Sedentary time varies widely (</a:t>
            </a:r>
            <a:r>
              <a:rPr lang="en-US" sz="1400" b="1" dirty="0" smtClean="0"/>
              <a:t>500–1400 min/day</a:t>
            </a:r>
            <a:r>
              <a:rPr lang="en-US" sz="1400" dirty="0" smtClean="0"/>
              <a:t>) across participants.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dirty="0" smtClean="0"/>
              <a:t>Many participants consistently show </a:t>
            </a:r>
            <a:r>
              <a:rPr lang="en-US" sz="1400" b="1" dirty="0" smtClean="0"/>
              <a:t>&gt;1000 sedentary minutes</a:t>
            </a:r>
            <a:r>
              <a:rPr lang="en-US" sz="1400" dirty="0" smtClean="0"/>
              <a:t>, indicating highly inactive lifestyles.</a:t>
            </a:r>
          </a:p>
          <a:p>
            <a:pPr marL="173038" indent="-173038">
              <a:buFont typeface="Arial" pitchFamily="34" charset="0"/>
              <a:buChar char="•"/>
            </a:pPr>
            <a:r>
              <a:rPr lang="en-US" sz="1400" b="1" dirty="0" smtClean="0"/>
              <a:t>Participant behavior matters more than weekday differences</a:t>
            </a:r>
            <a:r>
              <a:rPr lang="en-US" sz="1400" dirty="0" smtClean="0"/>
              <a:t>, suggesting lifestyle-driven inactivity.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Analyzing weight &amp; daily_Activity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714744" y="3000372"/>
            <a:ext cx="492922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We have weight info of 8 participants whose weight information is available. </a:t>
            </a:r>
          </a:p>
          <a:p>
            <a:endParaRPr lang="en-US" sz="1600" dirty="0" smtClean="0"/>
          </a:p>
          <a:p>
            <a:r>
              <a:rPr lang="en-US" sz="1600" dirty="0" smtClean="0"/>
              <a:t>We have very limited data of weight_info of participants. As we can see only 2 participants data is available for &gt;20 days  and rest of participants we have 1 or 2 days data</a:t>
            </a:r>
          </a:p>
          <a:p>
            <a:endParaRPr lang="en-US" sz="1600" dirty="0" smtClean="0"/>
          </a:p>
          <a:p>
            <a:r>
              <a:rPr lang="en-US" sz="1600" dirty="0" smtClean="0"/>
              <a:t>The BMI distribution is peaked because the data of participant who have 30 days data is peaked</a:t>
            </a:r>
          </a:p>
          <a:p>
            <a:endParaRPr lang="en-US" sz="1600" dirty="0" smtClean="0"/>
          </a:p>
          <a:p>
            <a:r>
              <a:rPr lang="en-US" sz="1600" dirty="0" smtClean="0"/>
              <a:t>We can say that obese person is having less activity</a:t>
            </a:r>
            <a:endParaRPr lang="en-US" sz="16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90523"/>
            <a:ext cx="8572560" cy="1517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3000372"/>
            <a:ext cx="3071834" cy="24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Analyzing sleep &amp; dailyActivity</a:t>
            </a:r>
            <a:endParaRPr lang="en-US" sz="2400" b="1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9256" y="1377679"/>
            <a:ext cx="3286148" cy="1369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572132" y="2857496"/>
            <a:ext cx="29289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We can see two participants who are struggling to sleep  as we can see the difference between TimeInBed and Hrs_Asleep &gt; 3 rest are able to sleep within 1 hr of going to bed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285860"/>
            <a:ext cx="4819650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7021" y="5108787"/>
            <a:ext cx="48196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391883" y="2023390"/>
            <a:ext cx="4857784" cy="190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05383" y="4930062"/>
            <a:ext cx="4857784" cy="190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4143380"/>
            <a:ext cx="15144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72330" y="4071942"/>
            <a:ext cx="17145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5548982" y="5715016"/>
            <a:ext cx="328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We have 6 members who have &lt;5hrs sleep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Sleeping_hrs vs. Steps_taken</a:t>
            </a:r>
            <a:endParaRPr lang="en-US" sz="2400" b="1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357298"/>
            <a:ext cx="7720032" cy="243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42910" y="3960168"/>
            <a:ext cx="75724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Moderately Walking between 5000 to 15000 steps can help to have good sleep between 5 hrs to 9hrs</a:t>
            </a:r>
          </a:p>
          <a:p>
            <a:r>
              <a:rPr lang="en-US" sz="1400" dirty="0" smtClean="0"/>
              <a:t>people walking more than 15000 steps are not having enough sleep</a:t>
            </a:r>
            <a:endParaRPr lang="en-US" sz="1400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4643446"/>
            <a:ext cx="37909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Distance vs. MinutesAsleep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14348" y="4587526"/>
            <a:ext cx="76438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/>
              <a:t>We can't find any relation as there are respondents with good sleep without covering minimum distance and people covering greater distance who are not having good sleep</a:t>
            </a:r>
            <a:endParaRPr lang="en-US" sz="15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732" y="1494036"/>
            <a:ext cx="8239068" cy="2828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Heart_rate analysis</a:t>
            </a:r>
            <a:endParaRPr lang="en-US" sz="2400" b="1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06" y="1357298"/>
            <a:ext cx="4886325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3855" y="1357298"/>
            <a:ext cx="307657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4286256"/>
            <a:ext cx="23622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3357554" y="4357694"/>
            <a:ext cx="500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We have heart_rate of 31 days and of 14 participants and </a:t>
            </a:r>
            <a:r>
              <a:rPr lang="en-US" sz="1400" dirty="0" err="1" smtClean="0"/>
              <a:t>Avg_heart</a:t>
            </a:r>
            <a:r>
              <a:rPr lang="en-US" sz="1400" dirty="0" smtClean="0"/>
              <a:t> rate per user is between 66 and 93 which is normal.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28596" y="5143512"/>
            <a:ext cx="7786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We have heart_rate of 2026352035 for only 4 days and only on Sunday and Monday and he is having data for 2 days in April month and 2 days from May month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Heart_rate vs. dailyActivity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1285860"/>
            <a:ext cx="37528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1285860"/>
            <a:ext cx="1857388" cy="284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42910" y="4286256"/>
            <a:ext cx="7786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We have heart_rate of 2347167796 for only April month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Business Insights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Respondents are mostly using the device for tracking steps, heart-beat, sleep , weight info ,calories burnt</a:t>
            </a:r>
          </a:p>
          <a:p>
            <a:r>
              <a:rPr lang="en-US" dirty="0" smtClean="0"/>
              <a:t>Many users do not reach recommended </a:t>
            </a:r>
            <a:r>
              <a:rPr lang="en-US" b="1" dirty="0" smtClean="0"/>
              <a:t>10,000 steps/day </a:t>
            </a:r>
            <a:r>
              <a:rPr lang="en-US" dirty="0" smtClean="0"/>
              <a:t>only 6 participants </a:t>
            </a:r>
            <a:br>
              <a:rPr lang="en-US" dirty="0" smtClean="0"/>
            </a:br>
            <a:r>
              <a:rPr lang="en-US" dirty="0" smtClean="0"/>
              <a:t>out of 33</a:t>
            </a:r>
          </a:p>
          <a:p>
            <a:r>
              <a:rPr lang="en-US" dirty="0" smtClean="0"/>
              <a:t>suggest customer to have regular activity of walking by giving personalized messages as they have forgot to walk on a particular day.</a:t>
            </a:r>
          </a:p>
          <a:p>
            <a:r>
              <a:rPr lang="en-US" dirty="0" smtClean="0"/>
              <a:t>Customized messages of calories intake, calories burnt, weight info, sleep , heart-rate, steps taken on particular day.</a:t>
            </a:r>
          </a:p>
          <a:p>
            <a:r>
              <a:rPr lang="en-US" dirty="0" smtClean="0"/>
              <a:t>Higher activity correlates with </a:t>
            </a:r>
            <a:r>
              <a:rPr lang="en-US" b="1" dirty="0" smtClean="0"/>
              <a:t>higher calorie burn </a:t>
            </a:r>
            <a:endParaRPr lang="en-US" dirty="0" smtClean="0"/>
          </a:p>
          <a:p>
            <a:r>
              <a:rPr lang="en-US" dirty="0" smtClean="0"/>
              <a:t>The participants who walk 10,000 steps but the calories burnt are less because of the </a:t>
            </a:r>
            <a:r>
              <a:rPr lang="en-US" smtClean="0"/>
              <a:t>calorie </a:t>
            </a:r>
            <a:r>
              <a:rPr lang="en-US" smtClean="0"/>
              <a:t>intake. </a:t>
            </a:r>
            <a:r>
              <a:rPr lang="en-US" dirty="0" smtClean="0"/>
              <a:t>suggest them on diet and calories to maintain healthy life style</a:t>
            </a:r>
          </a:p>
          <a:p>
            <a:r>
              <a:rPr lang="en-US" dirty="0" smtClean="0"/>
              <a:t>Inform customers with unusual heart beat for check-up</a:t>
            </a:r>
          </a:p>
          <a:p>
            <a:r>
              <a:rPr lang="en-US" dirty="0" smtClean="0"/>
              <a:t>Some users fall into </a:t>
            </a:r>
            <a:r>
              <a:rPr lang="en-US" b="1" dirty="0" smtClean="0"/>
              <a:t>overweight BMI category </a:t>
            </a:r>
            <a:r>
              <a:rPr lang="en-US" dirty="0" smtClean="0"/>
              <a:t>,</a:t>
            </a:r>
            <a:r>
              <a:rPr lang="en-US" b="1" dirty="0" smtClean="0"/>
              <a:t> </a:t>
            </a:r>
            <a:r>
              <a:rPr lang="en-US" dirty="0" smtClean="0"/>
              <a:t>give suggestion on food habits and activity best suited to reduce calories.</a:t>
            </a:r>
          </a:p>
          <a:p>
            <a:r>
              <a:rPr lang="en-US" dirty="0" smtClean="0"/>
              <a:t>Some users </a:t>
            </a:r>
            <a:r>
              <a:rPr lang="en-US" b="1" dirty="0" smtClean="0"/>
              <a:t>do not meet sleep recommendations </a:t>
            </a:r>
            <a:r>
              <a:rPr lang="en-US" dirty="0" smtClean="0"/>
              <a:t>,send</a:t>
            </a:r>
            <a:r>
              <a:rPr lang="en-US" b="1" dirty="0" smtClean="0"/>
              <a:t> </a:t>
            </a:r>
            <a:r>
              <a:rPr lang="en-US" dirty="0" smtClean="0"/>
              <a:t>customized messages of how get sleep better to participants who have sleep &lt;5hrs and struggling to sleep </a:t>
            </a:r>
          </a:p>
          <a:p>
            <a:r>
              <a:rPr lang="en-US" dirty="0" smtClean="0"/>
              <a:t>Users spend </a:t>
            </a:r>
            <a:r>
              <a:rPr lang="en-US" b="1" dirty="0" smtClean="0"/>
              <a:t>large time sedentary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2437</TotalTime>
  <Words>1142</Words>
  <Application>Microsoft Office PowerPoint</Application>
  <PresentationFormat>On-screen Show (4:3)</PresentationFormat>
  <Paragraphs>120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STRAVA FITNESS DATA ANALYTICS CASE-STUDY</vt:lpstr>
      <vt:lpstr>Slide 2</vt:lpstr>
      <vt:lpstr>Slide 3</vt:lpstr>
      <vt:lpstr>Slide 4</vt:lpstr>
      <vt:lpstr>Slide 5</vt:lpstr>
      <vt:lpstr>Slide 6</vt:lpstr>
      <vt:lpstr>Slide 7</vt:lpstr>
      <vt:lpstr>Slide 8</vt:lpstr>
      <vt:lpstr>Steps taken vs. Calories burnt</vt:lpstr>
      <vt:lpstr>Slide 10</vt:lpstr>
      <vt:lpstr>Active vs. Sedentary minutes</vt:lpstr>
      <vt:lpstr>Analyzing weight &amp; daily_Activity</vt:lpstr>
      <vt:lpstr>Analyzing sleep &amp; dailyActivity</vt:lpstr>
      <vt:lpstr>Sleeping_hrs vs. Steps_taken</vt:lpstr>
      <vt:lpstr>Distance vs. MinutesAsleep</vt:lpstr>
      <vt:lpstr>Heart_rate analysis</vt:lpstr>
      <vt:lpstr>Heart_rate vs. dailyActivity</vt:lpstr>
      <vt:lpstr>Business Insights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</dc:creator>
  <cp:lastModifiedBy>HI</cp:lastModifiedBy>
  <cp:revision>120</cp:revision>
  <dcterms:created xsi:type="dcterms:W3CDTF">2026-03-10T08:49:47Z</dcterms:created>
  <dcterms:modified xsi:type="dcterms:W3CDTF">2026-03-13T06:59:54Z</dcterms:modified>
</cp:coreProperties>
</file>