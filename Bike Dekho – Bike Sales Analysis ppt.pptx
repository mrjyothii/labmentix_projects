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2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5BABB-851E-4556-8FAB-C9580CD10F82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2EF5A-2C5F-4B27-AC38-4E307EADE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Bike </a:t>
            </a:r>
            <a:r>
              <a:rPr lang="en-US" b="1" dirty="0">
                <a:solidFill>
                  <a:schemeClr val="bg1"/>
                </a:solidFill>
              </a:rPr>
              <a:t>Sales Analysis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buNone/>
            </a:pPr>
            <a:r>
              <a:rPr lang="en-US" sz="1800" b="1" dirty="0"/>
              <a:t>Data Cleaning &amp; Preprocessing</a:t>
            </a:r>
            <a:r>
              <a:rPr lang="en-US" sz="1800" b="1" dirty="0" smtClean="0"/>
              <a:t>:</a:t>
            </a:r>
          </a:p>
          <a:p>
            <a:pPr lvl="0"/>
            <a:r>
              <a:rPr lang="en-US" sz="1800" b="1" dirty="0" smtClean="0"/>
              <a:t>Removing duplicates : </a:t>
            </a:r>
            <a:r>
              <a:rPr lang="en-US" sz="1800" dirty="0" smtClean="0"/>
              <a:t>Select the data , go to data tab and click on remove duplicates, check in the box that the data contains headers</a:t>
            </a:r>
            <a:br>
              <a:rPr lang="en-US" sz="1800" dirty="0" smtClean="0"/>
            </a:br>
            <a:r>
              <a:rPr lang="en-US" sz="1800" dirty="0" smtClean="0"/>
              <a:t>-- Found 26 duplicate rows and 1000 unique values remain</a:t>
            </a:r>
          </a:p>
          <a:p>
            <a:pPr lvl="0"/>
            <a:r>
              <a:rPr lang="en-US" sz="1800" b="1" dirty="0" smtClean="0"/>
              <a:t>Missing Values: </a:t>
            </a:r>
            <a:r>
              <a:rPr lang="en-US" sz="1800" dirty="0" smtClean="0"/>
              <a:t>Select the data, go to home tab -&gt; find and select -&gt;</a:t>
            </a:r>
            <a:br>
              <a:rPr lang="en-US" sz="1800" dirty="0" smtClean="0"/>
            </a:br>
            <a:r>
              <a:rPr lang="en-US" sz="1800" dirty="0" smtClean="0"/>
              <a:t> go to special-&gt; select blanks</a:t>
            </a:r>
            <a:br>
              <a:rPr lang="en-US" sz="1800" dirty="0" smtClean="0"/>
            </a:br>
            <a:r>
              <a:rPr lang="en-US" sz="1800" dirty="0" smtClean="0"/>
              <a:t> -- There were no blank cells in data</a:t>
            </a:r>
            <a:endParaRPr lang="en-US" sz="1800" b="1" dirty="0" smtClean="0"/>
          </a:p>
          <a:p>
            <a:pPr lvl="0"/>
            <a:r>
              <a:rPr lang="en-US" sz="1800" dirty="0" smtClean="0"/>
              <a:t>Select the column values where the letters need to be abbreviated</a:t>
            </a:r>
          </a:p>
          <a:p>
            <a:pPr lvl="0"/>
            <a:r>
              <a:rPr lang="en-US" sz="1800" b="1" dirty="0" smtClean="0"/>
              <a:t>Marital Status column: </a:t>
            </a:r>
            <a:r>
              <a:rPr lang="en-US" sz="1800" dirty="0" smtClean="0"/>
              <a:t>Replaced M-Married and S-single to avoid confusion with M in Gender column using the functions </a:t>
            </a:r>
            <a:r>
              <a:rPr lang="en-US" sz="1800" b="1" dirty="0" smtClean="0"/>
              <a:t>Find</a:t>
            </a:r>
            <a:r>
              <a:rPr lang="en-US" sz="1800" dirty="0" smtClean="0"/>
              <a:t> and </a:t>
            </a:r>
            <a:r>
              <a:rPr lang="en-US" sz="1800" b="1" dirty="0" smtClean="0"/>
              <a:t>Replace all</a:t>
            </a:r>
          </a:p>
          <a:p>
            <a:pPr lvl="0"/>
            <a:r>
              <a:rPr lang="en-US" sz="1800" b="1" dirty="0" smtClean="0"/>
              <a:t>Gender</a:t>
            </a:r>
            <a:r>
              <a:rPr lang="en-US" sz="1800" dirty="0" smtClean="0"/>
              <a:t>: Find and Replace M-Male first as if we do F-Female first and then do </a:t>
            </a:r>
            <a:br>
              <a:rPr lang="en-US" sz="1800" dirty="0" smtClean="0"/>
            </a:br>
            <a:r>
              <a:rPr lang="en-US" sz="1800" dirty="0" smtClean="0"/>
              <a:t>M-Male it will replace the m in Fe</a:t>
            </a:r>
            <a:r>
              <a:rPr lang="en-US" sz="1800" b="1" dirty="0" smtClean="0"/>
              <a:t>m</a:t>
            </a:r>
            <a:r>
              <a:rPr lang="en-US" sz="1800" dirty="0" smtClean="0"/>
              <a:t>ale</a:t>
            </a:r>
          </a:p>
          <a:p>
            <a:pPr lvl="0"/>
            <a:r>
              <a:rPr lang="en-US" sz="1800" dirty="0" smtClean="0"/>
              <a:t>Created a new column </a:t>
            </a:r>
            <a:r>
              <a:rPr lang="en-US" sz="1800" b="1" dirty="0" smtClean="0"/>
              <a:t>Age group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– Young age : &lt;=35 </a:t>
            </a:r>
            <a:br>
              <a:rPr lang="en-US" sz="1800" dirty="0" smtClean="0"/>
            </a:br>
            <a:r>
              <a:rPr lang="en-US" sz="1800" dirty="0" smtClean="0"/>
              <a:t>– Middle age: &lt;=55 </a:t>
            </a:r>
            <a:br>
              <a:rPr lang="en-US" sz="1800" dirty="0" smtClean="0"/>
            </a:br>
            <a:r>
              <a:rPr lang="en-US" sz="1800" dirty="0" smtClean="0"/>
              <a:t>– Old age: &gt;55</a:t>
            </a:r>
          </a:p>
          <a:p>
            <a:pPr lvl="0"/>
            <a:r>
              <a:rPr lang="en-US" sz="1800" dirty="0" smtClean="0"/>
              <a:t>Created a new column </a:t>
            </a:r>
            <a:r>
              <a:rPr lang="en-US" sz="1800" b="1" dirty="0" err="1" smtClean="0"/>
              <a:t>Income_range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 –Low : &lt;=40000 </a:t>
            </a:r>
            <a:br>
              <a:rPr lang="en-US" sz="1800" dirty="0" smtClean="0"/>
            </a:br>
            <a:r>
              <a:rPr lang="en-US" sz="1800" dirty="0" smtClean="0"/>
              <a:t>–Middle: &lt;=80000 </a:t>
            </a:r>
            <a:br>
              <a:rPr lang="en-US" sz="1800" dirty="0" smtClean="0"/>
            </a:br>
            <a:r>
              <a:rPr lang="en-US" sz="1800" dirty="0" smtClean="0"/>
              <a:t>–Upper Middle: &lt;=120000 </a:t>
            </a:r>
            <a:br>
              <a:rPr lang="en-US" sz="1800" dirty="0" smtClean="0"/>
            </a:br>
            <a:r>
              <a:rPr lang="en-US" sz="1800" dirty="0" smtClean="0"/>
              <a:t>–Rich: &gt;120000</a:t>
            </a:r>
            <a:endParaRPr lang="en-US" sz="1800" dirty="0"/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Exploratory Data Analysis</a:t>
            </a:r>
            <a:r>
              <a:rPr lang="en-US" b="1" dirty="0" smtClean="0">
                <a:solidFill>
                  <a:schemeClr val="bg1"/>
                </a:solidFill>
              </a:rPr>
              <a:t>: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4324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 smtClean="0"/>
              <a:t>Out of 1000 rows of data 481 people purchased the bike. We are going to look into each and every demographic which is affecting the sales  </a:t>
            </a:r>
          </a:p>
          <a:p>
            <a:pPr>
              <a:buNone/>
            </a:pPr>
            <a:r>
              <a:rPr lang="en-US" sz="1800" b="1" dirty="0" smtClean="0"/>
              <a:t>Sales </a:t>
            </a:r>
            <a:r>
              <a:rPr lang="en-US" sz="1800" b="1" dirty="0"/>
              <a:t>based on Gender and Marital </a:t>
            </a:r>
            <a:r>
              <a:rPr lang="en-US" sz="1800" b="1" dirty="0" smtClean="0"/>
              <a:t>status</a:t>
            </a:r>
          </a:p>
          <a:p>
            <a:r>
              <a:rPr lang="en-US" sz="1800" dirty="0" smtClean="0"/>
              <a:t>Select the data , go to insert tab </a:t>
            </a:r>
            <a:r>
              <a:rPr lang="en-US" sz="1800" dirty="0" smtClean="0">
                <a:sym typeface="Wingdings" pitchFamily="2" charset="2"/>
              </a:rPr>
              <a:t>select pivot table  select new worksheet</a:t>
            </a:r>
          </a:p>
          <a:p>
            <a:r>
              <a:rPr lang="en-US" sz="1800" dirty="0" smtClean="0"/>
              <a:t>Select the columns on which you want to analyze the data</a:t>
            </a:r>
            <a:endParaRPr lang="en-US" sz="1800" b="1" dirty="0"/>
          </a:p>
          <a:p>
            <a:r>
              <a:rPr lang="en-US" sz="1800" dirty="0"/>
              <a:t>Married Males and Single Women purchase bikes more </a:t>
            </a:r>
            <a:r>
              <a:rPr lang="en-US" sz="1800" dirty="0" smtClean="0"/>
              <a:t>likely </a:t>
            </a:r>
            <a:r>
              <a:rPr lang="en-US" sz="1800" dirty="0"/>
              <a:t>than </a:t>
            </a:r>
            <a:r>
              <a:rPr lang="en-US" sz="1800" dirty="0" smtClean="0"/>
              <a:t>others</a:t>
            </a:r>
          </a:p>
          <a:p>
            <a:r>
              <a:rPr lang="en-US" sz="1800" dirty="0" smtClean="0"/>
              <a:t>We can find that there is no much difference in the gender purchase as there is only 1% difference</a:t>
            </a:r>
          </a:p>
          <a:p>
            <a:r>
              <a:rPr lang="en-US" sz="1800" dirty="0" smtClean="0"/>
              <a:t>Married people are more likely to purchase bikes compared to singles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464851"/>
            <a:ext cx="8143932" cy="2035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Exploratory Data Analysis</a:t>
            </a:r>
            <a:r>
              <a:rPr lang="en-US" b="1" dirty="0" smtClean="0">
                <a:solidFill>
                  <a:schemeClr val="bg1"/>
                </a:solidFill>
              </a:rPr>
              <a:t>: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1461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buNone/>
            </a:pPr>
            <a:r>
              <a:rPr lang="en-US" sz="1800" b="1" dirty="0"/>
              <a:t>Sales based on </a:t>
            </a:r>
            <a:r>
              <a:rPr lang="en-US" sz="1800" b="1" dirty="0" smtClean="0"/>
              <a:t>Region and Age Group</a:t>
            </a:r>
          </a:p>
          <a:p>
            <a:pPr>
              <a:buNone/>
            </a:pPr>
            <a:r>
              <a:rPr lang="en-US" sz="1800" b="1" dirty="0" smtClean="0"/>
              <a:t>Based on Region </a:t>
            </a:r>
          </a:p>
          <a:p>
            <a:r>
              <a:rPr lang="en-US" sz="1800" dirty="0" smtClean="0"/>
              <a:t>46% of Purchases are from North America ,</a:t>
            </a:r>
          </a:p>
          <a:p>
            <a:r>
              <a:rPr lang="en-US" sz="1800" dirty="0" smtClean="0"/>
              <a:t>31% from Europe, </a:t>
            </a:r>
          </a:p>
          <a:p>
            <a:r>
              <a:rPr lang="en-US" sz="1800" dirty="0" smtClean="0"/>
              <a:t>23% from Pacific</a:t>
            </a:r>
          </a:p>
          <a:p>
            <a:pPr>
              <a:buNone/>
            </a:pPr>
            <a:r>
              <a:rPr lang="en-US" sz="1800" b="1" dirty="0" smtClean="0"/>
              <a:t>Based on Age group </a:t>
            </a:r>
          </a:p>
          <a:p>
            <a:r>
              <a:rPr lang="en-US" sz="1800" dirty="0" smtClean="0"/>
              <a:t>65% from Middle age i.e., 36-55 </a:t>
            </a:r>
          </a:p>
          <a:p>
            <a:r>
              <a:rPr lang="en-US" sz="1800" dirty="0" smtClean="0"/>
              <a:t>24% from young age i.e., &lt;= 35</a:t>
            </a:r>
          </a:p>
          <a:p>
            <a:r>
              <a:rPr lang="en-US" sz="1800" dirty="0" smtClean="0"/>
              <a:t>11% from Old age i.e., &gt; 55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357694"/>
            <a:ext cx="8215370" cy="2079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Exploratory Data Analysis</a:t>
            </a:r>
            <a:r>
              <a:rPr lang="en-US" b="1" dirty="0" smtClean="0">
                <a:solidFill>
                  <a:schemeClr val="bg1"/>
                </a:solidFill>
              </a:rPr>
              <a:t>: 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800" b="1" dirty="0" smtClean="0"/>
              <a:t>Purchases based </a:t>
            </a:r>
            <a:r>
              <a:rPr lang="en-US" sz="1800" b="1" dirty="0"/>
              <a:t>on </a:t>
            </a:r>
            <a:r>
              <a:rPr lang="en-US" sz="1800" b="1" dirty="0" smtClean="0"/>
              <a:t>Education and Occupation</a:t>
            </a:r>
          </a:p>
          <a:p>
            <a:r>
              <a:rPr lang="en-US" sz="1800" dirty="0" smtClean="0"/>
              <a:t>35%-- Bachelors degree and 25% --Partial college as education are more likely to get bikes and 4% --Partial High school are the less likely to get bikes</a:t>
            </a:r>
          </a:p>
          <a:p>
            <a:r>
              <a:rPr lang="en-US" sz="1800" dirty="0" smtClean="0"/>
              <a:t>31% professionals,24% skilled manual ,18% clerical,12% Manual are most likely to have bikes compared to other occupations</a:t>
            </a:r>
          </a:p>
          <a:p>
            <a:r>
              <a:rPr lang="en-US" sz="1800" dirty="0" smtClean="0"/>
              <a:t>There is only slight difference in purchase in other occupations like  Management and Manual</a:t>
            </a:r>
          </a:p>
          <a:p>
            <a:r>
              <a:rPr lang="en-US" sz="1800" dirty="0" smtClean="0"/>
              <a:t>Bike purchase is not affected much by occupation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4143380"/>
            <a:ext cx="7803954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Exploratory Data Analysis</a:t>
            </a:r>
            <a:r>
              <a:rPr lang="en-US" b="1" dirty="0" smtClean="0">
                <a:solidFill>
                  <a:schemeClr val="bg1"/>
                </a:solidFill>
              </a:rPr>
              <a:t>: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800" b="1" dirty="0"/>
              <a:t>Sales based on </a:t>
            </a:r>
            <a:r>
              <a:rPr lang="en-US" sz="1800" b="1" dirty="0" smtClean="0"/>
              <a:t>No. of cars and Home Owner</a:t>
            </a:r>
          </a:p>
          <a:p>
            <a:r>
              <a:rPr lang="en-US" sz="1800" dirty="0" smtClean="0"/>
              <a:t>People with 0-2 cars are most likely to purchase cars compared </a:t>
            </a:r>
            <a:br>
              <a:rPr lang="en-US" sz="1800" dirty="0" smtClean="0"/>
            </a:br>
            <a:r>
              <a:rPr lang="en-US" sz="1800" dirty="0" smtClean="0"/>
              <a:t>to people with 3-4 cars</a:t>
            </a:r>
            <a:br>
              <a:rPr lang="en-US" sz="1800" dirty="0" smtClean="0"/>
            </a:br>
            <a:r>
              <a:rPr lang="en-US" sz="1800" dirty="0" smtClean="0"/>
              <a:t>-- 0 cars : 31% </a:t>
            </a:r>
            <a:br>
              <a:rPr lang="en-US" sz="1800" dirty="0" smtClean="0"/>
            </a:br>
            <a:r>
              <a:rPr lang="en-US" sz="1800" dirty="0" smtClean="0"/>
              <a:t>-- 1 car : 32% </a:t>
            </a:r>
            <a:br>
              <a:rPr lang="en-US" sz="1800" dirty="0" smtClean="0"/>
            </a:br>
            <a:r>
              <a:rPr lang="en-US" sz="1800" dirty="0" smtClean="0"/>
              <a:t>-- 2 cars : 26%  purchased the bikes</a:t>
            </a:r>
          </a:p>
          <a:p>
            <a:r>
              <a:rPr lang="en-US" sz="1800" dirty="0" smtClean="0"/>
              <a:t>People who are home owners account to 68% of people who purchase bikes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857628"/>
            <a:ext cx="8143933" cy="1939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Exploratory Data Analysis</a:t>
            </a:r>
            <a:r>
              <a:rPr lang="en-US" b="1" dirty="0" smtClean="0">
                <a:solidFill>
                  <a:schemeClr val="bg1"/>
                </a:solidFill>
              </a:rPr>
              <a:t>: 5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800" b="1" dirty="0"/>
              <a:t>Sales based on </a:t>
            </a:r>
            <a:r>
              <a:rPr lang="en-US" sz="1800" b="1" dirty="0" smtClean="0"/>
              <a:t>Income and commute distance</a:t>
            </a:r>
          </a:p>
          <a:p>
            <a:r>
              <a:rPr lang="en-US" sz="1800" dirty="0" smtClean="0"/>
              <a:t>Low and middle income people contribute to 84% of bike purchases and the least from rich who account to 5% of purchases</a:t>
            </a:r>
          </a:p>
          <a:p>
            <a:r>
              <a:rPr lang="en-US" sz="1800" dirty="0" smtClean="0"/>
              <a:t>41% of purchases are by people who commute between 0-1 miles and least from people whose commute distance is  &gt;10 miles i.e., 7%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714752"/>
            <a:ext cx="8436230" cy="1985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Exploratory Data Analysis</a:t>
            </a:r>
            <a:r>
              <a:rPr lang="en-US" b="1" dirty="0" smtClean="0">
                <a:solidFill>
                  <a:schemeClr val="bg1"/>
                </a:solidFill>
              </a:rPr>
              <a:t>: 6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800" b="1" dirty="0"/>
              <a:t>Sales based on </a:t>
            </a:r>
            <a:r>
              <a:rPr lang="en-US" sz="1800" b="1" dirty="0" smtClean="0"/>
              <a:t>Marriage, children and income</a:t>
            </a:r>
          </a:p>
          <a:p>
            <a:r>
              <a:rPr lang="en-US" sz="1800" dirty="0" smtClean="0"/>
              <a:t>Single with 0-2 children contribute 5% more to purchases compared to married with 0-2 children</a:t>
            </a:r>
          </a:p>
          <a:p>
            <a:r>
              <a:rPr lang="en-US" sz="1800" dirty="0" smtClean="0"/>
              <a:t>30% purchases are from people with no children and 20% each with 1 and 2 children</a:t>
            </a:r>
          </a:p>
          <a:p>
            <a:r>
              <a:rPr lang="en-US" sz="1800" dirty="0" smtClean="0"/>
              <a:t>Rich and upper middle class people purchases are not affected by no. of children</a:t>
            </a:r>
          </a:p>
          <a:p>
            <a:r>
              <a:rPr lang="en-US" sz="1800" dirty="0" smtClean="0"/>
              <a:t>Lower income with no children contribute more to the purchases than others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6" y="3967072"/>
            <a:ext cx="8143900" cy="181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>
            <a:normAutofit/>
          </a:bodyPr>
          <a:lstStyle/>
          <a:p>
            <a:pPr lvl="0"/>
            <a:r>
              <a:rPr lang="en-US" b="1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1800" dirty="0" smtClean="0"/>
              <a:t>Gender make no difference in purchases</a:t>
            </a:r>
          </a:p>
          <a:p>
            <a:r>
              <a:rPr lang="en-US" sz="1800" dirty="0" smtClean="0"/>
              <a:t>People who are single contribute 4% more than people who are married</a:t>
            </a:r>
          </a:p>
          <a:p>
            <a:r>
              <a:rPr lang="en-US" sz="1800" dirty="0" smtClean="0"/>
              <a:t>Focus on Married male and single women for sales</a:t>
            </a:r>
          </a:p>
          <a:p>
            <a:r>
              <a:rPr lang="en-US" sz="1800" dirty="0" smtClean="0"/>
              <a:t>Income Range &lt;=80000 (Low income and middle income)</a:t>
            </a:r>
          </a:p>
          <a:p>
            <a:r>
              <a:rPr lang="en-US" sz="1800" dirty="0" smtClean="0"/>
              <a:t>Children : 0-2 children</a:t>
            </a:r>
          </a:p>
          <a:p>
            <a:r>
              <a:rPr lang="en-US" sz="1800" dirty="0" smtClean="0"/>
              <a:t>Education:  Bachelors and Partial college</a:t>
            </a:r>
          </a:p>
          <a:p>
            <a:r>
              <a:rPr lang="en-US" sz="1800" dirty="0" smtClean="0"/>
              <a:t>Occupation: Professional and skilled manual</a:t>
            </a:r>
          </a:p>
          <a:p>
            <a:r>
              <a:rPr lang="en-US" sz="1800" dirty="0" smtClean="0"/>
              <a:t>Home owner: yes</a:t>
            </a:r>
          </a:p>
          <a:p>
            <a:r>
              <a:rPr lang="en-US" sz="1800" dirty="0" smtClean="0"/>
              <a:t>Car: 0-2</a:t>
            </a:r>
          </a:p>
          <a:p>
            <a:r>
              <a:rPr lang="en-US" sz="1800" dirty="0" smtClean="0"/>
              <a:t>Commute distance: 0-1 km</a:t>
            </a:r>
          </a:p>
          <a:p>
            <a:r>
              <a:rPr lang="en-US" sz="1800" dirty="0" smtClean="0"/>
              <a:t>Region: North America</a:t>
            </a:r>
          </a:p>
          <a:p>
            <a:r>
              <a:rPr lang="en-US" sz="1800" dirty="0" smtClean="0"/>
              <a:t>Age: 36-55</a:t>
            </a:r>
          </a:p>
          <a:p>
            <a:pPr>
              <a:buNone/>
            </a:pPr>
            <a:r>
              <a:rPr lang="en-US" sz="1800" dirty="0" smtClean="0"/>
              <a:t>(So concentrate on sales where people are from North America, with age between 36-55, whose commute distance is 0-1 km, who are Bachelors or Partial College with</a:t>
            </a:r>
            <a:br>
              <a:rPr lang="en-US" sz="1800" dirty="0" smtClean="0"/>
            </a:br>
            <a:r>
              <a:rPr lang="en-US" sz="1800" dirty="0" smtClean="0"/>
              <a:t>0-2 children, who are professional or skilled manual with salary &lt;=80000 and owns a house)</a:t>
            </a:r>
          </a:p>
          <a:p>
            <a:pPr>
              <a:buNone/>
            </a:pPr>
            <a:endParaRPr lang="en-US" sz="1800" dirty="0" smtClean="0"/>
          </a:p>
          <a:p>
            <a:endParaRPr lang="en-US" sz="1800" dirty="0" smtClean="0"/>
          </a:p>
          <a:p>
            <a:pPr>
              <a:buNone/>
            </a:pPr>
            <a:endParaRPr lang="en-US" sz="18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561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Bike Sales Analysis </vt:lpstr>
      <vt:lpstr>Exploratory Data Analysis: 1</vt:lpstr>
      <vt:lpstr>Exploratory Data Analysis: 2</vt:lpstr>
      <vt:lpstr>Exploratory Data Analysis: 3</vt:lpstr>
      <vt:lpstr>Exploratory Data Analysis: 4</vt:lpstr>
      <vt:lpstr>Exploratory Data Analysis: 5</vt:lpstr>
      <vt:lpstr>Exploratory Data Analysis: 6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Dekho – Bike Sales Analysis </dc:title>
  <dc:creator>HI</dc:creator>
  <cp:lastModifiedBy>HI</cp:lastModifiedBy>
  <cp:revision>106</cp:revision>
  <dcterms:created xsi:type="dcterms:W3CDTF">2025-12-18T05:06:45Z</dcterms:created>
  <dcterms:modified xsi:type="dcterms:W3CDTF">2025-12-22T12:54:46Z</dcterms:modified>
</cp:coreProperties>
</file>