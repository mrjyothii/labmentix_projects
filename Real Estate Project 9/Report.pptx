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47" autoAdjust="0"/>
    <p:restoredTop sz="94660"/>
  </p:normalViewPr>
  <p:slideViewPr>
    <p:cSldViewPr>
      <p:cViewPr>
        <p:scale>
          <a:sx n="82" d="100"/>
          <a:sy n="82" d="100"/>
        </p:scale>
        <p:origin x="-96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4736C-76F0-4D87-94FE-E68519ACD6F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248BF-59D2-4485-A394-66E369480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Real Estate Investment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 </a:t>
            </a:r>
            <a:r>
              <a:rPr lang="en-US" dirty="0" err="1" smtClean="0"/>
              <a:t>Jyothi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Real </a:t>
            </a:r>
            <a:r>
              <a:rPr lang="en-US" sz="3200" dirty="0"/>
              <a:t>Estate Investment </a:t>
            </a:r>
            <a:r>
              <a:rPr lang="en-US" sz="3200" dirty="0" smtClean="0"/>
              <a:t>Analysis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200" b="1" dirty="0"/>
              <a:t>Business Objective</a:t>
            </a:r>
          </a:p>
          <a:p>
            <a:r>
              <a:rPr lang="en-US" sz="1200" dirty="0"/>
              <a:t>Identify good properties to invest in</a:t>
            </a:r>
          </a:p>
          <a:p>
            <a:r>
              <a:rPr lang="en-US" sz="1200" dirty="0"/>
              <a:t>Understand factors affecting property prices</a:t>
            </a:r>
          </a:p>
          <a:p>
            <a:pPr>
              <a:buNone/>
            </a:pPr>
            <a:r>
              <a:rPr lang="en-US" sz="1200" b="1" dirty="0"/>
              <a:t>Business Problem</a:t>
            </a:r>
          </a:p>
          <a:p>
            <a:pPr marL="0" indent="0">
              <a:buNone/>
            </a:pPr>
            <a:r>
              <a:rPr lang="en-US" sz="1200" dirty="0"/>
              <a:t>People invest without proper analysis, we are </a:t>
            </a:r>
            <a:r>
              <a:rPr lang="en-US" sz="1200" dirty="0" smtClean="0"/>
              <a:t>analyzing </a:t>
            </a:r>
            <a:r>
              <a:rPr lang="en-US" sz="1200" dirty="0"/>
              <a:t>which property is </a:t>
            </a:r>
            <a:r>
              <a:rPr lang="en-US" sz="1200" dirty="0" smtClean="0"/>
              <a:t>a </a:t>
            </a:r>
            <a:br>
              <a:rPr lang="en-US" sz="1200" dirty="0" smtClean="0"/>
            </a:br>
            <a:r>
              <a:rPr lang="en-US" sz="1200" dirty="0" smtClean="0"/>
              <a:t>good </a:t>
            </a:r>
            <a:r>
              <a:rPr lang="en-US" sz="1200" dirty="0"/>
              <a:t>investment:</a:t>
            </a:r>
          </a:p>
          <a:p>
            <a:r>
              <a:rPr lang="en-US" sz="1200" dirty="0"/>
              <a:t>Undervalued price (cheaper than similar properties nearby)</a:t>
            </a:r>
          </a:p>
          <a:p>
            <a:r>
              <a:rPr lang="en-US" sz="1200" dirty="0"/>
              <a:t>High demand drivers (transport, schools, hospitals)</a:t>
            </a:r>
          </a:p>
          <a:p>
            <a:r>
              <a:rPr lang="en-US" sz="1200" dirty="0"/>
              <a:t>Future appreciation potential (developing locality, newer property)</a:t>
            </a:r>
          </a:p>
          <a:p>
            <a:r>
              <a:rPr lang="en-US" sz="1200" dirty="0"/>
              <a:t>Rental attractiveness (amenities, furnishing, accessibility)</a:t>
            </a:r>
          </a:p>
          <a:p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56546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dirty="0" smtClean="0"/>
              <a:t>We are analyzing data of properties across India which contains 250000 rows and 22 columns</a:t>
            </a:r>
          </a:p>
          <a:p>
            <a:pPr>
              <a:buNone/>
            </a:pPr>
            <a:r>
              <a:rPr lang="en-US" sz="1200" b="1" dirty="0" smtClean="0"/>
              <a:t>Core variables:</a:t>
            </a:r>
          </a:p>
          <a:p>
            <a:r>
              <a:rPr lang="en-US" sz="1200" b="1" dirty="0" smtClean="0"/>
              <a:t>Location</a:t>
            </a:r>
            <a:r>
              <a:rPr lang="en-US" sz="1200" dirty="0" smtClean="0"/>
              <a:t>: State, City, Locality </a:t>
            </a:r>
          </a:p>
          <a:p>
            <a:r>
              <a:rPr lang="en-US" sz="1200" b="1" dirty="0" smtClean="0"/>
              <a:t>Property: </a:t>
            </a:r>
            <a:r>
              <a:rPr lang="en-US" sz="1200" dirty="0" smtClean="0"/>
              <a:t>Property_Type, BHK, Size_in_SqFt </a:t>
            </a:r>
          </a:p>
          <a:p>
            <a:r>
              <a:rPr lang="en-US" sz="1200" b="1" dirty="0" smtClean="0"/>
              <a:t>Price</a:t>
            </a:r>
            <a:r>
              <a:rPr lang="en-US" sz="1200" dirty="0" smtClean="0"/>
              <a:t>: </a:t>
            </a:r>
            <a:r>
              <a:rPr lang="en-US" sz="1200" dirty="0" err="1" smtClean="0"/>
              <a:t>Price_in_Rs</a:t>
            </a:r>
            <a:r>
              <a:rPr lang="en-US" sz="1200" dirty="0" smtClean="0"/>
              <a:t>, Price_per_SqFt </a:t>
            </a:r>
          </a:p>
          <a:p>
            <a:pPr>
              <a:buNone/>
            </a:pPr>
            <a:r>
              <a:rPr lang="en-US" sz="1200" b="1" dirty="0" smtClean="0"/>
              <a:t>Infrastructure :</a:t>
            </a:r>
          </a:p>
          <a:p>
            <a:r>
              <a:rPr lang="en-US" sz="1200" dirty="0" smtClean="0"/>
              <a:t>Nearby_Schools, Nearby_Hospitals, Public_Transport_Accessibility, Parking_Space, Security</a:t>
            </a:r>
          </a:p>
          <a:p>
            <a:pPr>
              <a:buNone/>
            </a:pPr>
            <a:r>
              <a:rPr lang="en-US" sz="1200" b="1" dirty="0" smtClean="0"/>
              <a:t>Property features:</a:t>
            </a:r>
          </a:p>
          <a:p>
            <a:r>
              <a:rPr lang="en-US" sz="1200" dirty="0" smtClean="0"/>
              <a:t>Year_Built, Age_of_Property, Furnished_Status, Floor_No, Total_Floors </a:t>
            </a:r>
          </a:p>
          <a:p>
            <a:pPr>
              <a:buNone/>
            </a:pPr>
            <a:r>
              <a:rPr lang="en-US" sz="1200" b="1" dirty="0" smtClean="0"/>
              <a:t>Amenities:</a:t>
            </a:r>
            <a:r>
              <a:rPr lang="en-US" sz="1200" dirty="0" smtClean="0"/>
              <a:t> Clubhouse, Gym, Pool, Garden, Playground</a:t>
            </a:r>
          </a:p>
          <a:p>
            <a:pPr algn="ctr">
              <a:buNone/>
            </a:pPr>
            <a:endParaRPr lang="en-US" sz="1200" b="1" dirty="0" smtClean="0"/>
          </a:p>
          <a:p>
            <a:pPr algn="ctr">
              <a:buNone/>
            </a:pPr>
            <a:r>
              <a:rPr lang="en-US" sz="1200" b="1" dirty="0" smtClean="0"/>
              <a:t>Data Preprocessing</a:t>
            </a:r>
          </a:p>
          <a:p>
            <a:pPr algn="ctr">
              <a:buNone/>
            </a:pPr>
            <a:endParaRPr lang="en-US" sz="1200" b="1" dirty="0" smtClean="0"/>
          </a:p>
          <a:p>
            <a:pPr lvl="0">
              <a:buNone/>
            </a:pPr>
            <a:r>
              <a:rPr lang="en-US" sz="1200" b="1" dirty="0" smtClean="0"/>
              <a:t>Handle missing values and duplicates: </a:t>
            </a:r>
            <a:r>
              <a:rPr lang="en-US" sz="1200" dirty="0" smtClean="0"/>
              <a:t>The data is free from missing and duplicate values</a:t>
            </a:r>
          </a:p>
          <a:p>
            <a:pPr lvl="0">
              <a:buNone/>
            </a:pPr>
            <a:endParaRPr lang="en-US" sz="1200" dirty="0" smtClean="0"/>
          </a:p>
          <a:p>
            <a:pPr lvl="0"/>
            <a:r>
              <a:rPr lang="en-US" sz="1200" dirty="0" smtClean="0"/>
              <a:t>For easy calculation and understanding changed the below columns</a:t>
            </a:r>
          </a:p>
          <a:p>
            <a:pPr lvl="0"/>
            <a:r>
              <a:rPr lang="en-US" sz="1200" b="1" dirty="0" err="1" smtClean="0"/>
              <a:t>Price_in_Rs</a:t>
            </a:r>
            <a:r>
              <a:rPr lang="en-US" sz="1200" b="1" dirty="0" smtClean="0"/>
              <a:t> = </a:t>
            </a:r>
            <a:r>
              <a:rPr lang="en-US" sz="1200" dirty="0" err="1" smtClean="0"/>
              <a:t>Price_in_lakhs</a:t>
            </a:r>
            <a:r>
              <a:rPr lang="en-US" sz="1200" dirty="0" smtClean="0"/>
              <a:t> * 100000</a:t>
            </a:r>
          </a:p>
          <a:p>
            <a:pPr lvl="0"/>
            <a:r>
              <a:rPr lang="en-US" sz="1200" dirty="0" smtClean="0"/>
              <a:t>Modifying existing </a:t>
            </a:r>
            <a:r>
              <a:rPr lang="en-US" sz="1200" dirty="0" err="1" smtClean="0"/>
              <a:t>Price_per_SqFt</a:t>
            </a:r>
            <a:r>
              <a:rPr lang="en-US" sz="1200" dirty="0" smtClean="0"/>
              <a:t> column with new calculation as the value is given in </a:t>
            </a:r>
            <a:r>
              <a:rPr lang="en-US" sz="1200" dirty="0" err="1" smtClean="0"/>
              <a:t>lakhs</a:t>
            </a:r>
            <a:r>
              <a:rPr lang="en-US" sz="1200" dirty="0" smtClean="0"/>
              <a:t> and rounded off to near value</a:t>
            </a:r>
          </a:p>
          <a:p>
            <a:pPr lvl="0"/>
            <a:r>
              <a:rPr lang="en-US" sz="1200" b="1" dirty="0" err="1" smtClean="0"/>
              <a:t>Price_per_SqFt</a:t>
            </a:r>
            <a:r>
              <a:rPr lang="en-US" sz="1200" dirty="0" smtClean="0"/>
              <a:t> = </a:t>
            </a:r>
            <a:r>
              <a:rPr lang="en-US" sz="1200" dirty="0" err="1" smtClean="0"/>
              <a:t>Price_in_Rs</a:t>
            </a:r>
            <a:r>
              <a:rPr lang="en-US" sz="1200" dirty="0" smtClean="0"/>
              <a:t>/ </a:t>
            </a:r>
            <a:r>
              <a:rPr lang="en-US" sz="1200" dirty="0" err="1" smtClean="0"/>
              <a:t>Size_in_SqFt</a:t>
            </a:r>
            <a:endParaRPr lang="en-US" sz="1200" dirty="0" smtClean="0"/>
          </a:p>
          <a:p>
            <a:pPr lvl="0"/>
            <a:endParaRPr lang="en-US" sz="1200" dirty="0" smtClean="0"/>
          </a:p>
          <a:p>
            <a:pPr lvl="0">
              <a:buNone/>
            </a:pPr>
            <a:r>
              <a:rPr lang="en-US" sz="1200" b="1" dirty="0" smtClean="0"/>
              <a:t>Deleting columns</a:t>
            </a:r>
          </a:p>
          <a:p>
            <a:pPr lvl="0"/>
            <a:endParaRPr lang="en-US" sz="1200" dirty="0" smtClean="0"/>
          </a:p>
          <a:p>
            <a:pPr lvl="0"/>
            <a:r>
              <a:rPr lang="en-US" sz="1200" dirty="0" smtClean="0"/>
              <a:t>As </a:t>
            </a:r>
            <a:r>
              <a:rPr lang="en-US" sz="1200" dirty="0" err="1" smtClean="0"/>
              <a:t>Total_floors</a:t>
            </a:r>
            <a:r>
              <a:rPr lang="en-US" sz="1200" dirty="0" smtClean="0"/>
              <a:t> cannot be less than </a:t>
            </a:r>
            <a:r>
              <a:rPr lang="en-US" sz="1200" dirty="0" err="1" smtClean="0"/>
              <a:t>Floor_no</a:t>
            </a:r>
            <a:r>
              <a:rPr lang="en-US" sz="1200" dirty="0" smtClean="0"/>
              <a:t>  we can remove those rows, but they contribute to 116304 rows, so instead replaced those </a:t>
            </a:r>
            <a:r>
              <a:rPr lang="en-US" sz="1200" dirty="0" err="1" smtClean="0"/>
              <a:t>property_type</a:t>
            </a:r>
            <a:r>
              <a:rPr lang="en-US" sz="1200" dirty="0" smtClean="0"/>
              <a:t> with Independent house and villa with  1 which satisfy the above condition. So we are reducing those to 38,639 rows are deleted.</a:t>
            </a:r>
          </a:p>
          <a:p>
            <a:pPr>
              <a:buNone/>
            </a:pPr>
            <a:r>
              <a:rPr lang="en-US" sz="1200" dirty="0"/>
              <a:t/>
            </a:r>
            <a:br>
              <a:rPr lang="en-US" sz="1200" dirty="0"/>
            </a:br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58690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000" b="1" dirty="0" smtClean="0"/>
              <a:t>Adding Columns</a:t>
            </a:r>
          </a:p>
          <a:p>
            <a:pPr>
              <a:buNone/>
            </a:pPr>
            <a:endParaRPr lang="en-US" sz="1000" b="1" dirty="0" smtClean="0"/>
          </a:p>
          <a:p>
            <a:r>
              <a:rPr lang="en-US" sz="1000" dirty="0" smtClean="0"/>
              <a:t>Based on the Amenities column added columns (Garden, Pool, clubhouse, gym, playground and </a:t>
            </a:r>
            <a:r>
              <a:rPr lang="en-US" sz="1000" dirty="0" err="1" smtClean="0"/>
              <a:t>amenities_count</a:t>
            </a:r>
            <a:r>
              <a:rPr lang="en-US" sz="1000" dirty="0" smtClean="0"/>
              <a:t>) by creating amenities dummies columns</a:t>
            </a:r>
            <a:endParaRPr lang="en-US" sz="1000" b="1" dirty="0" smtClean="0"/>
          </a:p>
          <a:p>
            <a:pPr lvl="0"/>
            <a:r>
              <a:rPr lang="en-US" sz="1000" b="1" dirty="0" err="1" smtClean="0"/>
              <a:t>Age_of_Property</a:t>
            </a:r>
            <a:r>
              <a:rPr lang="en-US" sz="1000" b="1" dirty="0" smtClean="0"/>
              <a:t> </a:t>
            </a:r>
            <a:r>
              <a:rPr lang="en-US" sz="1000" dirty="0" smtClean="0"/>
              <a:t>= </a:t>
            </a:r>
            <a:r>
              <a:rPr lang="en-US" sz="1000" dirty="0" err="1" smtClean="0"/>
              <a:t>current_year</a:t>
            </a:r>
            <a:r>
              <a:rPr lang="en-US" sz="1000" dirty="0" smtClean="0"/>
              <a:t> - </a:t>
            </a:r>
            <a:r>
              <a:rPr lang="en-US" sz="1000" dirty="0" err="1" smtClean="0"/>
              <a:t>Year_Built</a:t>
            </a:r>
            <a:endParaRPr lang="en-US" sz="1000" b="1" dirty="0" smtClean="0"/>
          </a:p>
          <a:p>
            <a:r>
              <a:rPr lang="en-US" sz="1000" b="1" dirty="0" err="1" smtClean="0"/>
              <a:t>Local_avg_price</a:t>
            </a:r>
            <a:r>
              <a:rPr lang="en-US" sz="1000" b="1" dirty="0" smtClean="0"/>
              <a:t> : </a:t>
            </a:r>
            <a:r>
              <a:rPr lang="en-US" sz="1000" dirty="0" smtClean="0"/>
              <a:t>find median of  </a:t>
            </a:r>
            <a:r>
              <a:rPr lang="en-US" sz="1000" dirty="0" err="1" smtClean="0"/>
              <a:t>Price_per_SqFt</a:t>
            </a:r>
            <a:r>
              <a:rPr lang="en-US" sz="1000" dirty="0" smtClean="0"/>
              <a:t>  by grouping city and locality</a:t>
            </a:r>
          </a:p>
          <a:p>
            <a:r>
              <a:rPr lang="en-US" sz="1000" b="1" dirty="0" smtClean="0"/>
              <a:t>Undervalued: </a:t>
            </a:r>
            <a:r>
              <a:rPr lang="en-US" sz="1000" dirty="0" err="1" smtClean="0"/>
              <a:t>Price_per_SqFt</a:t>
            </a:r>
            <a:r>
              <a:rPr lang="en-US" sz="1000" dirty="0" smtClean="0"/>
              <a:t> &lt; </a:t>
            </a:r>
            <a:r>
              <a:rPr lang="en-US" sz="1000" dirty="0" err="1" smtClean="0"/>
              <a:t>local_avg_price</a:t>
            </a:r>
            <a:r>
              <a:rPr lang="en-US" sz="1000" dirty="0" smtClean="0"/>
              <a:t> </a:t>
            </a:r>
          </a:p>
          <a:p>
            <a:r>
              <a:rPr lang="en-US" sz="1000" b="1" dirty="0" err="1" smtClean="0"/>
              <a:t>Age_score</a:t>
            </a:r>
            <a:r>
              <a:rPr lang="en-US" sz="1000" b="1" dirty="0" smtClean="0"/>
              <a:t> : </a:t>
            </a:r>
            <a:r>
              <a:rPr lang="en-US" sz="1000" dirty="0" err="1" smtClean="0"/>
              <a:t>Age_of_Property</a:t>
            </a:r>
            <a:r>
              <a:rPr lang="en-US" sz="1000" dirty="0" smtClean="0"/>
              <a:t> &lt;= 5 then 3, </a:t>
            </a:r>
            <a:r>
              <a:rPr lang="en-US" sz="1000" dirty="0" err="1" smtClean="0"/>
              <a:t>Age_of_Property</a:t>
            </a:r>
            <a:r>
              <a:rPr lang="en-US" sz="1000" dirty="0" smtClean="0"/>
              <a:t> &lt;= 15 then 2 else 1</a:t>
            </a:r>
          </a:p>
          <a:p>
            <a:r>
              <a:rPr lang="en-US" sz="1000" b="1" dirty="0" err="1" smtClean="0"/>
              <a:t>Livability_score</a:t>
            </a:r>
            <a:r>
              <a:rPr lang="en-US" sz="1000" b="1" dirty="0" smtClean="0"/>
              <a:t> : </a:t>
            </a:r>
            <a:r>
              <a:rPr lang="en-US" sz="1000" dirty="0" err="1" smtClean="0"/>
              <a:t>amenities_count</a:t>
            </a:r>
            <a:r>
              <a:rPr lang="en-US" sz="1000" dirty="0" smtClean="0"/>
              <a:t> + </a:t>
            </a:r>
            <a:r>
              <a:rPr lang="en-US" sz="1000" dirty="0" err="1" smtClean="0"/>
              <a:t>Parking_Space</a:t>
            </a:r>
            <a:r>
              <a:rPr lang="en-US" sz="1000" dirty="0" smtClean="0"/>
              <a:t> (yes =1, no =0) + Security (yes =1, no =0)</a:t>
            </a:r>
            <a:r>
              <a:rPr lang="en-US" sz="1000" b="1" dirty="0" smtClean="0"/>
              <a:t> </a:t>
            </a:r>
          </a:p>
          <a:p>
            <a:r>
              <a:rPr lang="en-US" sz="1000" b="1" dirty="0" err="1" smtClean="0"/>
              <a:t>Investment_score</a:t>
            </a:r>
            <a:r>
              <a:rPr lang="en-US" sz="1000" b="1" dirty="0" smtClean="0"/>
              <a:t> :</a:t>
            </a:r>
            <a:r>
              <a:rPr lang="en-US" sz="1000" dirty="0" smtClean="0"/>
              <a:t> undervalued*3 + </a:t>
            </a:r>
            <a:r>
              <a:rPr lang="en-US" sz="1000" dirty="0" err="1" smtClean="0"/>
              <a:t>location_score</a:t>
            </a:r>
            <a:r>
              <a:rPr lang="en-US" sz="1000" dirty="0" smtClean="0"/>
              <a:t>*2 + </a:t>
            </a:r>
            <a:r>
              <a:rPr lang="en-US" sz="1000" dirty="0" err="1" smtClean="0"/>
              <a:t>age_score</a:t>
            </a:r>
            <a:r>
              <a:rPr lang="en-US" sz="1000" dirty="0" smtClean="0"/>
              <a:t>*2 + </a:t>
            </a:r>
            <a:r>
              <a:rPr lang="en-US" sz="1000" dirty="0" err="1" smtClean="0"/>
              <a:t>livability_score</a:t>
            </a:r>
            <a:endParaRPr lang="en-US" sz="1000" dirty="0" smtClean="0"/>
          </a:p>
          <a:p>
            <a:r>
              <a:rPr lang="en-US" sz="1000" b="1" dirty="0" err="1" smtClean="0"/>
              <a:t>Appreciation_rate</a:t>
            </a:r>
            <a:r>
              <a:rPr lang="en-US" sz="1000" dirty="0" smtClean="0"/>
              <a:t>: sort values by 'City', 'Locality', '</a:t>
            </a:r>
            <a:r>
              <a:rPr lang="en-US" sz="1000" dirty="0" err="1" smtClean="0"/>
              <a:t>Year_Built</a:t>
            </a:r>
            <a:r>
              <a:rPr lang="en-US" sz="1000" dirty="0" smtClean="0"/>
              <a:t>‘ and then find </a:t>
            </a:r>
            <a:r>
              <a:rPr lang="en-US" sz="1000" dirty="0" err="1" smtClean="0"/>
              <a:t>pct_change</a:t>
            </a:r>
            <a:r>
              <a:rPr lang="en-US" sz="1000" dirty="0" smtClean="0"/>
              <a:t> of </a:t>
            </a:r>
            <a:r>
              <a:rPr lang="en-US" sz="1000" dirty="0" err="1" smtClean="0"/>
              <a:t>Price_per_SqFt</a:t>
            </a:r>
            <a:r>
              <a:rPr lang="en-US" sz="1000" dirty="0" smtClean="0"/>
              <a:t> </a:t>
            </a:r>
            <a:r>
              <a:rPr lang="en-US" sz="1000" dirty="0" err="1" smtClean="0"/>
              <a:t>groupby</a:t>
            </a:r>
            <a:r>
              <a:rPr lang="en-US" sz="1000" dirty="0" smtClean="0"/>
              <a:t> 'City', 'Locality‘</a:t>
            </a:r>
          </a:p>
          <a:p>
            <a:r>
              <a:rPr lang="en-US" sz="1000" b="1" dirty="0" err="1" smtClean="0"/>
              <a:t>Price_bucket</a:t>
            </a:r>
            <a:r>
              <a:rPr lang="en-US" sz="1000" b="1" dirty="0" smtClean="0"/>
              <a:t>: "&lt;20L", "20-50L", "50L-1Cr", "1-2Cr", "2-5Cr“</a:t>
            </a:r>
          </a:p>
          <a:p>
            <a:r>
              <a:rPr lang="en-US" sz="1000" b="1" dirty="0" err="1" smtClean="0"/>
              <a:t>Size_bucket</a:t>
            </a:r>
            <a:r>
              <a:rPr lang="en-US" sz="1000" b="1" dirty="0" smtClean="0"/>
              <a:t>: "&lt;1K", "1K-2K", "2K-3K", "3K-4K", "4K-5K"</a:t>
            </a:r>
          </a:p>
          <a:p>
            <a:pPr lvl="0">
              <a:buNone/>
            </a:pPr>
            <a:r>
              <a:rPr lang="en-US" sz="1000" b="1" dirty="0" smtClean="0"/>
              <a:t>Good Properties:</a:t>
            </a:r>
          </a:p>
          <a:p>
            <a:pPr lvl="0"/>
            <a:r>
              <a:rPr lang="en-US" sz="1000" dirty="0" smtClean="0"/>
              <a:t>Investment score &gt; 75% of investment score</a:t>
            </a:r>
            <a:endParaRPr lang="en-US" sz="1000" b="1" dirty="0" smtClean="0"/>
          </a:p>
          <a:p>
            <a:pPr lvl="0">
              <a:buNone/>
            </a:pPr>
            <a:r>
              <a:rPr lang="en-US" sz="1000" b="1" dirty="0" smtClean="0"/>
              <a:t>Good Investment </a:t>
            </a:r>
            <a:r>
              <a:rPr lang="en-US" sz="1000" dirty="0" smtClean="0"/>
              <a:t>:</a:t>
            </a:r>
          </a:p>
          <a:p>
            <a:pPr lvl="0"/>
            <a:r>
              <a:rPr lang="en-US" sz="1000" dirty="0" smtClean="0"/>
              <a:t> Appreciation rate &gt; threshold </a:t>
            </a:r>
          </a:p>
          <a:p>
            <a:pPr lvl="0">
              <a:buNone/>
            </a:pPr>
            <a:endParaRPr lang="en-US" sz="1000" dirty="0" smtClean="0"/>
          </a:p>
          <a:p>
            <a:pPr lvl="0"/>
            <a:endParaRPr lang="en-US" sz="10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6335" y="3929066"/>
            <a:ext cx="65913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5572140"/>
            <a:ext cx="8429655" cy="67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0098" y="4722028"/>
            <a:ext cx="73437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 smtClean="0"/>
              <a:t>What is the distribution of property prices?</a:t>
            </a:r>
            <a:endParaRPr lang="en-US" sz="1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357562"/>
            <a:ext cx="11049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711792"/>
            <a:ext cx="7000924" cy="2160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4348" y="4631871"/>
            <a:ext cx="77153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can see the distribution as uniform distribution but with </a:t>
            </a:r>
            <a:r>
              <a:rPr lang="en-US" sz="1200" b="1" dirty="0" smtClean="0"/>
              <a:t>48,313 unique values out of ~2.1M rows</a:t>
            </a:r>
            <a:r>
              <a:rPr lang="en-US" sz="1200" dirty="0" smtClean="0"/>
              <a:t>, data is </a:t>
            </a:r>
            <a:r>
              <a:rPr lang="en-US" sz="1200" b="1" dirty="0" smtClean="0"/>
              <a:t>not synthetic uniform data</a:t>
            </a:r>
            <a:r>
              <a:rPr lang="en-US" sz="1200" dirty="0" smtClean="0"/>
              <a:t>. Instead, it’s likely:</a:t>
            </a:r>
          </a:p>
          <a:p>
            <a:r>
              <a:rPr lang="en-US" sz="1200" b="1" dirty="0" smtClean="0"/>
              <a:t>Highly repeated + fairly evenly spread across the range</a:t>
            </a:r>
          </a:p>
          <a:p>
            <a:r>
              <a:rPr lang="en-US" sz="1200" dirty="0" smtClean="0"/>
              <a:t>Majority in </a:t>
            </a:r>
            <a:r>
              <a:rPr lang="en-US" sz="1200" b="1" dirty="0" smtClean="0"/>
              <a:t>₹2Cr – ₹5Cr range</a:t>
            </a:r>
            <a:r>
              <a:rPr lang="en-US" sz="1200" dirty="0" smtClean="0"/>
              <a:t> </a:t>
            </a:r>
          </a:p>
          <a:p>
            <a:r>
              <a:rPr lang="en-US" sz="1200" dirty="0" smtClean="0"/>
              <a:t>Drop after </a:t>
            </a:r>
            <a:r>
              <a:rPr lang="en-US" sz="1200" b="1" dirty="0" smtClean="0"/>
              <a:t>₹1Cr </a:t>
            </a:r>
            <a:r>
              <a:rPr lang="en-US" sz="1200" dirty="0" smtClean="0"/>
              <a:t>- </a:t>
            </a:r>
            <a:r>
              <a:rPr lang="en-US" sz="1200" b="1" dirty="0" smtClean="0"/>
              <a:t>₹2Cr range</a:t>
            </a:r>
            <a:r>
              <a:rPr lang="en-US" sz="1200" dirty="0" smtClean="0"/>
              <a:t>  </a:t>
            </a:r>
          </a:p>
          <a:p>
            <a:r>
              <a:rPr lang="en-US" sz="1200" dirty="0" smtClean="0"/>
              <a:t>Very small % in </a:t>
            </a:r>
            <a:r>
              <a:rPr lang="en-US" sz="1200" b="1" dirty="0" smtClean="0"/>
              <a:t>&lt;₹20L</a:t>
            </a:r>
          </a:p>
          <a:p>
            <a:endParaRPr lang="en-US" sz="12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43306" y="2786058"/>
            <a:ext cx="3857653" cy="1836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 smtClean="0"/>
              <a:t>What is the distribution of  property sizes?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48" y="4631871"/>
            <a:ext cx="7715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The size distribution is essentially </a:t>
            </a:r>
            <a:r>
              <a:rPr lang="en-US" sz="1200" b="1" dirty="0" smtClean="0"/>
              <a:t>uniform between ~500 and 5000 </a:t>
            </a:r>
            <a:r>
              <a:rPr lang="en-US" sz="1200" b="1" dirty="0" err="1" smtClean="0"/>
              <a:t>sqft</a:t>
            </a:r>
            <a:r>
              <a:rPr lang="en-US" sz="1200" dirty="0" smtClean="0"/>
              <a:t>, with each bucket having nearly equal counts—no dominant size range.</a:t>
            </a:r>
            <a:br>
              <a:rPr lang="en-US" sz="1200" dirty="0" smtClean="0"/>
            </a:br>
            <a:r>
              <a:rPr lang="en-US" sz="1200" dirty="0" smtClean="0"/>
              <a:t>The smooth KDE and flat bar chart confirm the data is </a:t>
            </a:r>
            <a:r>
              <a:rPr lang="en-US" sz="1200" b="1" dirty="0" smtClean="0"/>
              <a:t>evenly (likely synthetically) distributed</a:t>
            </a:r>
            <a:r>
              <a:rPr lang="en-US" sz="1200" dirty="0" smtClean="0"/>
              <a:t>, not reflecting real-world housing patterns</a:t>
            </a:r>
          </a:p>
          <a:p>
            <a:r>
              <a:rPr lang="en-US" sz="1200" dirty="0" smtClean="0"/>
              <a:t>The counts are nearly uniform across 1K–5K </a:t>
            </a:r>
            <a:r>
              <a:rPr lang="en-US" sz="1200" dirty="0" err="1" smtClean="0"/>
              <a:t>sqft</a:t>
            </a:r>
            <a:r>
              <a:rPr lang="en-US" sz="1200" dirty="0" smtClean="0"/>
              <a:t> buckets, with only the </a:t>
            </a:r>
            <a:r>
              <a:rPr lang="en-US" sz="1200" b="1" dirty="0" smtClean="0"/>
              <a:t>&lt;1K range lower due to the truncated starting bound at 500 </a:t>
            </a:r>
            <a:r>
              <a:rPr lang="en-US" sz="1200" b="1" dirty="0" err="1" smtClean="0"/>
              <a:t>sqft</a:t>
            </a:r>
            <a:endParaRPr lang="en-US" sz="1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3286124"/>
            <a:ext cx="904875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67163" y="2857496"/>
            <a:ext cx="3419481" cy="1620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48" y="791758"/>
            <a:ext cx="6719901" cy="2020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 smtClean="0"/>
              <a:t>How does price per sq ft vary by property type?</a:t>
            </a:r>
            <a:endParaRPr lang="en-US" sz="1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857884" y="1714488"/>
            <a:ext cx="2857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can </a:t>
            </a:r>
            <a:r>
              <a:rPr lang="en-US" sz="1200" b="1" dirty="0" smtClean="0"/>
              <a:t>see </a:t>
            </a:r>
            <a:r>
              <a:rPr lang="en-US" sz="1200" b="1" dirty="0" err="1" smtClean="0"/>
              <a:t>Price_per_sqft</a:t>
            </a:r>
            <a:r>
              <a:rPr lang="en-US" sz="1200" b="1" dirty="0" smtClean="0"/>
              <a:t> is not affected by the </a:t>
            </a:r>
            <a:r>
              <a:rPr lang="en-US" sz="1200" b="1" dirty="0" err="1" smtClean="0"/>
              <a:t>property_type</a:t>
            </a:r>
            <a:r>
              <a:rPr lang="en-US" sz="1200" b="1" dirty="0" smtClean="0"/>
              <a:t> </a:t>
            </a:r>
            <a:r>
              <a:rPr lang="en-US" sz="1200" dirty="0" smtClean="0"/>
              <a:t>as the mean is almost ~13000 rupees </a:t>
            </a:r>
            <a:r>
              <a:rPr lang="en-US" sz="1200" dirty="0" err="1" smtClean="0"/>
              <a:t>per_sqft</a:t>
            </a:r>
            <a:r>
              <a:rPr lang="en-US" sz="1200" dirty="0" smtClean="0"/>
              <a:t> with slightly lower price ~75 </a:t>
            </a:r>
            <a:r>
              <a:rPr lang="en-US" sz="1200" dirty="0" err="1" smtClean="0"/>
              <a:t>rs</a:t>
            </a:r>
            <a:r>
              <a:rPr lang="en-US" sz="1200" dirty="0" smtClean="0"/>
              <a:t> for Villa</a:t>
            </a:r>
            <a:endParaRPr lang="en-US" sz="1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785794"/>
            <a:ext cx="5286375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98" y="1000108"/>
            <a:ext cx="17716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857884" y="2571744"/>
            <a:ext cx="285752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173038" indent="-173038">
              <a:buFont typeface="Arial" pitchFamily="34" charset="0"/>
              <a:buChar char="•"/>
            </a:pPr>
            <a:r>
              <a:rPr lang="en-US" sz="1200" dirty="0" smtClean="0"/>
              <a:t>Price distribution is nearly identical across all size buckets, with ~60% of properties falling in the 2–5Cr range regardless of size. 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200" dirty="0" smtClean="0"/>
              <a:t>This shows </a:t>
            </a:r>
            <a:r>
              <a:rPr lang="en-US" sz="1200" b="1" dirty="0" smtClean="0"/>
              <a:t>little to no relationship between size and total price</a:t>
            </a:r>
            <a:r>
              <a:rPr lang="en-US" sz="1200" dirty="0" smtClean="0"/>
              <a:t>, meaning other factors (or synthetic structure) are dominating pricing.</a:t>
            </a:r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500034" y="3857629"/>
            <a:ext cx="7500990" cy="4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b="1" dirty="0" smtClean="0"/>
              <a:t>Is there a relationship between property size and price?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4286256"/>
            <a:ext cx="2786082" cy="2066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86182" y="4286256"/>
            <a:ext cx="4071966" cy="1858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Straight Arrow Connector 14"/>
          <p:cNvCxnSpPr>
            <a:endCxn id="10" idx="1"/>
          </p:cNvCxnSpPr>
          <p:nvPr/>
        </p:nvCxnSpPr>
        <p:spPr>
          <a:xfrm rot="5400000" flipH="1" flipV="1">
            <a:off x="4964415" y="3392787"/>
            <a:ext cx="929682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 smtClean="0"/>
              <a:t>Are there any outliers in price per sq ft or property size?</a:t>
            </a:r>
          </a:p>
          <a:p>
            <a:endParaRPr lang="en-US" sz="18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785794"/>
            <a:ext cx="34766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785794"/>
            <a:ext cx="34671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4348" y="2928934"/>
            <a:ext cx="6929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There are no outliers in </a:t>
            </a:r>
            <a:r>
              <a:rPr lang="en-US" sz="1200" dirty="0" err="1" smtClean="0"/>
              <a:t>Size_per_SqFt</a:t>
            </a:r>
            <a:r>
              <a:rPr lang="en-US" sz="1200" dirty="0" smtClean="0"/>
              <a:t> but outliers in </a:t>
            </a:r>
            <a:r>
              <a:rPr lang="en-US" sz="1200" dirty="0" err="1" smtClean="0"/>
              <a:t>Price_per_SqFt</a:t>
            </a:r>
            <a:r>
              <a:rPr lang="en-US" sz="1200" dirty="0" smtClean="0"/>
              <a:t> after ~33000 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3286125"/>
            <a:ext cx="7715304" cy="4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</a:pPr>
            <a:r>
              <a:rPr lang="en-US" b="1" dirty="0" smtClean="0"/>
              <a:t>What is the average price per sq ft by state?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</a:pPr>
            <a:endParaRPr lang="en-US" b="1" dirty="0" smtClean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00892" y="3714752"/>
            <a:ext cx="16668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29454" y="4850161"/>
            <a:ext cx="17907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596" y="3714752"/>
            <a:ext cx="6496061" cy="227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71472" y="5929330"/>
            <a:ext cx="685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There is no much difference between states </a:t>
            </a:r>
            <a:r>
              <a:rPr lang="en-US" sz="1200" dirty="0" err="1" smtClean="0"/>
              <a:t>average_price_per_sqft</a:t>
            </a:r>
            <a:r>
              <a:rPr lang="en-US" sz="1200" dirty="0" smtClean="0"/>
              <a:t> as there vary ~300 b/w the top 1 and bottom 1 state 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 smtClean="0"/>
              <a:t>What is the average property price by city?</a:t>
            </a:r>
          </a:p>
          <a:p>
            <a:endParaRPr lang="en-US" sz="1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3223439"/>
            <a:ext cx="692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The Average Property price by city ranges between 2.48Cr Patna to 2.60 Cr Kochi (median) . With ~12lakh rupees difference between the highest and lowest price cities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61655"/>
            <a:ext cx="7715304" cy="4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smtClean="0"/>
              <a:t>What is the median age of properties by locality?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4090282"/>
            <a:ext cx="6858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Median age of Localities vary between 17-22 years</a:t>
            </a:r>
            <a:endParaRPr lang="en-US" sz="12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606205"/>
            <a:ext cx="7000924" cy="2567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 smtClean="0"/>
              <a:t>How is BHK distributed across cities?</a:t>
            </a:r>
          </a:p>
          <a:p>
            <a:endParaRPr lang="en-US" sz="1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3755889"/>
            <a:ext cx="6929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We can see BHK are distributed equally among cities. Cannot find much difference in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55205"/>
            <a:ext cx="7715304" cy="4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smtClean="0"/>
              <a:t>What are the price trends for the top 5 most expensive localities?</a:t>
            </a:r>
            <a:endParaRPr lang="en-US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7" y="642918"/>
            <a:ext cx="7004341" cy="3105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7429520" y="642918"/>
            <a:ext cx="14287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No. of properties </a:t>
            </a:r>
          </a:p>
          <a:p>
            <a:r>
              <a:rPr lang="en-US" sz="1200" dirty="0" smtClean="0"/>
              <a:t>Coimbatore 5476 </a:t>
            </a:r>
            <a:r>
              <a:rPr lang="en-US" sz="1200" dirty="0" err="1" smtClean="0"/>
              <a:t>Ahmedabad</a:t>
            </a:r>
            <a:r>
              <a:rPr lang="en-US" sz="1200" dirty="0" smtClean="0"/>
              <a:t> 5449 </a:t>
            </a:r>
            <a:r>
              <a:rPr lang="en-US" sz="1200" dirty="0" err="1" smtClean="0"/>
              <a:t>Silchar</a:t>
            </a:r>
            <a:r>
              <a:rPr lang="en-US" sz="1200" dirty="0" smtClean="0"/>
              <a:t> 5405 Vijayawada 5360 Durgapur 5355 Warangal 5350</a:t>
            </a:r>
          </a:p>
          <a:p>
            <a:endParaRPr lang="en-US" sz="1200" dirty="0" smtClean="0"/>
          </a:p>
          <a:p>
            <a:r>
              <a:rPr lang="en-US" sz="1200" dirty="0" smtClean="0"/>
              <a:t>Mysore 3580 </a:t>
            </a:r>
          </a:p>
          <a:p>
            <a:r>
              <a:rPr lang="en-US" sz="1200" dirty="0" err="1" smtClean="0"/>
              <a:t>Pune</a:t>
            </a:r>
            <a:r>
              <a:rPr lang="en-US" sz="1200" dirty="0" smtClean="0"/>
              <a:t> 3579 </a:t>
            </a:r>
          </a:p>
          <a:p>
            <a:r>
              <a:rPr lang="en-US" sz="1200" dirty="0" smtClean="0"/>
              <a:t>Bangalore 3547 </a:t>
            </a:r>
          </a:p>
          <a:p>
            <a:r>
              <a:rPr lang="en-US" sz="1200" dirty="0" smtClean="0"/>
              <a:t>Nagpur 3538 </a:t>
            </a:r>
          </a:p>
          <a:p>
            <a:r>
              <a:rPr lang="en-US" sz="1200" dirty="0" smtClean="0"/>
              <a:t>Mumbai 3496 Mangalore 3440</a:t>
            </a:r>
          </a:p>
          <a:p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7215206" y="3714752"/>
            <a:ext cx="1714512" cy="277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'Locality_395', 'Locality_366', 'Locality_285', 'Locality_284', 'Locality_360‘</a:t>
            </a:r>
          </a:p>
          <a:p>
            <a:endParaRPr lang="en-US" sz="1200" dirty="0" smtClean="0"/>
          </a:p>
          <a:p>
            <a:r>
              <a:rPr lang="en-US" sz="1200" dirty="0" smtClean="0"/>
              <a:t>Locality_284 touched the lower peak of Rs1.60 Cr in 2003</a:t>
            </a:r>
          </a:p>
          <a:p>
            <a:endParaRPr lang="en-US" sz="1200" dirty="0" smtClean="0"/>
          </a:p>
          <a:p>
            <a:r>
              <a:rPr lang="en-US" sz="1200" dirty="0" smtClean="0"/>
              <a:t>Locality_366 touched the highest peak of Rs4.19 Cr in 2011</a:t>
            </a:r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7023" y="4429132"/>
            <a:ext cx="6319848" cy="201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 smtClean="0"/>
              <a:t>How are numeric features correlated with each other?</a:t>
            </a:r>
          </a:p>
          <a:p>
            <a:pPr>
              <a:buNone/>
            </a:pPr>
            <a:endParaRPr lang="en-US" sz="1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3858430"/>
            <a:ext cx="7715304" cy="4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smtClean="0"/>
              <a:t>How do nearby schools </a:t>
            </a:r>
            <a:r>
              <a:rPr lang="en-US" b="1" dirty="0" smtClean="0"/>
              <a:t>and nearby schools </a:t>
            </a:r>
            <a:r>
              <a:rPr lang="en-US" b="1" dirty="0" smtClean="0"/>
              <a:t> relate </a:t>
            </a:r>
            <a:r>
              <a:rPr lang="en-US" b="1" dirty="0" smtClean="0"/>
              <a:t>to price per sq ft?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857752" y="642918"/>
            <a:ext cx="400052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 b="1" dirty="0" smtClean="0"/>
              <a:t>Price is moderately driven by price per square foot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The correlation between </a:t>
            </a:r>
            <a:r>
              <a:rPr lang="en-US" sz="1200" i="1" dirty="0" err="1" smtClean="0"/>
              <a:t>Price_in_Rs</a:t>
            </a:r>
            <a:r>
              <a:rPr lang="en-US" sz="1200" dirty="0" smtClean="0"/>
              <a:t> and </a:t>
            </a:r>
            <a:r>
              <a:rPr lang="en-US" sz="1200" i="1" dirty="0" err="1" smtClean="0"/>
              <a:t>Price_per_SqFt</a:t>
            </a:r>
            <a:r>
              <a:rPr lang="en-US" sz="1200" dirty="0" smtClean="0"/>
              <a:t> (~0.55) suggests that higher per-unit pricing significantly influences overall property price.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dirty="0" smtClean="0"/>
              <a:t>Larger homes tend to have lower price per square foot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The negative correlation between </a:t>
            </a:r>
            <a:r>
              <a:rPr lang="en-US" sz="1200" i="1" dirty="0" err="1" smtClean="0"/>
              <a:t>Size_in_SqFt</a:t>
            </a:r>
            <a:r>
              <a:rPr lang="en-US" sz="1200" dirty="0" smtClean="0"/>
              <a:t> and </a:t>
            </a:r>
            <a:r>
              <a:rPr lang="en-US" sz="1200" i="1" dirty="0" err="1" smtClean="0"/>
              <a:t>Price_per_SqFt</a:t>
            </a:r>
            <a:r>
              <a:rPr lang="en-US" sz="1200" dirty="0" smtClean="0"/>
              <a:t> (~ -0.62) indicates a common trend: bigger properties often get a lower per-unit rate.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dirty="0" smtClean="0"/>
              <a:t>Age and year built are perfectly inversely related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The strong negative correlation (~ -1.00) between </a:t>
            </a:r>
            <a:r>
              <a:rPr lang="en-US" sz="1200" i="1" dirty="0" err="1" smtClean="0"/>
              <a:t>Year_Built</a:t>
            </a:r>
            <a:r>
              <a:rPr lang="en-US" sz="1200" dirty="0" smtClean="0"/>
              <a:t> and </a:t>
            </a:r>
            <a:r>
              <a:rPr lang="en-US" sz="1200" i="1" dirty="0" err="1" smtClean="0"/>
              <a:t>Age_of_Property</a:t>
            </a:r>
            <a:r>
              <a:rPr lang="en-US" sz="1200" dirty="0" smtClean="0"/>
              <a:t> is expected—newer properties naturally have lower age, confirming data consistency. </a:t>
            </a:r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6500826" y="4357694"/>
            <a:ext cx="23574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 dirty="0" smtClean="0"/>
              <a:t>More nearby schools generally correlate with slightly higher property prices. </a:t>
            </a:r>
            <a:endParaRPr lang="en-US" sz="1200" dirty="0" smtClean="0"/>
          </a:p>
          <a:p>
            <a:pPr marL="228600" indent="-228600">
              <a:buFont typeface="+mj-lt"/>
              <a:buAutoNum type="arabicPeriod"/>
            </a:pPr>
            <a:r>
              <a:rPr lang="en-US" sz="1200" dirty="0" smtClean="0"/>
              <a:t>Hospital </a:t>
            </a:r>
            <a:r>
              <a:rPr lang="en-US" sz="1200" dirty="0" smtClean="0"/>
              <a:t>proximity shows sharper price spikes at certain points. </a:t>
            </a:r>
            <a:endParaRPr lang="en-US" sz="1200" dirty="0" smtClean="0"/>
          </a:p>
          <a:p>
            <a:pPr marL="228600" indent="-228600">
              <a:buFont typeface="+mj-lt"/>
              <a:buAutoNum type="arabicPeriod"/>
            </a:pPr>
            <a:r>
              <a:rPr lang="en-US" sz="1200" dirty="0" smtClean="0"/>
              <a:t>Schools </a:t>
            </a:r>
            <a:r>
              <a:rPr lang="en-US" sz="1200" dirty="0" smtClean="0"/>
              <a:t>have a steadier impact, while hospitals create more variable pricing trends.</a:t>
            </a:r>
            <a:endParaRPr lang="en-US" sz="12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714356"/>
            <a:ext cx="3873678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357694"/>
            <a:ext cx="6001490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3100033"/>
            <a:ext cx="7715304" cy="4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smtClean="0"/>
              <a:t>How does price per sq ft vary by property facing direction?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28596" y="2533043"/>
            <a:ext cx="87154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100" dirty="0" smtClean="0"/>
              <a:t>Prices are fairly similar across furnishing types.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 smtClean="0"/>
              <a:t>Slight peaks for furnished homes in recent </a:t>
            </a:r>
            <a:r>
              <a:rPr lang="en-US" sz="1100" dirty="0" smtClean="0"/>
              <a:t>years. Furnished </a:t>
            </a:r>
            <a:r>
              <a:rPr lang="en-US" sz="1100" dirty="0" smtClean="0"/>
              <a:t>properties occasionally show higher price spikes, especially in newer constructions.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 smtClean="0"/>
              <a:t> No clear upward or downward trend over time</a:t>
            </a:r>
            <a:br>
              <a:rPr lang="en-US" sz="1100" dirty="0" smtClean="0"/>
            </a:b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274638"/>
            <a:ext cx="7715304" cy="4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smtClean="0"/>
              <a:t>How does price vary by furnished status?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598607"/>
            <a:ext cx="6472254" cy="1990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571472" y="5597278"/>
            <a:ext cx="821537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100" b="1" dirty="0" smtClean="0"/>
              <a:t>West-facing homes often reach the highest prices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b="1" dirty="0" smtClean="0"/>
              <a:t>All facing types fluctuate similarly over time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b="1" dirty="0" smtClean="0"/>
              <a:t>Price differences between directions are relatively small</a:t>
            </a: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dirty="0" smtClean="0"/>
              <a:t>While there are occasional spikes, overall the gap between facing types is not very large, indicating direction has limited impact on price per sq ft.</a:t>
            </a:r>
            <a:endParaRPr lang="en-US" sz="11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3680733"/>
            <a:ext cx="6429388" cy="1934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 smtClean="0"/>
              <a:t>How many properties belong to each owner type?</a:t>
            </a:r>
          </a:p>
          <a:p>
            <a:pPr>
              <a:buNone/>
            </a:pPr>
            <a:endParaRPr lang="en-US" sz="1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3049719"/>
            <a:ext cx="6929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50% are </a:t>
            </a:r>
            <a:r>
              <a:rPr lang="en-US" sz="1200" dirty="0" err="1" smtClean="0"/>
              <a:t>Under_construction</a:t>
            </a:r>
            <a:r>
              <a:rPr lang="en-US" sz="1200" dirty="0" smtClean="0"/>
              <a:t> and 50% </a:t>
            </a:r>
            <a:r>
              <a:rPr lang="en-US" sz="1200" dirty="0" err="1" smtClean="0"/>
              <a:t>Ready_to_move</a:t>
            </a:r>
            <a:endParaRPr lang="en-US" sz="12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457200" y="2747230"/>
            <a:ext cx="7715304" cy="4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smtClean="0"/>
              <a:t>How many properties are available under each availability status?</a:t>
            </a:r>
            <a:endParaRPr lang="en-US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3" y="714356"/>
            <a:ext cx="2143139" cy="2007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457200" y="3661912"/>
            <a:ext cx="6929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Difference of ~55k rupees is there between those who have parking space and those who have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59423"/>
            <a:ext cx="7715304" cy="4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smtClean="0"/>
              <a:t>Does parking space affect property price?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143636" y="3811012"/>
            <a:ext cx="264320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Mild positive relationship:</a:t>
            </a:r>
            <a:r>
              <a:rPr lang="en-US" sz="1200" dirty="0" smtClean="0"/>
              <a:t> As </a:t>
            </a:r>
            <a:r>
              <a:rPr lang="en-US" sz="1200" dirty="0" err="1" smtClean="0"/>
              <a:t>amenities_count</a:t>
            </a:r>
            <a:r>
              <a:rPr lang="en-US" sz="1200" dirty="0" smtClean="0"/>
              <a:t> increases, </a:t>
            </a:r>
            <a:r>
              <a:rPr lang="en-US" sz="1200" dirty="0" err="1" smtClean="0"/>
              <a:t>price_per_sqft</a:t>
            </a:r>
            <a:r>
              <a:rPr lang="en-US" sz="1200" dirty="0" smtClean="0"/>
              <a:t> trends slightly upward. </a:t>
            </a:r>
            <a:r>
              <a:rPr lang="en-US" sz="1200" b="1" dirty="0" smtClean="0"/>
              <a:t>Small dip in the middle:</a:t>
            </a:r>
            <a:r>
              <a:rPr lang="en-US" sz="1200" dirty="0" smtClean="0"/>
              <a:t> There’s a noticeable flattening or slight decline around 3–4 amenities, indicating the relationship isn’t strictly linear and may be influenced by other factors. </a:t>
            </a:r>
            <a:r>
              <a:rPr lang="en-US" sz="1200" b="1" dirty="0" smtClean="0"/>
              <a:t>Wide variability:</a:t>
            </a:r>
            <a:r>
              <a:rPr lang="en-US" sz="1200" dirty="0" smtClean="0"/>
              <a:t> The shaded band (likely variability or confidence interval) is fairly broad across all points, meaning prices vary significantly even within the same amenities 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67423"/>
            <a:ext cx="7715304" cy="4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smtClean="0"/>
              <a:t>How do amenities affect price per sq ft?</a:t>
            </a:r>
            <a:endParaRPr lang="en-US" b="1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1214422"/>
            <a:ext cx="97155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43834" y="2928934"/>
            <a:ext cx="100965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472" y="4429132"/>
            <a:ext cx="5348752" cy="1619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428596" y="804069"/>
            <a:ext cx="6929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Price_per_sqft</a:t>
            </a:r>
            <a:r>
              <a:rPr lang="en-US" sz="1200" dirty="0" smtClean="0"/>
              <a:t> is low for High Transport Accessibility compared to low and medium ~Rs.40 per </a:t>
            </a:r>
            <a:r>
              <a:rPr lang="en-US" sz="1200" dirty="0" err="1" smtClean="0"/>
              <a:t>sq.ft</a:t>
            </a:r>
            <a:endParaRPr lang="en-US" sz="12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428596" y="274638"/>
            <a:ext cx="8543956" cy="428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b="1" dirty="0" smtClean="0"/>
              <a:t>How does public transport accessibility relate to price per sq ft or investment potential?</a:t>
            </a:r>
            <a:endParaRPr lang="en-US" b="1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142984"/>
            <a:ext cx="7500958" cy="2237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2357430"/>
            <a:ext cx="16668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3200" b="1" dirty="0" smtClean="0"/>
              <a:t>Investment </a:t>
            </a:r>
            <a:r>
              <a:rPr lang="en-US" sz="3200" b="1" dirty="0" smtClean="0"/>
              <a:t>Insights (1/2)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9250"/>
            <a:ext cx="8229600" cy="5213735"/>
          </a:xfr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300" b="1" dirty="0" smtClean="0"/>
              <a:t>Larger properties </a:t>
            </a:r>
            <a:r>
              <a:rPr lang="en-US" sz="1300" dirty="0" smtClean="0"/>
              <a:t>tend to have lower price per </a:t>
            </a:r>
            <a:r>
              <a:rPr lang="en-US" sz="1300" dirty="0" err="1" smtClean="0"/>
              <a:t>sq.ft</a:t>
            </a:r>
            <a:r>
              <a:rPr lang="en-US" sz="1300" dirty="0" smtClean="0"/>
              <a:t>, shown by the strong negative correlation between size and </a:t>
            </a:r>
            <a:r>
              <a:rPr lang="en-US" sz="1300" dirty="0" err="1" smtClean="0"/>
              <a:t>price_per_sqft</a:t>
            </a:r>
            <a:r>
              <a:rPr lang="en-US" sz="1300" dirty="0" smtClean="0"/>
              <a:t> (~ -0.62). </a:t>
            </a:r>
            <a:endParaRPr lang="en-US" sz="13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1300" b="1" dirty="0" smtClean="0"/>
              <a:t>Ready-to-move</a:t>
            </a:r>
            <a:r>
              <a:rPr lang="en-US" sz="1300" dirty="0" smtClean="0"/>
              <a:t> </a:t>
            </a:r>
            <a:r>
              <a:rPr lang="en-US" sz="1300" dirty="0" smtClean="0"/>
              <a:t>properties cost about ₹70,000 more on average than under-construction </a:t>
            </a:r>
            <a:r>
              <a:rPr lang="en-US" sz="1300" dirty="0" smtClean="0"/>
              <a:t>properties.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 dirty="0" smtClean="0"/>
              <a:t>Properties </a:t>
            </a:r>
            <a:r>
              <a:rPr lang="en-US" sz="1300" dirty="0" smtClean="0"/>
              <a:t>with </a:t>
            </a:r>
            <a:r>
              <a:rPr lang="en-US" sz="1300" b="1" dirty="0" smtClean="0"/>
              <a:t>more amenities </a:t>
            </a:r>
            <a:r>
              <a:rPr lang="en-US" sz="1300" dirty="0" smtClean="0"/>
              <a:t>generally have higher prices, with around ₹48,000 difference between 1 and 5 amenities. </a:t>
            </a:r>
            <a:endParaRPr lang="en-US" sz="13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1300" b="1" dirty="0" smtClean="0"/>
              <a:t>Owner-listed </a:t>
            </a:r>
            <a:r>
              <a:rPr lang="en-US" sz="1300" b="1" dirty="0" smtClean="0"/>
              <a:t>properties </a:t>
            </a:r>
            <a:r>
              <a:rPr lang="en-US" sz="1300" dirty="0" smtClean="0"/>
              <a:t>are cheaper by roughly ₹62,000 compared to broker or builder-listed properties. </a:t>
            </a:r>
            <a:endParaRPr lang="en-US" sz="13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1300" b="1" dirty="0" smtClean="0"/>
              <a:t>Parking </a:t>
            </a:r>
            <a:r>
              <a:rPr lang="en-US" sz="1300" b="1" dirty="0" smtClean="0"/>
              <a:t>availability </a:t>
            </a:r>
            <a:r>
              <a:rPr lang="en-US" sz="1300" dirty="0" smtClean="0"/>
              <a:t>increases property value, with about ₹55,000 higher prices for properties having parking </a:t>
            </a:r>
            <a:r>
              <a:rPr lang="en-US" sz="1300" dirty="0" smtClean="0"/>
              <a:t>space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 b="1" dirty="0" smtClean="0"/>
              <a:t>Security</a:t>
            </a:r>
            <a:r>
              <a:rPr lang="en-US" sz="1300" dirty="0" smtClean="0"/>
              <a:t> : Properties</a:t>
            </a:r>
            <a:r>
              <a:rPr lang="en-US" sz="1300" b="1" dirty="0" smtClean="0"/>
              <a:t> </a:t>
            </a:r>
            <a:r>
              <a:rPr lang="en-US" sz="1300" dirty="0" smtClean="0"/>
              <a:t>with </a:t>
            </a:r>
            <a:r>
              <a:rPr lang="en-US" sz="1300" dirty="0" smtClean="0"/>
              <a:t>security facilities have an average property value higher by approximately ₹1.46 </a:t>
            </a:r>
            <a:r>
              <a:rPr lang="en-US" sz="1300" dirty="0" err="1" smtClean="0"/>
              <a:t>lakh</a:t>
            </a:r>
            <a:r>
              <a:rPr lang="en-US" sz="1300" dirty="0" smtClean="0"/>
              <a:t> compared to properties without security</a:t>
            </a:r>
            <a:r>
              <a:rPr lang="en-US" sz="13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 b="1" dirty="0" smtClean="0"/>
              <a:t>Cities</a:t>
            </a:r>
            <a:r>
              <a:rPr lang="en-US" sz="1300" dirty="0" smtClean="0"/>
              <a:t>: Average </a:t>
            </a:r>
            <a:r>
              <a:rPr lang="en-US" sz="1300" dirty="0" smtClean="0"/>
              <a:t>property prices across cities range from approximately </a:t>
            </a:r>
            <a:r>
              <a:rPr lang="en-US" sz="1300" b="1" dirty="0" smtClean="0"/>
              <a:t>₹2.48 Cr in Patna</a:t>
            </a:r>
            <a:r>
              <a:rPr lang="en-US" sz="1300" dirty="0" smtClean="0"/>
              <a:t> to </a:t>
            </a:r>
            <a:r>
              <a:rPr lang="en-US" sz="1300" b="1" dirty="0" smtClean="0"/>
              <a:t>₹2.60 Cr in Kochi</a:t>
            </a:r>
            <a:r>
              <a:rPr lang="en-US" sz="1300" dirty="0" smtClean="0"/>
              <a:t>, showing a relatively narrow variation of about </a:t>
            </a:r>
            <a:r>
              <a:rPr lang="en-US" sz="1300" b="1" dirty="0" smtClean="0"/>
              <a:t>₹12 </a:t>
            </a:r>
            <a:r>
              <a:rPr lang="en-US" sz="1300" b="1" dirty="0" err="1" smtClean="0"/>
              <a:t>lakh</a:t>
            </a:r>
            <a:r>
              <a:rPr lang="en-US" sz="1300" dirty="0" smtClean="0"/>
              <a:t> overall</a:t>
            </a:r>
            <a:r>
              <a:rPr lang="en-US" sz="1300" dirty="0" smtClean="0"/>
              <a:t>.</a:t>
            </a:r>
          </a:p>
          <a:p>
            <a:pPr marL="914400" lvl="1" indent="-514350"/>
            <a:r>
              <a:rPr lang="en-US" sz="1300" b="1" dirty="0" smtClean="0"/>
              <a:t>Southern metro cities</a:t>
            </a:r>
            <a:r>
              <a:rPr lang="en-US" sz="1300" dirty="0" smtClean="0"/>
              <a:t> like Kochi, Bangalore, Hyderabad, and Chennai appear among the highest-priced markets, indicating stronger demand and urban growth. </a:t>
            </a:r>
            <a:endParaRPr lang="en-US" sz="1300" dirty="0" smtClean="0"/>
          </a:p>
          <a:p>
            <a:pPr marL="914400" lvl="1" indent="-514350"/>
            <a:r>
              <a:rPr lang="en-US" sz="1300" b="1" dirty="0" smtClean="0"/>
              <a:t>Patna</a:t>
            </a:r>
            <a:r>
              <a:rPr lang="en-US" sz="1300" b="1" dirty="0" smtClean="0"/>
              <a:t>, Cuttack, and Ludhiana</a:t>
            </a:r>
            <a:r>
              <a:rPr lang="en-US" sz="1300" dirty="0" smtClean="0"/>
              <a:t> show the lowest average prices, making them comparatively more affordable investment locations</a:t>
            </a:r>
            <a:r>
              <a:rPr lang="en-US" sz="13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 b="1" dirty="0" smtClean="0"/>
              <a:t>West-facing homes often reach the highest prices </a:t>
            </a:r>
            <a:r>
              <a:rPr lang="en-US" sz="1300" dirty="0" smtClean="0"/>
              <a:t>No clear upward or downward trend over </a:t>
            </a:r>
            <a:r>
              <a:rPr lang="en-US" sz="1300" dirty="0" smtClean="0"/>
              <a:t>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 b="1" dirty="0" smtClean="0"/>
              <a:t>BHK is not a strong value differentiator</a:t>
            </a:r>
            <a:r>
              <a:rPr lang="en-US" sz="1300" dirty="0" smtClean="0"/>
              <a:t/>
            </a:r>
            <a:br>
              <a:rPr lang="en-US" sz="1300" dirty="0" smtClean="0"/>
            </a:br>
            <a:r>
              <a:rPr lang="en-US" sz="1300" dirty="0" smtClean="0"/>
              <a:t>Since prices (₹2.539–₹2.551 Cr) and price per </a:t>
            </a:r>
            <a:r>
              <a:rPr lang="en-US" sz="1300" dirty="0" err="1" smtClean="0"/>
              <a:t>sq.ft</a:t>
            </a:r>
            <a:r>
              <a:rPr lang="en-US" sz="1300" dirty="0" smtClean="0"/>
              <a:t> (~₹13,000) are almost the same across 1–5 BHK, investing based only on BHK won’t give much advantage</a:t>
            </a:r>
            <a:r>
              <a:rPr lang="en-US" sz="1300" dirty="0" smtClean="0"/>
              <a:t>.</a:t>
            </a:r>
          </a:p>
          <a:p>
            <a:pPr marL="914400" lvl="1" indent="-514350"/>
            <a:r>
              <a:rPr lang="en-US" sz="1300" dirty="0" smtClean="0"/>
              <a:t>1–2 BHK units can be better for rental </a:t>
            </a:r>
            <a:r>
              <a:rPr lang="en-US" sz="1300" dirty="0" smtClean="0"/>
              <a:t>yield</a:t>
            </a:r>
          </a:p>
          <a:p>
            <a:pPr marL="914400" lvl="1" indent="-514350"/>
            <a:r>
              <a:rPr lang="en-US" sz="1300" dirty="0" smtClean="0"/>
              <a:t>3 BHK may offer better resale </a:t>
            </a:r>
            <a:r>
              <a:rPr lang="en-US" sz="1300" dirty="0" smtClean="0"/>
              <a:t>liquidity</a:t>
            </a:r>
          </a:p>
          <a:p>
            <a:pPr marL="914400" lvl="1" indent="-514350"/>
            <a:r>
              <a:rPr lang="en-US" sz="1300" dirty="0" smtClean="0"/>
              <a:t>No “premium pricing” for larger </a:t>
            </a:r>
            <a:r>
              <a:rPr lang="en-US" sz="1300" dirty="0" smtClean="0"/>
              <a:t>BHKs</a:t>
            </a:r>
            <a:endParaRPr lang="en-US" sz="13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3200" b="1" dirty="0" smtClean="0"/>
              <a:t>Investment </a:t>
            </a:r>
            <a:r>
              <a:rPr lang="en-US" sz="3200" b="1" dirty="0" smtClean="0"/>
              <a:t>Insights (2/2)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3975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10"/>
            </a:pPr>
            <a:r>
              <a:rPr lang="en-US" sz="1300" b="1" dirty="0" smtClean="0"/>
              <a:t>States</a:t>
            </a:r>
            <a:r>
              <a:rPr lang="en-US" sz="1300" dirty="0" smtClean="0"/>
              <a:t>: Price </a:t>
            </a:r>
            <a:r>
              <a:rPr lang="en-US" sz="1300" dirty="0" smtClean="0"/>
              <a:t>variation across states is small (~₹4 </a:t>
            </a:r>
            <a:r>
              <a:rPr lang="en-US" sz="1300" dirty="0" err="1" smtClean="0"/>
              <a:t>lakh</a:t>
            </a:r>
            <a:r>
              <a:rPr lang="en-US" sz="1300" dirty="0" smtClean="0"/>
              <a:t> </a:t>
            </a:r>
            <a:r>
              <a:rPr lang="en-US" sz="1300" dirty="0" smtClean="0"/>
              <a:t>range)</a:t>
            </a:r>
          </a:p>
          <a:p>
            <a:pPr marL="914400" lvl="1" indent="-382588"/>
            <a:r>
              <a:rPr lang="en-US" sz="1300" b="1" dirty="0" smtClean="0"/>
              <a:t>Price </a:t>
            </a:r>
            <a:r>
              <a:rPr lang="en-US" sz="1300" b="1" dirty="0" smtClean="0"/>
              <a:t>per </a:t>
            </a:r>
            <a:r>
              <a:rPr lang="en-US" sz="1300" b="1" dirty="0" err="1" smtClean="0"/>
              <a:t>sq.ft</a:t>
            </a:r>
            <a:r>
              <a:rPr lang="en-US" sz="1300" b="1" dirty="0" smtClean="0"/>
              <a:t> is tightly clustered (~₹12,950–₹13,260)</a:t>
            </a:r>
            <a:r>
              <a:rPr lang="en-US" sz="1300" dirty="0" smtClean="0"/>
              <a:t/>
            </a:r>
            <a:br>
              <a:rPr lang="en-US" sz="1300" dirty="0" smtClean="0"/>
            </a:br>
            <a:r>
              <a:rPr lang="en-US" sz="1300" dirty="0" smtClean="0"/>
              <a:t>Even the highest (Andhra Pradesh ~₹13,263) and lowest (Jharkhand ~₹12,948) differ by only ~₹300–₹350, indicating </a:t>
            </a:r>
            <a:r>
              <a:rPr lang="en-US" sz="1300" b="1" dirty="0" smtClean="0"/>
              <a:t>weak state-level pricing impact</a:t>
            </a:r>
            <a:r>
              <a:rPr lang="en-US" sz="1300" dirty="0" smtClean="0"/>
              <a:t>. </a:t>
            </a:r>
            <a:endParaRPr lang="en-US" sz="1300" dirty="0" smtClean="0"/>
          </a:p>
          <a:p>
            <a:pPr marL="914400" lvl="1" indent="-382588"/>
            <a:r>
              <a:rPr lang="en-US" sz="1300" b="1" dirty="0" smtClean="0"/>
              <a:t>Investment</a:t>
            </a:r>
            <a:r>
              <a:rPr lang="en-US" sz="1300" b="1" dirty="0" smtClean="0"/>
              <a:t> </a:t>
            </a:r>
            <a:r>
              <a:rPr lang="en-US" sz="1300" b="1" dirty="0" smtClean="0"/>
              <a:t>insight: location within state matters more than state itself</a:t>
            </a:r>
            <a:r>
              <a:rPr lang="en-US" sz="1300" dirty="0" smtClean="0"/>
              <a:t/>
            </a:r>
            <a:br>
              <a:rPr lang="en-US" sz="1300" dirty="0" smtClean="0"/>
            </a:br>
            <a:r>
              <a:rPr lang="en-US" sz="1300" dirty="0" smtClean="0"/>
              <a:t>Since differences are minimal, returns are likely driven more by </a:t>
            </a:r>
            <a:r>
              <a:rPr lang="en-US" sz="1300" b="1" dirty="0" smtClean="0"/>
              <a:t>city, micro-location, amenities, and demand</a:t>
            </a:r>
            <a:r>
              <a:rPr lang="en-US" sz="1300" dirty="0" smtClean="0"/>
              <a:t>, not just the state. 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US" sz="1300" b="1" dirty="0" err="1" smtClean="0"/>
              <a:t>Furnished_Status</a:t>
            </a:r>
            <a:r>
              <a:rPr lang="en-US" sz="1300" dirty="0" smtClean="0"/>
              <a:t>: Unfurnished </a:t>
            </a:r>
            <a:r>
              <a:rPr lang="en-US" sz="1300" dirty="0" smtClean="0"/>
              <a:t>properties have the highest average price (~₹2.551 Cr</a:t>
            </a:r>
            <a:r>
              <a:rPr lang="en-US" sz="1300" dirty="0" smtClean="0"/>
              <a:t>)</a:t>
            </a:r>
          </a:p>
          <a:p>
            <a:pPr marL="914400" lvl="1" indent="-382588"/>
            <a:r>
              <a:rPr lang="en-US" sz="1300" dirty="0" smtClean="0"/>
              <a:t>Furnished properties are slightly cheaper (~₹2.547 Cr</a:t>
            </a:r>
            <a:r>
              <a:rPr lang="en-US" sz="1300" dirty="0" smtClean="0"/>
              <a:t>)</a:t>
            </a:r>
          </a:p>
          <a:p>
            <a:pPr marL="914400" lvl="1" indent="-382588"/>
            <a:r>
              <a:rPr lang="en-US" sz="1300" b="1" dirty="0" smtClean="0"/>
              <a:t>Price variation is very small (~₹8–9 </a:t>
            </a:r>
            <a:r>
              <a:rPr lang="en-US" sz="1300" b="1" dirty="0" err="1" smtClean="0"/>
              <a:t>lakh</a:t>
            </a:r>
            <a:r>
              <a:rPr lang="en-US" sz="1300" b="1" dirty="0" smtClean="0"/>
              <a:t> range)</a:t>
            </a:r>
            <a:r>
              <a:rPr lang="en-US" sz="1300" dirty="0" smtClean="0"/>
              <a:t/>
            </a:r>
            <a:br>
              <a:rPr lang="en-US" sz="1300" dirty="0" smtClean="0"/>
            </a:br>
            <a:r>
              <a:rPr lang="en-US" sz="1300" dirty="0" smtClean="0"/>
              <a:t>This shows furnishing status has </a:t>
            </a:r>
            <a:r>
              <a:rPr lang="en-US" sz="1300" b="1" dirty="0" smtClean="0"/>
              <a:t>low impact on investment </a:t>
            </a:r>
            <a:r>
              <a:rPr lang="en-US" sz="1300" b="1" dirty="0" smtClean="0"/>
              <a:t>returns</a:t>
            </a:r>
          </a:p>
          <a:p>
            <a:pPr marL="914400" lvl="1" indent="-382588"/>
            <a:r>
              <a:rPr lang="en-US" sz="1300" b="1" dirty="0" smtClean="0"/>
              <a:t>Rental income → Semi-furnished (higher per </a:t>
            </a:r>
            <a:r>
              <a:rPr lang="en-US" sz="1300" b="1" dirty="0" err="1" smtClean="0"/>
              <a:t>sq.ft</a:t>
            </a:r>
            <a:r>
              <a:rPr lang="en-US" sz="1300" b="1" dirty="0" smtClean="0"/>
              <a:t> efficiency)</a:t>
            </a:r>
            <a:r>
              <a:rPr lang="en-US" sz="1300" dirty="0" smtClean="0"/>
              <a:t> </a:t>
            </a:r>
            <a:r>
              <a:rPr lang="en-US" sz="1300" b="1" dirty="0" smtClean="0"/>
              <a:t>Long-term resale → Unfurnished (slightly higher total value &amp; flexibility)</a:t>
            </a:r>
            <a:endParaRPr lang="en-US" sz="1300" dirty="0" smtClean="0"/>
          </a:p>
          <a:p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4872</TotalTime>
  <Words>1362</Words>
  <Application>Microsoft Office PowerPoint</Application>
  <PresentationFormat>On-screen Show (4:3)</PresentationFormat>
  <Paragraphs>142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Real Estate Investment Analysis</vt:lpstr>
      <vt:lpstr>Real Estate Investment Analysis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Investment Insights (1/2)</vt:lpstr>
      <vt:lpstr>Investment Insights (2/2)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</dc:creator>
  <cp:lastModifiedBy>HI</cp:lastModifiedBy>
  <cp:revision>150</cp:revision>
  <dcterms:created xsi:type="dcterms:W3CDTF">2026-05-01T13:51:49Z</dcterms:created>
  <dcterms:modified xsi:type="dcterms:W3CDTF">2026-05-07T12:13:49Z</dcterms:modified>
</cp:coreProperties>
</file>