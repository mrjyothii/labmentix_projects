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70" d="100"/>
          <a:sy n="70" d="100"/>
        </p:scale>
        <p:origin x="-1302" y="3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90144A-E546-4810-8077-A2E2AF54A06C}"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77F451-8D04-44C6-86E4-E562CE3E7B6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90144A-E546-4810-8077-A2E2AF54A06C}"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77F451-8D04-44C6-86E4-E562CE3E7B6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90144A-E546-4810-8077-A2E2AF54A06C}"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77F451-8D04-44C6-86E4-E562CE3E7B6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90144A-E546-4810-8077-A2E2AF54A06C}"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77F451-8D04-44C6-86E4-E562CE3E7B6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90144A-E546-4810-8077-A2E2AF54A06C}" type="datetimeFigureOut">
              <a:rPr lang="en-US" smtClean="0"/>
              <a:pPr/>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77F451-8D04-44C6-86E4-E562CE3E7B6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90144A-E546-4810-8077-A2E2AF54A06C}" type="datetimeFigureOut">
              <a:rPr lang="en-US" smtClean="0"/>
              <a:pPr/>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77F451-8D04-44C6-86E4-E562CE3E7B6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90144A-E546-4810-8077-A2E2AF54A06C}"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77F451-8D04-44C6-86E4-E562CE3E7B6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90144A-E546-4810-8077-A2E2AF54A06C}"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77F451-8D04-44C6-86E4-E562CE3E7B6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90144A-E546-4810-8077-A2E2AF54A06C}"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77F451-8D04-44C6-86E4-E562CE3E7B6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90144A-E546-4810-8077-A2E2AF54A06C}"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77F451-8D04-44C6-86E4-E562CE3E7B6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90144A-E546-4810-8077-A2E2AF54A06C}"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77F451-8D04-44C6-86E4-E562CE3E7B6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90144A-E546-4810-8077-A2E2AF54A06C}" type="datetimeFigureOut">
              <a:rPr lang="en-US" smtClean="0"/>
              <a:pPr/>
              <a:t>2/22/2026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7F451-8D04-44C6-86E4-E562CE3E7B6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 dirty="0" smtClean="0"/>
              <a:t>Itunes Apple Music Store Analysis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Problem </a:t>
            </a:r>
            <a:r>
              <a:rPr lang="en-US" b="1" dirty="0" smtClean="0"/>
              <a:t>Statement</a:t>
            </a:r>
            <a:endParaRPr lang="en-US" dirty="0"/>
          </a:p>
        </p:txBody>
      </p:sp>
      <p:sp>
        <p:nvSpPr>
          <p:cNvPr id="3" name="Content Placeholder 2"/>
          <p:cNvSpPr>
            <a:spLocks noGrp="1"/>
          </p:cNvSpPr>
          <p:nvPr>
            <p:ph idx="1"/>
          </p:nvPr>
        </p:nvSpPr>
        <p:spPr/>
        <p:txBody>
          <a:bodyPr>
            <a:normAutofit/>
          </a:bodyPr>
          <a:lstStyle/>
          <a:p>
            <a:pPr marL="0" indent="0">
              <a:buNone/>
            </a:pPr>
            <a:r>
              <a:rPr lang="en-US" sz="1600" dirty="0" smtClean="0"/>
              <a:t>Apple </a:t>
            </a:r>
            <a:r>
              <a:rPr lang="en-US" sz="1600" dirty="0" smtClean="0"/>
              <a:t>iTunes maintains a large digital music store with millions of tracks, thousands of customers worldwide, and a network of employees managing sales operations. </a:t>
            </a:r>
            <a:endParaRPr lang="en-US" sz="1600" dirty="0" smtClean="0"/>
          </a:p>
          <a:p>
            <a:pPr marL="0" indent="0">
              <a:buNone/>
            </a:pPr>
            <a:r>
              <a:rPr lang="en-US" sz="1600" dirty="0" smtClean="0"/>
              <a:t>As </a:t>
            </a:r>
            <a:r>
              <a:rPr lang="en-US" sz="1600" dirty="0" smtClean="0"/>
              <a:t>the business expands, the leadership team is looking to gain deeper insights into customer behavior, music preferences, and overall sales performance</a:t>
            </a:r>
            <a:r>
              <a:rPr lang="en-US" sz="1600" dirty="0" smtClean="0"/>
              <a:t>.</a:t>
            </a:r>
          </a:p>
          <a:p>
            <a:pPr marL="0" indent="0">
              <a:buNone/>
            </a:pPr>
            <a:r>
              <a:rPr lang="en-US" sz="1600" dirty="0" smtClean="0"/>
              <a:t>Our analysis is to </a:t>
            </a:r>
            <a:r>
              <a:rPr lang="en-US" sz="1600" dirty="0" smtClean="0"/>
              <a:t>build a complete SQL-based analytical pipeline using the available datasets, which include details about customers, employees, invoices, tracks, albums, artists, genres, playlists, and media types</a:t>
            </a:r>
          </a:p>
          <a:p>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1600200" y="252862"/>
            <a:ext cx="5400692" cy="6247972"/>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1. Customer Analytics</a:t>
            </a:r>
            <a:endParaRPr lang="en-US" dirty="0"/>
          </a:p>
        </p:txBody>
      </p:sp>
      <p:sp>
        <p:nvSpPr>
          <p:cNvPr id="3" name="Content Placeholder 2"/>
          <p:cNvSpPr>
            <a:spLocks noGrp="1"/>
          </p:cNvSpPr>
          <p:nvPr>
            <p:ph idx="1"/>
          </p:nvPr>
        </p:nvSpPr>
        <p:spPr>
          <a:xfrm>
            <a:off x="457200" y="1600200"/>
            <a:ext cx="8229600" cy="1163395"/>
          </a:xfrm>
        </p:spPr>
        <p:txBody>
          <a:bodyPr wrap="square">
            <a:spAutoFit/>
          </a:bodyPr>
          <a:lstStyle/>
          <a:p>
            <a:pPr lvl="0"/>
            <a:r>
              <a:rPr lang="en-US" sz="1200" dirty="0" smtClean="0"/>
              <a:t>Which customers have spent the most money on music?</a:t>
            </a:r>
          </a:p>
          <a:p>
            <a:pPr lvl="0"/>
            <a:r>
              <a:rPr lang="en-US" sz="1200" dirty="0" smtClean="0"/>
              <a:t>What is the average customer lifetime value?</a:t>
            </a:r>
          </a:p>
          <a:p>
            <a:pPr lvl="0"/>
            <a:r>
              <a:rPr lang="en-US" sz="1200" dirty="0" smtClean="0"/>
              <a:t>How many customers have made repeat purchases versus one-time purchases?</a:t>
            </a:r>
          </a:p>
          <a:p>
            <a:pPr lvl="0"/>
            <a:r>
              <a:rPr lang="en-US" sz="1200" dirty="0" smtClean="0"/>
              <a:t>Which country generates the most revenue per customer?</a:t>
            </a:r>
          </a:p>
          <a:p>
            <a:pPr lvl="0"/>
            <a:r>
              <a:rPr lang="en-US" sz="1200" dirty="0" smtClean="0"/>
              <a:t>Which customers haven't made a purchase in the last 6 months?</a:t>
            </a:r>
          </a:p>
        </p:txBody>
      </p:sp>
      <p:pic>
        <p:nvPicPr>
          <p:cNvPr id="1027" name="Picture 3"/>
          <p:cNvPicPr>
            <a:picLocks noChangeAspect="1" noChangeArrowheads="1"/>
          </p:cNvPicPr>
          <p:nvPr/>
        </p:nvPicPr>
        <p:blipFill>
          <a:blip r:embed="rId2"/>
          <a:srcRect/>
          <a:stretch>
            <a:fillRect/>
          </a:stretch>
        </p:blipFill>
        <p:spPr bwMode="auto">
          <a:xfrm>
            <a:off x="500034" y="2786058"/>
            <a:ext cx="1785950" cy="1679098"/>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3071802" y="4714884"/>
            <a:ext cx="1133475" cy="390525"/>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428596" y="4643446"/>
            <a:ext cx="2419350" cy="428625"/>
          </a:xfrm>
          <a:prstGeom prst="rect">
            <a:avLst/>
          </a:prstGeom>
          <a:noFill/>
          <a:ln w="9525">
            <a:noFill/>
            <a:miter lim="800000"/>
            <a:headEnd/>
            <a:tailEnd/>
          </a:ln>
          <a:effectLst/>
        </p:spPr>
      </p:pic>
      <p:pic>
        <p:nvPicPr>
          <p:cNvPr id="1030" name="Picture 6"/>
          <p:cNvPicPr>
            <a:picLocks noChangeAspect="1" noChangeArrowheads="1"/>
          </p:cNvPicPr>
          <p:nvPr/>
        </p:nvPicPr>
        <p:blipFill>
          <a:blip r:embed="rId5"/>
          <a:srcRect/>
          <a:stretch>
            <a:fillRect/>
          </a:stretch>
        </p:blipFill>
        <p:spPr bwMode="auto">
          <a:xfrm>
            <a:off x="5056426" y="2786058"/>
            <a:ext cx="3835162" cy="1857388"/>
          </a:xfrm>
          <a:prstGeom prst="rect">
            <a:avLst/>
          </a:prstGeom>
          <a:noFill/>
          <a:ln w="9525">
            <a:noFill/>
            <a:miter lim="800000"/>
            <a:headEnd/>
            <a:tailEnd/>
          </a:ln>
          <a:effectLst/>
        </p:spPr>
      </p:pic>
      <p:pic>
        <p:nvPicPr>
          <p:cNvPr id="1031" name="Picture 7"/>
          <p:cNvPicPr>
            <a:picLocks noChangeAspect="1" noChangeArrowheads="1"/>
          </p:cNvPicPr>
          <p:nvPr/>
        </p:nvPicPr>
        <p:blipFill>
          <a:blip r:embed="rId6"/>
          <a:srcRect/>
          <a:stretch>
            <a:fillRect/>
          </a:stretch>
        </p:blipFill>
        <p:spPr bwMode="auto">
          <a:xfrm>
            <a:off x="2385321" y="2786058"/>
            <a:ext cx="2571768" cy="1744259"/>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2. Sales &amp; Revenue Analysis</a:t>
            </a:r>
            <a:endParaRPr lang="en-US" dirty="0"/>
          </a:p>
        </p:txBody>
      </p:sp>
      <p:sp>
        <p:nvSpPr>
          <p:cNvPr id="3" name="Content Placeholder 2"/>
          <p:cNvSpPr>
            <a:spLocks noGrp="1"/>
          </p:cNvSpPr>
          <p:nvPr>
            <p:ph idx="1"/>
          </p:nvPr>
        </p:nvSpPr>
        <p:spPr>
          <a:xfrm>
            <a:off x="457200" y="1600200"/>
            <a:ext cx="8229600" cy="941796"/>
          </a:xfrm>
        </p:spPr>
        <p:txBody>
          <a:bodyPr>
            <a:spAutoFit/>
          </a:bodyPr>
          <a:lstStyle/>
          <a:p>
            <a:pPr lvl="0"/>
            <a:r>
              <a:rPr lang="en-US" sz="1200" dirty="0" smtClean="0"/>
              <a:t>What are the monthly revenue trends for the last two years?</a:t>
            </a:r>
          </a:p>
          <a:p>
            <a:pPr lvl="0"/>
            <a:r>
              <a:rPr lang="en-US" sz="1200" dirty="0" smtClean="0"/>
              <a:t>What is the average value of an invoice (purchase)?</a:t>
            </a:r>
          </a:p>
          <a:p>
            <a:pPr lvl="0"/>
            <a:r>
              <a:rPr lang="en-US" sz="1200" dirty="0" smtClean="0"/>
              <a:t>How much revenue does each sales representative contribute?</a:t>
            </a:r>
          </a:p>
          <a:p>
            <a:pPr lvl="0"/>
            <a:r>
              <a:rPr lang="en-US" sz="1200" dirty="0" smtClean="0"/>
              <a:t>Which months or quarters have peak music sales?</a:t>
            </a:r>
          </a:p>
        </p:txBody>
      </p:sp>
      <p:pic>
        <p:nvPicPr>
          <p:cNvPr id="2050" name="Picture 2"/>
          <p:cNvPicPr>
            <a:picLocks noChangeAspect="1" noChangeArrowheads="1"/>
          </p:cNvPicPr>
          <p:nvPr/>
        </p:nvPicPr>
        <p:blipFill>
          <a:blip r:embed="rId2"/>
          <a:srcRect/>
          <a:stretch>
            <a:fillRect/>
          </a:stretch>
        </p:blipFill>
        <p:spPr bwMode="auto">
          <a:xfrm>
            <a:off x="642910" y="2786058"/>
            <a:ext cx="2000250" cy="206692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2714612" y="2786058"/>
            <a:ext cx="1419225" cy="409575"/>
          </a:xfrm>
          <a:prstGeom prst="rect">
            <a:avLst/>
          </a:prstGeom>
          <a:noFill/>
          <a:ln w="9525">
            <a:noFill/>
            <a:miter lim="800000"/>
            <a:headEnd/>
            <a:tailEnd/>
          </a:ln>
          <a:effectLst/>
        </p:spPr>
      </p:pic>
      <p:pic>
        <p:nvPicPr>
          <p:cNvPr id="2053" name="Picture 5"/>
          <p:cNvPicPr>
            <a:picLocks noChangeAspect="1" noChangeArrowheads="1"/>
          </p:cNvPicPr>
          <p:nvPr/>
        </p:nvPicPr>
        <p:blipFill>
          <a:blip r:embed="rId4"/>
          <a:srcRect/>
          <a:stretch>
            <a:fillRect/>
          </a:stretch>
        </p:blipFill>
        <p:spPr bwMode="auto">
          <a:xfrm>
            <a:off x="2714612" y="3286124"/>
            <a:ext cx="4552950" cy="800100"/>
          </a:xfrm>
          <a:prstGeom prst="rect">
            <a:avLst/>
          </a:prstGeom>
          <a:noFill/>
          <a:ln w="9525">
            <a:noFill/>
            <a:miter lim="800000"/>
            <a:headEnd/>
            <a:tailEnd/>
          </a:ln>
          <a:effectLst/>
        </p:spPr>
      </p:pic>
      <p:pic>
        <p:nvPicPr>
          <p:cNvPr id="2054" name="Picture 6"/>
          <p:cNvPicPr>
            <a:picLocks noChangeAspect="1" noChangeArrowheads="1"/>
          </p:cNvPicPr>
          <p:nvPr/>
        </p:nvPicPr>
        <p:blipFill>
          <a:blip r:embed="rId5"/>
          <a:srcRect/>
          <a:stretch>
            <a:fillRect/>
          </a:stretch>
        </p:blipFill>
        <p:spPr bwMode="auto">
          <a:xfrm>
            <a:off x="604821" y="4929198"/>
            <a:ext cx="1609725" cy="1171575"/>
          </a:xfrm>
          <a:prstGeom prst="rect">
            <a:avLst/>
          </a:prstGeom>
          <a:noFill/>
          <a:ln w="9525">
            <a:noFill/>
            <a:miter lim="800000"/>
            <a:headEnd/>
            <a:tailEnd/>
          </a:ln>
          <a:effectLst/>
        </p:spPr>
      </p:pic>
      <p:pic>
        <p:nvPicPr>
          <p:cNvPr id="2055" name="Picture 7"/>
          <p:cNvPicPr>
            <a:picLocks noChangeAspect="1" noChangeArrowheads="1"/>
          </p:cNvPicPr>
          <p:nvPr/>
        </p:nvPicPr>
        <p:blipFill>
          <a:blip r:embed="rId6"/>
          <a:srcRect/>
          <a:stretch>
            <a:fillRect/>
          </a:stretch>
        </p:blipFill>
        <p:spPr bwMode="auto">
          <a:xfrm>
            <a:off x="2285984" y="4929198"/>
            <a:ext cx="2105025" cy="97155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3. Product &amp; Content Analysis</a:t>
            </a:r>
            <a:endParaRPr lang="en-US" dirty="0"/>
          </a:p>
        </p:txBody>
      </p:sp>
      <p:sp>
        <p:nvSpPr>
          <p:cNvPr id="3" name="Content Placeholder 2"/>
          <p:cNvSpPr>
            <a:spLocks noGrp="1"/>
          </p:cNvSpPr>
          <p:nvPr>
            <p:ph idx="1"/>
          </p:nvPr>
        </p:nvSpPr>
        <p:spPr>
          <a:xfrm>
            <a:off x="457200" y="1600200"/>
            <a:ext cx="8229600" cy="1163395"/>
          </a:xfrm>
        </p:spPr>
        <p:txBody>
          <a:bodyPr>
            <a:spAutoFit/>
          </a:bodyPr>
          <a:lstStyle/>
          <a:p>
            <a:pPr lvl="0"/>
            <a:r>
              <a:rPr lang="en-US" sz="1200" dirty="0" smtClean="0"/>
              <a:t>Which tracks generated the most revenue?</a:t>
            </a:r>
          </a:p>
          <a:p>
            <a:pPr lvl="0"/>
            <a:r>
              <a:rPr lang="en-US" sz="1200" dirty="0" smtClean="0"/>
              <a:t>Which albums or playlists are most frequently included in purchases?</a:t>
            </a:r>
          </a:p>
          <a:p>
            <a:pPr lvl="0"/>
            <a:r>
              <a:rPr lang="en-US" sz="1200" dirty="0" smtClean="0"/>
              <a:t>Are there any tracks or albums that have never been purchased?</a:t>
            </a:r>
          </a:p>
          <a:p>
            <a:pPr lvl="0"/>
            <a:r>
              <a:rPr lang="en-US" sz="1200" dirty="0" smtClean="0"/>
              <a:t>What is the average price per track across different genres?</a:t>
            </a:r>
          </a:p>
          <a:p>
            <a:pPr lvl="0"/>
            <a:r>
              <a:rPr lang="en-US" sz="1200" dirty="0" smtClean="0"/>
              <a:t>How many tracks does the store have per genre and how does it correlate with sales?</a:t>
            </a:r>
          </a:p>
        </p:txBody>
      </p:sp>
      <p:pic>
        <p:nvPicPr>
          <p:cNvPr id="3074" name="Picture 2"/>
          <p:cNvPicPr>
            <a:picLocks noChangeAspect="1" noChangeArrowheads="1"/>
          </p:cNvPicPr>
          <p:nvPr/>
        </p:nvPicPr>
        <p:blipFill>
          <a:blip r:embed="rId2"/>
          <a:srcRect/>
          <a:stretch>
            <a:fillRect/>
          </a:stretch>
        </p:blipFill>
        <p:spPr bwMode="auto">
          <a:xfrm>
            <a:off x="428596" y="2786058"/>
            <a:ext cx="2000264" cy="1801891"/>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2519386" y="2786058"/>
            <a:ext cx="3462285" cy="1772165"/>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6072198" y="2786058"/>
            <a:ext cx="2643206" cy="1737887"/>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a:srcRect/>
          <a:stretch>
            <a:fillRect/>
          </a:stretch>
        </p:blipFill>
        <p:spPr bwMode="auto">
          <a:xfrm>
            <a:off x="428596" y="4658183"/>
            <a:ext cx="2643206" cy="1628337"/>
          </a:xfrm>
          <a:prstGeom prst="rect">
            <a:avLst/>
          </a:prstGeom>
          <a:noFill/>
          <a:ln w="9525">
            <a:noFill/>
            <a:miter lim="800000"/>
            <a:headEnd/>
            <a:tailEnd/>
          </a:ln>
          <a:effectLst/>
        </p:spPr>
      </p:pic>
      <p:sp>
        <p:nvSpPr>
          <p:cNvPr id="8" name="TextBox 7"/>
          <p:cNvSpPr txBox="1"/>
          <p:nvPr/>
        </p:nvSpPr>
        <p:spPr>
          <a:xfrm>
            <a:off x="357158" y="6286520"/>
            <a:ext cx="2783134" cy="246221"/>
          </a:xfrm>
          <a:prstGeom prst="rect">
            <a:avLst/>
          </a:prstGeom>
          <a:noFill/>
        </p:spPr>
        <p:txBody>
          <a:bodyPr wrap="none" rtlCol="0">
            <a:spAutoFit/>
          </a:bodyPr>
          <a:lstStyle/>
          <a:p>
            <a:r>
              <a:rPr lang="en-US" sz="1000" dirty="0" smtClean="0"/>
              <a:t>There are 96 albums which were never purchased</a:t>
            </a:r>
            <a:endParaRPr lang="en-US" sz="1000" dirty="0"/>
          </a:p>
        </p:txBody>
      </p:sp>
      <p:pic>
        <p:nvPicPr>
          <p:cNvPr id="3078" name="Picture 6"/>
          <p:cNvPicPr>
            <a:picLocks noChangeAspect="1" noChangeArrowheads="1"/>
          </p:cNvPicPr>
          <p:nvPr/>
        </p:nvPicPr>
        <p:blipFill>
          <a:blip r:embed="rId6"/>
          <a:srcRect/>
          <a:stretch>
            <a:fillRect/>
          </a:stretch>
        </p:blipFill>
        <p:spPr bwMode="auto">
          <a:xfrm>
            <a:off x="3214679" y="4643446"/>
            <a:ext cx="1643074" cy="1606068"/>
          </a:xfrm>
          <a:prstGeom prst="rect">
            <a:avLst/>
          </a:prstGeom>
          <a:noFill/>
          <a:ln w="9525">
            <a:noFill/>
            <a:miter lim="800000"/>
            <a:headEnd/>
            <a:tailEnd/>
          </a:ln>
          <a:effectLst/>
        </p:spPr>
      </p:pic>
      <p:sp>
        <p:nvSpPr>
          <p:cNvPr id="10" name="TextBox 9"/>
          <p:cNvSpPr txBox="1"/>
          <p:nvPr/>
        </p:nvSpPr>
        <p:spPr>
          <a:xfrm>
            <a:off x="3143240" y="6286520"/>
            <a:ext cx="2848857" cy="246221"/>
          </a:xfrm>
          <a:prstGeom prst="rect">
            <a:avLst/>
          </a:prstGeom>
          <a:noFill/>
        </p:spPr>
        <p:txBody>
          <a:bodyPr wrap="none" rtlCol="0">
            <a:spAutoFit/>
          </a:bodyPr>
          <a:lstStyle/>
          <a:p>
            <a:r>
              <a:rPr lang="en-US" sz="1000" dirty="0" smtClean="0"/>
              <a:t>There are 1697 tracks which were never purchased</a:t>
            </a:r>
            <a:endParaRPr lang="en-US" sz="1000" dirty="0"/>
          </a:p>
        </p:txBody>
      </p:sp>
      <p:pic>
        <p:nvPicPr>
          <p:cNvPr id="3079" name="Picture 7"/>
          <p:cNvPicPr>
            <a:picLocks noChangeAspect="1" noChangeArrowheads="1"/>
          </p:cNvPicPr>
          <p:nvPr/>
        </p:nvPicPr>
        <p:blipFill>
          <a:blip r:embed="rId7"/>
          <a:srcRect/>
          <a:stretch>
            <a:fillRect/>
          </a:stretch>
        </p:blipFill>
        <p:spPr bwMode="auto">
          <a:xfrm>
            <a:off x="4929190" y="4643446"/>
            <a:ext cx="923925" cy="600075"/>
          </a:xfrm>
          <a:prstGeom prst="rect">
            <a:avLst/>
          </a:prstGeom>
          <a:noFill/>
          <a:ln w="9525">
            <a:noFill/>
            <a:miter lim="800000"/>
            <a:headEnd/>
            <a:tailEnd/>
          </a:ln>
          <a:effectLst/>
        </p:spPr>
      </p:pic>
      <p:pic>
        <p:nvPicPr>
          <p:cNvPr id="3080" name="Picture 8"/>
          <p:cNvPicPr>
            <a:picLocks noChangeAspect="1" noChangeArrowheads="1"/>
          </p:cNvPicPr>
          <p:nvPr/>
        </p:nvPicPr>
        <p:blipFill>
          <a:blip r:embed="rId8"/>
          <a:srcRect/>
          <a:stretch>
            <a:fillRect/>
          </a:stretch>
        </p:blipFill>
        <p:spPr bwMode="auto">
          <a:xfrm>
            <a:off x="6072198" y="4572008"/>
            <a:ext cx="2615810" cy="1671642"/>
          </a:xfrm>
          <a:prstGeom prst="rect">
            <a:avLst/>
          </a:prstGeom>
          <a:noFill/>
          <a:ln w="9525">
            <a:noFill/>
            <a:miter lim="800000"/>
            <a:headEnd/>
            <a:tailEnd/>
          </a:ln>
          <a:effectLst/>
        </p:spPr>
      </p:pic>
      <p:sp>
        <p:nvSpPr>
          <p:cNvPr id="13" name="TextBox 12"/>
          <p:cNvSpPr txBox="1"/>
          <p:nvPr/>
        </p:nvSpPr>
        <p:spPr>
          <a:xfrm>
            <a:off x="6500826" y="6286520"/>
            <a:ext cx="1255472" cy="246221"/>
          </a:xfrm>
          <a:prstGeom prst="rect">
            <a:avLst/>
          </a:prstGeom>
          <a:noFill/>
        </p:spPr>
        <p:txBody>
          <a:bodyPr wrap="none" rtlCol="0">
            <a:spAutoFit/>
          </a:bodyPr>
          <a:lstStyle/>
          <a:p>
            <a:r>
              <a:rPr lang="en-US" sz="1000" dirty="0" smtClean="0"/>
              <a:t>There are 25  genres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4. Artist &amp; Genre Performance</a:t>
            </a:r>
            <a:endParaRPr lang="en-US" dirty="0"/>
          </a:p>
        </p:txBody>
      </p:sp>
      <p:sp>
        <p:nvSpPr>
          <p:cNvPr id="3" name="Content Placeholder 2"/>
          <p:cNvSpPr>
            <a:spLocks noGrp="1"/>
          </p:cNvSpPr>
          <p:nvPr>
            <p:ph idx="1"/>
          </p:nvPr>
        </p:nvSpPr>
        <p:spPr>
          <a:xfrm>
            <a:off x="457200" y="1600200"/>
            <a:ext cx="8229600" cy="1163395"/>
          </a:xfrm>
        </p:spPr>
        <p:txBody>
          <a:bodyPr>
            <a:spAutoFit/>
          </a:bodyPr>
          <a:lstStyle/>
          <a:p>
            <a:pPr lvl="0"/>
            <a:r>
              <a:rPr lang="en-US" sz="1200" dirty="0" smtClean="0"/>
              <a:t>Who are the top 5 highest-grossing artists?</a:t>
            </a:r>
          </a:p>
          <a:p>
            <a:pPr lvl="0"/>
            <a:r>
              <a:rPr lang="en-US" sz="1200" dirty="0" smtClean="0"/>
              <a:t>Which music genres are most popular in terms of:</a:t>
            </a:r>
          </a:p>
          <a:p>
            <a:pPr lvl="1"/>
            <a:r>
              <a:rPr lang="en-US" sz="1200" dirty="0" smtClean="0"/>
              <a:t>Number of tracks sold</a:t>
            </a:r>
          </a:p>
          <a:p>
            <a:pPr lvl="1"/>
            <a:r>
              <a:rPr lang="en-US" sz="1200" dirty="0" smtClean="0"/>
              <a:t>Total revenue</a:t>
            </a:r>
          </a:p>
          <a:p>
            <a:pPr lvl="0"/>
            <a:r>
              <a:rPr lang="en-US" sz="1200" dirty="0" smtClean="0"/>
              <a:t>Are certain genres more popular in specific countries?</a:t>
            </a:r>
          </a:p>
        </p:txBody>
      </p:sp>
      <p:pic>
        <p:nvPicPr>
          <p:cNvPr id="4098" name="Picture 2"/>
          <p:cNvPicPr>
            <a:picLocks noChangeAspect="1" noChangeArrowheads="1"/>
          </p:cNvPicPr>
          <p:nvPr/>
        </p:nvPicPr>
        <p:blipFill>
          <a:blip r:embed="rId2"/>
          <a:srcRect/>
          <a:stretch>
            <a:fillRect/>
          </a:stretch>
        </p:blipFill>
        <p:spPr bwMode="auto">
          <a:xfrm>
            <a:off x="428596" y="2857496"/>
            <a:ext cx="2428875" cy="1152525"/>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2928926" y="2857496"/>
            <a:ext cx="2914650" cy="2057400"/>
          </a:xfrm>
          <a:prstGeom prst="rect">
            <a:avLst/>
          </a:prstGeom>
          <a:noFill/>
          <a:ln w="9525">
            <a:noFill/>
            <a:miter lim="800000"/>
            <a:headEnd/>
            <a:tailEnd/>
          </a:ln>
          <a:effectLst/>
        </p:spPr>
      </p:pic>
      <p:sp>
        <p:nvSpPr>
          <p:cNvPr id="7" name="TextBox 6"/>
          <p:cNvSpPr txBox="1"/>
          <p:nvPr/>
        </p:nvSpPr>
        <p:spPr>
          <a:xfrm>
            <a:off x="569465" y="4968729"/>
            <a:ext cx="5431295" cy="246221"/>
          </a:xfrm>
          <a:prstGeom prst="rect">
            <a:avLst/>
          </a:prstGeom>
          <a:noFill/>
        </p:spPr>
        <p:txBody>
          <a:bodyPr wrap="none" rtlCol="0">
            <a:spAutoFit/>
          </a:bodyPr>
          <a:lstStyle/>
          <a:p>
            <a:r>
              <a:rPr lang="en-US" sz="1000" dirty="0" smtClean="0"/>
              <a:t>There are 25 genres totally but where sales happened are only 18 . Remaining 7 genres have </a:t>
            </a:r>
            <a:r>
              <a:rPr lang="en-US" sz="1000" dirty="0" smtClean="0"/>
              <a:t>no sales</a:t>
            </a:r>
            <a:endParaRPr lang="en-US" sz="1000" dirty="0"/>
          </a:p>
        </p:txBody>
      </p:sp>
      <p:pic>
        <p:nvPicPr>
          <p:cNvPr id="4102" name="Picture 6"/>
          <p:cNvPicPr>
            <a:picLocks noChangeAspect="1" noChangeArrowheads="1"/>
          </p:cNvPicPr>
          <p:nvPr/>
        </p:nvPicPr>
        <p:blipFill>
          <a:blip r:embed="rId4"/>
          <a:srcRect/>
          <a:stretch>
            <a:fillRect/>
          </a:stretch>
        </p:blipFill>
        <p:spPr bwMode="auto">
          <a:xfrm>
            <a:off x="6072198" y="2857496"/>
            <a:ext cx="2695575" cy="2019300"/>
          </a:xfrm>
          <a:prstGeom prst="rect">
            <a:avLst/>
          </a:prstGeom>
          <a:noFill/>
          <a:ln w="9525">
            <a:noFill/>
            <a:miter lim="800000"/>
            <a:headEnd/>
            <a:tailEnd/>
          </a:ln>
          <a:effectLst/>
        </p:spPr>
      </p:pic>
      <p:sp>
        <p:nvSpPr>
          <p:cNvPr id="10" name="TextBox 9"/>
          <p:cNvSpPr txBox="1"/>
          <p:nvPr/>
        </p:nvSpPr>
        <p:spPr>
          <a:xfrm>
            <a:off x="569465" y="5254481"/>
            <a:ext cx="6255239" cy="246221"/>
          </a:xfrm>
          <a:prstGeom prst="rect">
            <a:avLst/>
          </a:prstGeom>
          <a:noFill/>
        </p:spPr>
        <p:txBody>
          <a:bodyPr wrap="none" rtlCol="0">
            <a:spAutoFit/>
          </a:bodyPr>
          <a:lstStyle/>
          <a:p>
            <a:r>
              <a:rPr lang="en-US" sz="1000" dirty="0" smtClean="0"/>
              <a:t>There are 24 countries totally where Rock genre is in top 1 except for Argentina where Alternative &amp; Punk  is in top 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5. Employee &amp; Operational Efficiency</a:t>
            </a:r>
            <a:endParaRPr lang="en-US" dirty="0"/>
          </a:p>
        </p:txBody>
      </p:sp>
      <p:sp>
        <p:nvSpPr>
          <p:cNvPr id="3" name="Content Placeholder 2"/>
          <p:cNvSpPr>
            <a:spLocks noGrp="1"/>
          </p:cNvSpPr>
          <p:nvPr>
            <p:ph idx="1"/>
          </p:nvPr>
        </p:nvSpPr>
        <p:spPr>
          <a:xfrm>
            <a:off x="457200" y="1600200"/>
            <a:ext cx="8229600" cy="720197"/>
          </a:xfrm>
        </p:spPr>
        <p:txBody>
          <a:bodyPr>
            <a:spAutoFit/>
          </a:bodyPr>
          <a:lstStyle/>
          <a:p>
            <a:pPr lvl="0"/>
            <a:r>
              <a:rPr lang="en-US" sz="1200" dirty="0" smtClean="0"/>
              <a:t>Which employees (support representatives) are managing the highest-spending customers?</a:t>
            </a:r>
          </a:p>
          <a:p>
            <a:pPr lvl="0"/>
            <a:r>
              <a:rPr lang="en-US" sz="1200" dirty="0" smtClean="0"/>
              <a:t>What is the average number of customers per employee?</a:t>
            </a:r>
          </a:p>
          <a:p>
            <a:pPr lvl="0"/>
            <a:r>
              <a:rPr lang="en-US" sz="1200" dirty="0" smtClean="0"/>
              <a:t>Which employee regions bring in the most revenue?</a:t>
            </a:r>
          </a:p>
        </p:txBody>
      </p:sp>
      <p:pic>
        <p:nvPicPr>
          <p:cNvPr id="5122" name="Picture 2"/>
          <p:cNvPicPr>
            <a:picLocks noChangeAspect="1" noChangeArrowheads="1"/>
          </p:cNvPicPr>
          <p:nvPr/>
        </p:nvPicPr>
        <p:blipFill>
          <a:blip r:embed="rId2"/>
          <a:srcRect/>
          <a:stretch>
            <a:fillRect/>
          </a:stretch>
        </p:blipFill>
        <p:spPr bwMode="auto">
          <a:xfrm>
            <a:off x="500034" y="2754151"/>
            <a:ext cx="2371725" cy="800100"/>
          </a:xfrm>
          <a:prstGeom prst="rect">
            <a:avLst/>
          </a:prstGeom>
          <a:noFill/>
          <a:ln w="9525">
            <a:noFill/>
            <a:miter lim="800000"/>
            <a:headEnd/>
            <a:tailEnd/>
          </a:ln>
          <a:effectLst/>
        </p:spPr>
      </p:pic>
      <p:sp>
        <p:nvSpPr>
          <p:cNvPr id="5" name="TextBox 4"/>
          <p:cNvSpPr txBox="1"/>
          <p:nvPr/>
        </p:nvSpPr>
        <p:spPr>
          <a:xfrm>
            <a:off x="500034" y="2500306"/>
            <a:ext cx="2164375" cy="246221"/>
          </a:xfrm>
          <a:prstGeom prst="rect">
            <a:avLst/>
          </a:prstGeom>
          <a:noFill/>
        </p:spPr>
        <p:txBody>
          <a:bodyPr wrap="none" rtlCol="0">
            <a:spAutoFit/>
          </a:bodyPr>
          <a:lstStyle/>
          <a:p>
            <a:r>
              <a:rPr lang="en-US" sz="1000" b="1" dirty="0" smtClean="0"/>
              <a:t>Based on top 10 spending customers </a:t>
            </a:r>
            <a:endParaRPr lang="en-US" sz="1000" b="1" dirty="0"/>
          </a:p>
        </p:txBody>
      </p:sp>
      <p:pic>
        <p:nvPicPr>
          <p:cNvPr id="5123" name="Picture 3"/>
          <p:cNvPicPr>
            <a:picLocks noChangeAspect="1" noChangeArrowheads="1"/>
          </p:cNvPicPr>
          <p:nvPr/>
        </p:nvPicPr>
        <p:blipFill>
          <a:blip r:embed="rId3"/>
          <a:srcRect/>
          <a:stretch>
            <a:fillRect/>
          </a:stretch>
        </p:blipFill>
        <p:spPr bwMode="auto">
          <a:xfrm>
            <a:off x="3000364" y="2714620"/>
            <a:ext cx="2628900" cy="809625"/>
          </a:xfrm>
          <a:prstGeom prst="rect">
            <a:avLst/>
          </a:prstGeom>
          <a:noFill/>
          <a:ln w="9525">
            <a:noFill/>
            <a:miter lim="800000"/>
            <a:headEnd/>
            <a:tailEnd/>
          </a:ln>
          <a:effectLst/>
        </p:spPr>
      </p:pic>
      <p:pic>
        <p:nvPicPr>
          <p:cNvPr id="1026" name="Picture 2"/>
          <p:cNvPicPr>
            <a:picLocks noChangeAspect="1" noChangeArrowheads="1"/>
          </p:cNvPicPr>
          <p:nvPr/>
        </p:nvPicPr>
        <p:blipFill>
          <a:blip r:embed="rId4"/>
          <a:srcRect/>
          <a:stretch>
            <a:fillRect/>
          </a:stretch>
        </p:blipFill>
        <p:spPr bwMode="auto">
          <a:xfrm>
            <a:off x="500034" y="3714752"/>
            <a:ext cx="3114675" cy="20574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6. Geographic Trends</a:t>
            </a:r>
            <a:endParaRPr lang="en-US" dirty="0"/>
          </a:p>
        </p:txBody>
      </p:sp>
      <p:sp>
        <p:nvSpPr>
          <p:cNvPr id="3" name="Content Placeholder 2"/>
          <p:cNvSpPr>
            <a:spLocks noGrp="1"/>
          </p:cNvSpPr>
          <p:nvPr>
            <p:ph idx="1"/>
          </p:nvPr>
        </p:nvSpPr>
        <p:spPr>
          <a:xfrm>
            <a:off x="457200" y="1600200"/>
            <a:ext cx="8229600" cy="720197"/>
          </a:xfrm>
        </p:spPr>
        <p:txBody>
          <a:bodyPr>
            <a:spAutoFit/>
          </a:bodyPr>
          <a:lstStyle/>
          <a:p>
            <a:pPr lvl="0"/>
            <a:r>
              <a:rPr lang="en-US" sz="1200" dirty="0" smtClean="0"/>
              <a:t>Which countries or cities have the highest number of customers?</a:t>
            </a:r>
          </a:p>
          <a:p>
            <a:pPr lvl="0"/>
            <a:r>
              <a:rPr lang="en-US" sz="1200" dirty="0" smtClean="0"/>
              <a:t>How does revenue vary by region?</a:t>
            </a:r>
          </a:p>
          <a:p>
            <a:pPr lvl="0"/>
            <a:r>
              <a:rPr lang="en-US" sz="1200" dirty="0" smtClean="0"/>
              <a:t>Are there any underserved geographic regions (high users, low sales)?</a:t>
            </a:r>
          </a:p>
        </p:txBody>
      </p:sp>
      <p:pic>
        <p:nvPicPr>
          <p:cNvPr id="2050" name="Picture 2"/>
          <p:cNvPicPr>
            <a:picLocks noChangeAspect="1" noChangeArrowheads="1"/>
          </p:cNvPicPr>
          <p:nvPr/>
        </p:nvPicPr>
        <p:blipFill>
          <a:blip r:embed="rId2"/>
          <a:srcRect/>
          <a:stretch>
            <a:fillRect/>
          </a:stretch>
        </p:blipFill>
        <p:spPr bwMode="auto">
          <a:xfrm>
            <a:off x="500034" y="2500306"/>
            <a:ext cx="2162175" cy="204787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2714612" y="2428868"/>
            <a:ext cx="2124075" cy="2085975"/>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4929190" y="2486033"/>
            <a:ext cx="3657600" cy="2085975"/>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500034" y="4643446"/>
            <a:ext cx="3238500" cy="2047875"/>
          </a:xfrm>
          <a:prstGeom prst="rect">
            <a:avLst/>
          </a:prstGeom>
          <a:noFill/>
          <a:ln w="9525">
            <a:noFill/>
            <a:miter lim="800000"/>
            <a:headEnd/>
            <a:tailEnd/>
          </a:ln>
          <a:effectLst/>
        </p:spPr>
      </p:pic>
      <p:pic>
        <p:nvPicPr>
          <p:cNvPr id="2054" name="Picture 6"/>
          <p:cNvPicPr>
            <a:picLocks noChangeAspect="1" noChangeArrowheads="1"/>
          </p:cNvPicPr>
          <p:nvPr/>
        </p:nvPicPr>
        <p:blipFill>
          <a:blip r:embed="rId6"/>
          <a:srcRect/>
          <a:stretch>
            <a:fillRect/>
          </a:stretch>
        </p:blipFill>
        <p:spPr bwMode="auto">
          <a:xfrm>
            <a:off x="3857620" y="4557735"/>
            <a:ext cx="4772025" cy="208597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7. Customer Retention &amp; Purchase Patterns</a:t>
            </a:r>
            <a:endParaRPr lang="en-US" sz="3200" dirty="0"/>
          </a:p>
        </p:txBody>
      </p:sp>
      <p:sp>
        <p:nvSpPr>
          <p:cNvPr id="3" name="Content Placeholder 2"/>
          <p:cNvSpPr>
            <a:spLocks noGrp="1"/>
          </p:cNvSpPr>
          <p:nvPr>
            <p:ph idx="1"/>
          </p:nvPr>
        </p:nvSpPr>
        <p:spPr>
          <a:xfrm>
            <a:off x="457200" y="1600200"/>
            <a:ext cx="8229600" cy="720197"/>
          </a:xfrm>
        </p:spPr>
        <p:txBody>
          <a:bodyPr>
            <a:spAutoFit/>
          </a:bodyPr>
          <a:lstStyle/>
          <a:p>
            <a:pPr lvl="0"/>
            <a:r>
              <a:rPr lang="en-US" sz="1200" dirty="0" smtClean="0"/>
              <a:t>What is the distribution of purchase frequency per customer?</a:t>
            </a:r>
          </a:p>
          <a:p>
            <a:pPr lvl="0"/>
            <a:r>
              <a:rPr lang="en-US" sz="1200" dirty="0" smtClean="0"/>
              <a:t>How long is the average time between customer purchases?</a:t>
            </a:r>
          </a:p>
          <a:p>
            <a:pPr lvl="0"/>
            <a:r>
              <a:rPr lang="en-US" sz="1200" dirty="0" smtClean="0"/>
              <a:t>What percentage of customers purchase tracks from more than one genre?</a:t>
            </a:r>
          </a:p>
        </p:txBody>
      </p:sp>
      <p:pic>
        <p:nvPicPr>
          <p:cNvPr id="3074" name="Picture 2"/>
          <p:cNvPicPr>
            <a:picLocks noChangeAspect="1" noChangeArrowheads="1"/>
          </p:cNvPicPr>
          <p:nvPr/>
        </p:nvPicPr>
        <p:blipFill>
          <a:blip r:embed="rId2"/>
          <a:srcRect/>
          <a:stretch>
            <a:fillRect/>
          </a:stretch>
        </p:blipFill>
        <p:spPr bwMode="auto">
          <a:xfrm>
            <a:off x="571472" y="2428868"/>
            <a:ext cx="2305050" cy="207645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2928926" y="2500306"/>
            <a:ext cx="2809875" cy="419100"/>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5786446" y="2428868"/>
            <a:ext cx="1409700" cy="2114550"/>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a:srcRect/>
          <a:stretch>
            <a:fillRect/>
          </a:stretch>
        </p:blipFill>
        <p:spPr bwMode="auto">
          <a:xfrm>
            <a:off x="3667125" y="3209925"/>
            <a:ext cx="1809750" cy="438150"/>
          </a:xfrm>
          <a:prstGeom prst="rect">
            <a:avLst/>
          </a:prstGeom>
          <a:noFill/>
          <a:ln w="9525">
            <a:noFill/>
            <a:miter lim="800000"/>
            <a:headEnd/>
            <a:tailEnd/>
          </a:ln>
          <a:effectLst/>
        </p:spPr>
      </p:pic>
      <p:pic>
        <p:nvPicPr>
          <p:cNvPr id="3078" name="Picture 6"/>
          <p:cNvPicPr>
            <a:picLocks noChangeAspect="1" noChangeArrowheads="1"/>
          </p:cNvPicPr>
          <p:nvPr/>
        </p:nvPicPr>
        <p:blipFill>
          <a:blip r:embed="rId6"/>
          <a:srcRect/>
          <a:stretch>
            <a:fillRect/>
          </a:stretch>
        </p:blipFill>
        <p:spPr bwMode="auto">
          <a:xfrm>
            <a:off x="3500430" y="3786190"/>
            <a:ext cx="1866900" cy="47625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8. Operational Optimization</a:t>
            </a:r>
            <a:endParaRPr lang="en-US" dirty="0"/>
          </a:p>
        </p:txBody>
      </p:sp>
      <p:sp>
        <p:nvSpPr>
          <p:cNvPr id="3" name="Content Placeholder 2"/>
          <p:cNvSpPr>
            <a:spLocks noGrp="1"/>
          </p:cNvSpPr>
          <p:nvPr>
            <p:ph idx="1"/>
          </p:nvPr>
        </p:nvSpPr>
        <p:spPr>
          <a:xfrm>
            <a:off x="457200" y="1600200"/>
            <a:ext cx="8229600" cy="720197"/>
          </a:xfrm>
        </p:spPr>
        <p:txBody>
          <a:bodyPr>
            <a:spAutoFit/>
          </a:bodyPr>
          <a:lstStyle/>
          <a:p>
            <a:pPr lvl="0"/>
            <a:r>
              <a:rPr lang="en-US" sz="1200" dirty="0" smtClean="0"/>
              <a:t>What are the most common combinations of tracks purchased together?</a:t>
            </a:r>
          </a:p>
          <a:p>
            <a:pPr lvl="0"/>
            <a:r>
              <a:rPr lang="en-US" sz="1200" dirty="0" smtClean="0"/>
              <a:t>Are there pricing patterns that lead to higher or lower sales?</a:t>
            </a:r>
          </a:p>
          <a:p>
            <a:pPr lvl="0"/>
            <a:r>
              <a:rPr lang="en-US" sz="1200" dirty="0" smtClean="0"/>
              <a:t>Which media types (e.g., MPEG, AAC) are declining or increasing in usage?</a:t>
            </a:r>
          </a:p>
        </p:txBody>
      </p:sp>
      <p:pic>
        <p:nvPicPr>
          <p:cNvPr id="4098" name="Picture 2"/>
          <p:cNvPicPr>
            <a:picLocks noChangeAspect="1" noChangeArrowheads="1"/>
          </p:cNvPicPr>
          <p:nvPr/>
        </p:nvPicPr>
        <p:blipFill>
          <a:blip r:embed="rId2"/>
          <a:srcRect/>
          <a:stretch>
            <a:fillRect/>
          </a:stretch>
        </p:blipFill>
        <p:spPr bwMode="auto">
          <a:xfrm>
            <a:off x="642910" y="2357430"/>
            <a:ext cx="4019550" cy="2066925"/>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642910" y="4643446"/>
            <a:ext cx="4295775" cy="695325"/>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a:stretch>
            <a:fillRect/>
          </a:stretch>
        </p:blipFill>
        <p:spPr bwMode="auto">
          <a:xfrm>
            <a:off x="4857752" y="2285992"/>
            <a:ext cx="2819400" cy="2057400"/>
          </a:xfrm>
          <a:prstGeom prst="rect">
            <a:avLst/>
          </a:prstGeom>
          <a:noFill/>
          <a:ln w="9525">
            <a:noFill/>
            <a:miter lim="800000"/>
            <a:headEnd/>
            <a:tailEnd/>
          </a:ln>
          <a:effectLst/>
        </p:spPr>
      </p:pic>
      <p:sp>
        <p:nvSpPr>
          <p:cNvPr id="7" name="TextBox 6"/>
          <p:cNvSpPr txBox="1"/>
          <p:nvPr/>
        </p:nvSpPr>
        <p:spPr>
          <a:xfrm>
            <a:off x="5286380" y="4500570"/>
            <a:ext cx="3000396" cy="646331"/>
          </a:xfrm>
          <a:prstGeom prst="rect">
            <a:avLst/>
          </a:prstGeom>
          <a:noFill/>
        </p:spPr>
        <p:txBody>
          <a:bodyPr wrap="square" rtlCol="0">
            <a:spAutoFit/>
          </a:bodyPr>
          <a:lstStyle/>
          <a:p>
            <a:r>
              <a:rPr lang="en-US" sz="1200" dirty="0" smtClean="0"/>
              <a:t>The total Media type drastically reduced to 1234 in 2019 to 1150 in 2020 which is low in the total 4 years data provided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49302"/>
            <a:ext cx="8229600" cy="1107996"/>
          </a:xfrm>
        </p:spPr>
        <p:txBody>
          <a:bodyPr wrap="square">
            <a:spAutoFit/>
          </a:bodyPr>
          <a:lstStyle/>
          <a:p>
            <a:pPr marL="0" lvl="0" indent="0">
              <a:spcBef>
                <a:spcPts val="0"/>
              </a:spcBef>
              <a:buNone/>
            </a:pPr>
            <a:r>
              <a:rPr lang="en-US" sz="1100" dirty="0" smtClean="0"/>
              <a:t>-- Q1. Who is the senior most employee based on job title?</a:t>
            </a:r>
          </a:p>
          <a:p>
            <a:pPr marL="0" lvl="0" indent="0">
              <a:spcBef>
                <a:spcPts val="0"/>
              </a:spcBef>
              <a:buNone/>
            </a:pPr>
            <a:r>
              <a:rPr lang="en-US" sz="1100" dirty="0" smtClean="0"/>
              <a:t>-- Q2. Which countries have the most Invoices?</a:t>
            </a:r>
          </a:p>
          <a:p>
            <a:pPr marL="0" lvl="0" indent="0">
              <a:spcBef>
                <a:spcPts val="0"/>
              </a:spcBef>
              <a:buNone/>
            </a:pPr>
            <a:r>
              <a:rPr lang="en-US" sz="1100" dirty="0" smtClean="0"/>
              <a:t>-- Q3. What are top 3 values of total invoice?</a:t>
            </a:r>
          </a:p>
          <a:p>
            <a:pPr marL="0" lvl="0" indent="0">
              <a:spcBef>
                <a:spcPts val="0"/>
              </a:spcBef>
              <a:buNone/>
            </a:pPr>
            <a:r>
              <a:rPr lang="en-US" sz="1100" dirty="0" smtClean="0"/>
              <a:t>-- Q4. Which city has the best customers? We would like to throw a promotional Music Festival in the city we made the most money. </a:t>
            </a:r>
          </a:p>
          <a:p>
            <a:pPr marL="0" lvl="0" indent="0">
              <a:spcBef>
                <a:spcPts val="0"/>
              </a:spcBef>
              <a:buNone/>
            </a:pPr>
            <a:r>
              <a:rPr lang="en-US" sz="1100" dirty="0" smtClean="0"/>
              <a:t>--     Write a query that returns one city that has the highest sum of invoice totals. Return both the city name &amp; sum of all invoice totals.</a:t>
            </a:r>
          </a:p>
          <a:p>
            <a:pPr marL="0" indent="0">
              <a:spcBef>
                <a:spcPts val="0"/>
              </a:spcBef>
              <a:buNone/>
            </a:pPr>
            <a:r>
              <a:rPr lang="en-US" sz="1100" dirty="0" smtClean="0"/>
              <a:t>-- Q5. Who is the best customer? The customer who has spent the most money will be declared the best customer. </a:t>
            </a:r>
          </a:p>
        </p:txBody>
      </p:sp>
      <p:pic>
        <p:nvPicPr>
          <p:cNvPr id="1026" name="Picture 2"/>
          <p:cNvPicPr>
            <a:picLocks noChangeAspect="1" noChangeArrowheads="1"/>
          </p:cNvPicPr>
          <p:nvPr/>
        </p:nvPicPr>
        <p:blipFill>
          <a:blip r:embed="rId2"/>
          <a:srcRect/>
          <a:stretch>
            <a:fillRect/>
          </a:stretch>
        </p:blipFill>
        <p:spPr bwMode="auto">
          <a:xfrm>
            <a:off x="285720" y="1643050"/>
            <a:ext cx="8501090" cy="39155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1071538" y="2357430"/>
            <a:ext cx="2038350" cy="1152525"/>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3286116" y="2357430"/>
            <a:ext cx="1409700" cy="742950"/>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5000628" y="2571744"/>
            <a:ext cx="1771650" cy="428625"/>
          </a:xfrm>
          <a:prstGeom prst="rect">
            <a:avLst/>
          </a:prstGeom>
          <a:noFill/>
          <a:ln w="9525">
            <a:noFill/>
            <a:miter lim="800000"/>
            <a:headEnd/>
            <a:tailEnd/>
          </a:ln>
          <a:effectLst/>
        </p:spPr>
      </p:pic>
      <p:pic>
        <p:nvPicPr>
          <p:cNvPr id="1030" name="Picture 6"/>
          <p:cNvPicPr>
            <a:picLocks noChangeAspect="1" noChangeArrowheads="1"/>
          </p:cNvPicPr>
          <p:nvPr/>
        </p:nvPicPr>
        <p:blipFill>
          <a:blip r:embed="rId6"/>
          <a:srcRect/>
          <a:stretch>
            <a:fillRect/>
          </a:stretch>
        </p:blipFill>
        <p:spPr bwMode="auto">
          <a:xfrm>
            <a:off x="2214546" y="3857628"/>
            <a:ext cx="3267075" cy="43815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1569660"/>
          </a:xfrm>
        </p:spPr>
        <p:txBody>
          <a:bodyPr>
            <a:spAutoFit/>
          </a:bodyPr>
          <a:lstStyle/>
          <a:p>
            <a:pPr marL="0" lvl="0" indent="0">
              <a:spcBef>
                <a:spcPts val="0"/>
              </a:spcBef>
              <a:buClr>
                <a:schemeClr val="dk1"/>
              </a:buClr>
              <a:buSzPct val="61111"/>
              <a:buNone/>
            </a:pPr>
            <a:r>
              <a:rPr lang="en-US" sz="1200" dirty="0" smtClean="0"/>
              <a:t>-- Q6. Write a query to return the email, first name, last name, &amp; Genre of all Rock Music listeners. Return your list ordered alphabetically by email starting with A </a:t>
            </a:r>
          </a:p>
          <a:p>
            <a:pPr marL="0" lvl="0" indent="0">
              <a:spcBef>
                <a:spcPts val="0"/>
              </a:spcBef>
              <a:buClr>
                <a:schemeClr val="dk1"/>
              </a:buClr>
              <a:buSzPct val="61111"/>
              <a:buNone/>
            </a:pPr>
            <a:r>
              <a:rPr lang="en-US" sz="1200" dirty="0" smtClean="0"/>
              <a:t>-- Q7. Let's invite the artists who have written the most rock music in our dataset. </a:t>
            </a:r>
          </a:p>
          <a:p>
            <a:pPr marL="0" lvl="0" indent="0">
              <a:spcBef>
                <a:spcPts val="0"/>
              </a:spcBef>
              <a:buClr>
                <a:schemeClr val="dk1"/>
              </a:buClr>
              <a:buSzPct val="61111"/>
              <a:buNone/>
            </a:pPr>
            <a:r>
              <a:rPr lang="en-US" sz="1200" dirty="0" smtClean="0"/>
              <a:t>--     Write a query that returns the Artist name and total track count of the top 10 rock bands.</a:t>
            </a:r>
          </a:p>
          <a:p>
            <a:pPr marL="0" lvl="0" indent="0">
              <a:spcBef>
                <a:spcPts val="0"/>
              </a:spcBef>
              <a:buClr>
                <a:schemeClr val="dk1"/>
              </a:buClr>
              <a:buSzPct val="61111"/>
              <a:buNone/>
            </a:pPr>
            <a:r>
              <a:rPr lang="en-US" sz="1200" dirty="0" smtClean="0"/>
              <a:t>-- Q8. Return all the track names that have a song length longer than the average song length. </a:t>
            </a:r>
          </a:p>
          <a:p>
            <a:pPr marL="0" lvl="0" indent="0">
              <a:spcBef>
                <a:spcPts val="0"/>
              </a:spcBef>
              <a:buClr>
                <a:schemeClr val="dk1"/>
              </a:buClr>
              <a:buSzPct val="61111"/>
              <a:buNone/>
            </a:pPr>
            <a:r>
              <a:rPr lang="en-US" sz="1200" dirty="0" smtClean="0"/>
              <a:t>--     Return the Name and Milliseconds for each track. Order by the song length with the longest songs listed first.</a:t>
            </a:r>
          </a:p>
          <a:p>
            <a:pPr marL="0" indent="0">
              <a:spcBef>
                <a:spcPts val="0"/>
              </a:spcBef>
              <a:buClr>
                <a:schemeClr val="dk1"/>
              </a:buClr>
              <a:buSzPct val="61111"/>
              <a:buNone/>
            </a:pPr>
            <a:r>
              <a:rPr lang="en-US" sz="1200" dirty="0" smtClean="0"/>
              <a:t>-- Q9. Find how much amount spent by each customer on artists. Write a query to return the customer name, artist name, and total spent.</a:t>
            </a:r>
          </a:p>
        </p:txBody>
      </p:sp>
      <p:pic>
        <p:nvPicPr>
          <p:cNvPr id="2051" name="Picture 3"/>
          <p:cNvPicPr>
            <a:picLocks noChangeAspect="1" noChangeArrowheads="1"/>
          </p:cNvPicPr>
          <p:nvPr/>
        </p:nvPicPr>
        <p:blipFill>
          <a:blip r:embed="rId2"/>
          <a:srcRect/>
          <a:stretch>
            <a:fillRect/>
          </a:stretch>
        </p:blipFill>
        <p:spPr bwMode="auto">
          <a:xfrm>
            <a:off x="357157" y="2175696"/>
            <a:ext cx="3714777" cy="2004508"/>
          </a:xfrm>
          <a:prstGeom prst="rect">
            <a:avLst/>
          </a:prstGeom>
          <a:noFill/>
          <a:ln w="9525">
            <a:noFill/>
            <a:miter lim="800000"/>
            <a:headEnd/>
            <a:tailEnd/>
          </a:ln>
          <a:effectLst/>
        </p:spPr>
      </p:pic>
      <p:sp>
        <p:nvSpPr>
          <p:cNvPr id="6" name="TextBox 5"/>
          <p:cNvSpPr txBox="1"/>
          <p:nvPr/>
        </p:nvSpPr>
        <p:spPr>
          <a:xfrm>
            <a:off x="500034" y="1889944"/>
            <a:ext cx="4214842" cy="276999"/>
          </a:xfrm>
          <a:prstGeom prst="rect">
            <a:avLst/>
          </a:prstGeom>
          <a:noFill/>
        </p:spPr>
        <p:txBody>
          <a:bodyPr wrap="square" rtlCol="0">
            <a:spAutoFit/>
          </a:bodyPr>
          <a:lstStyle/>
          <a:p>
            <a:r>
              <a:rPr lang="en-US" sz="1200" dirty="0" smtClean="0"/>
              <a:t>Totally we have 59 customers</a:t>
            </a:r>
            <a:endParaRPr lang="en-US" sz="1200" dirty="0"/>
          </a:p>
        </p:txBody>
      </p:sp>
      <p:pic>
        <p:nvPicPr>
          <p:cNvPr id="2052" name="Picture 4"/>
          <p:cNvPicPr>
            <a:picLocks noChangeAspect="1" noChangeArrowheads="1"/>
          </p:cNvPicPr>
          <p:nvPr/>
        </p:nvPicPr>
        <p:blipFill>
          <a:blip r:embed="rId3"/>
          <a:srcRect/>
          <a:stretch>
            <a:fillRect/>
          </a:stretch>
        </p:blipFill>
        <p:spPr bwMode="auto">
          <a:xfrm>
            <a:off x="4786314" y="2214554"/>
            <a:ext cx="2378881" cy="1858768"/>
          </a:xfrm>
          <a:prstGeom prst="rect">
            <a:avLst/>
          </a:prstGeom>
          <a:noFill/>
          <a:ln w="9525">
            <a:noFill/>
            <a:miter lim="800000"/>
            <a:headEnd/>
            <a:tailEnd/>
          </a:ln>
          <a:effectLst/>
        </p:spPr>
      </p:pic>
      <p:pic>
        <p:nvPicPr>
          <p:cNvPr id="2053" name="Picture 5"/>
          <p:cNvPicPr>
            <a:picLocks noChangeAspect="1" noChangeArrowheads="1"/>
          </p:cNvPicPr>
          <p:nvPr/>
        </p:nvPicPr>
        <p:blipFill>
          <a:blip r:embed="rId4"/>
          <a:srcRect/>
          <a:stretch>
            <a:fillRect/>
          </a:stretch>
        </p:blipFill>
        <p:spPr bwMode="auto">
          <a:xfrm>
            <a:off x="285720" y="4572008"/>
            <a:ext cx="2400300" cy="2047875"/>
          </a:xfrm>
          <a:prstGeom prst="rect">
            <a:avLst/>
          </a:prstGeom>
          <a:noFill/>
          <a:ln w="9525">
            <a:noFill/>
            <a:miter lim="800000"/>
            <a:headEnd/>
            <a:tailEnd/>
          </a:ln>
          <a:effectLst/>
        </p:spPr>
      </p:pic>
      <p:sp>
        <p:nvSpPr>
          <p:cNvPr id="9" name="TextBox 8"/>
          <p:cNvSpPr txBox="1"/>
          <p:nvPr/>
        </p:nvSpPr>
        <p:spPr>
          <a:xfrm>
            <a:off x="285720" y="4286256"/>
            <a:ext cx="4214842" cy="276999"/>
          </a:xfrm>
          <a:prstGeom prst="rect">
            <a:avLst/>
          </a:prstGeom>
          <a:noFill/>
        </p:spPr>
        <p:txBody>
          <a:bodyPr wrap="square" rtlCol="0">
            <a:spAutoFit/>
          </a:bodyPr>
          <a:lstStyle/>
          <a:p>
            <a:r>
              <a:rPr lang="en-US" sz="1200" dirty="0" smtClean="0"/>
              <a:t>Totally we have 494 songs where song length &gt; </a:t>
            </a:r>
            <a:r>
              <a:rPr lang="en-US" sz="1200" dirty="0" err="1" smtClean="0"/>
              <a:t>avg</a:t>
            </a:r>
            <a:r>
              <a:rPr lang="en-US" sz="1200" dirty="0" smtClean="0"/>
              <a:t> song length</a:t>
            </a:r>
            <a:endParaRPr lang="en-US" sz="1200" dirty="0"/>
          </a:p>
        </p:txBody>
      </p:sp>
      <p:pic>
        <p:nvPicPr>
          <p:cNvPr id="2054" name="Picture 6"/>
          <p:cNvPicPr>
            <a:picLocks noChangeAspect="1" noChangeArrowheads="1"/>
          </p:cNvPicPr>
          <p:nvPr/>
        </p:nvPicPr>
        <p:blipFill>
          <a:blip r:embed="rId5"/>
          <a:srcRect/>
          <a:stretch>
            <a:fillRect/>
          </a:stretch>
        </p:blipFill>
        <p:spPr bwMode="auto">
          <a:xfrm>
            <a:off x="4500562" y="4429132"/>
            <a:ext cx="3714776" cy="1958035"/>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2123658"/>
          </a:xfrm>
        </p:spPr>
        <p:txBody>
          <a:bodyPr>
            <a:spAutoFit/>
          </a:bodyPr>
          <a:lstStyle/>
          <a:p>
            <a:pPr marL="0" lvl="0" indent="0">
              <a:spcBef>
                <a:spcPts val="0"/>
              </a:spcBef>
              <a:buNone/>
            </a:pPr>
            <a:r>
              <a:rPr lang="en-US" sz="1200" dirty="0" smtClean="0"/>
              <a:t>-- Q10. We want to find out the most popular music Genre for each country. </a:t>
            </a:r>
          </a:p>
          <a:p>
            <a:pPr marL="0" lvl="0" indent="0">
              <a:spcBef>
                <a:spcPts val="0"/>
              </a:spcBef>
              <a:buNone/>
            </a:pPr>
            <a:r>
              <a:rPr lang="en-US" sz="1200" dirty="0" smtClean="0"/>
              <a:t>--      We determine the most popular genre as the genre with the highest amount of purchases. </a:t>
            </a:r>
          </a:p>
          <a:p>
            <a:pPr marL="0" lvl="0" indent="0">
              <a:spcBef>
                <a:spcPts val="0"/>
              </a:spcBef>
              <a:buNone/>
            </a:pPr>
            <a:r>
              <a:rPr lang="en-US" sz="1200" dirty="0" smtClean="0"/>
              <a:t>--      Write a query that returns each country along with the top Genre. For countries where the maximum number of purchases is shared (tie) return all Genres.</a:t>
            </a:r>
            <a:br>
              <a:rPr lang="en-US" sz="1200" dirty="0" smtClean="0"/>
            </a:br>
            <a:r>
              <a:rPr lang="en-US" sz="1200" dirty="0" smtClean="0"/>
              <a:t>-- Q11. 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br>
              <a:rPr lang="en-US" sz="1200" dirty="0" smtClean="0"/>
            </a:br>
            <a:r>
              <a:rPr lang="en-US" sz="1200" dirty="0" smtClean="0"/>
              <a:t>-- Q12. Who are the most popular artists?</a:t>
            </a:r>
            <a:br>
              <a:rPr lang="en-US" sz="1200" dirty="0" smtClean="0"/>
            </a:br>
            <a:r>
              <a:rPr lang="en-US" sz="1200" dirty="0" smtClean="0"/>
              <a:t>-- Q13. Which is the most popular song?</a:t>
            </a:r>
            <a:br>
              <a:rPr lang="en-US" sz="1200" dirty="0" smtClean="0"/>
            </a:br>
            <a:r>
              <a:rPr lang="en-US" sz="1200" dirty="0" smtClean="0"/>
              <a:t>-- Q14. What are the average prices of different types of music?</a:t>
            </a:r>
            <a:br>
              <a:rPr lang="en-US" sz="1200" dirty="0" smtClean="0"/>
            </a:br>
            <a:r>
              <a:rPr lang="en-US" sz="1200" dirty="0" smtClean="0"/>
              <a:t>-- Q15. What are the most popular countries for music purchases?</a:t>
            </a:r>
          </a:p>
        </p:txBody>
      </p:sp>
      <p:sp>
        <p:nvSpPr>
          <p:cNvPr id="9" name="TextBox 8"/>
          <p:cNvSpPr txBox="1"/>
          <p:nvPr/>
        </p:nvSpPr>
        <p:spPr>
          <a:xfrm>
            <a:off x="3222225" y="4357694"/>
            <a:ext cx="1364604" cy="276999"/>
          </a:xfrm>
          <a:prstGeom prst="rect">
            <a:avLst/>
          </a:prstGeom>
          <a:noFill/>
        </p:spPr>
        <p:txBody>
          <a:bodyPr wrap="none" rtlCol="0">
            <a:spAutoFit/>
          </a:bodyPr>
          <a:lstStyle/>
          <a:p>
            <a:r>
              <a:rPr lang="en-US" sz="1200" dirty="0" smtClean="0"/>
              <a:t>There are 25 Types</a:t>
            </a:r>
            <a:endParaRPr lang="en-US" sz="1200" dirty="0"/>
          </a:p>
        </p:txBody>
      </p:sp>
      <p:pic>
        <p:nvPicPr>
          <p:cNvPr id="3074" name="Picture 2"/>
          <p:cNvPicPr>
            <a:picLocks noChangeAspect="1" noChangeArrowheads="1"/>
          </p:cNvPicPr>
          <p:nvPr/>
        </p:nvPicPr>
        <p:blipFill>
          <a:blip r:embed="rId2"/>
          <a:srcRect/>
          <a:stretch>
            <a:fillRect/>
          </a:stretch>
        </p:blipFill>
        <p:spPr bwMode="auto">
          <a:xfrm>
            <a:off x="3214678" y="4610116"/>
            <a:ext cx="2152650" cy="2066925"/>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5857884" y="4500570"/>
            <a:ext cx="2057400" cy="2038350"/>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285720" y="4643446"/>
            <a:ext cx="1943100" cy="419100"/>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a:srcRect/>
          <a:stretch>
            <a:fillRect/>
          </a:stretch>
        </p:blipFill>
        <p:spPr bwMode="auto">
          <a:xfrm>
            <a:off x="6362729" y="2714620"/>
            <a:ext cx="2352675" cy="1114425"/>
          </a:xfrm>
          <a:prstGeom prst="rect">
            <a:avLst/>
          </a:prstGeom>
          <a:noFill/>
          <a:ln w="9525">
            <a:noFill/>
            <a:miter lim="800000"/>
            <a:headEnd/>
            <a:tailEnd/>
          </a:ln>
          <a:effectLst/>
        </p:spPr>
      </p:pic>
      <p:pic>
        <p:nvPicPr>
          <p:cNvPr id="3078" name="Picture 6"/>
          <p:cNvPicPr>
            <a:picLocks noChangeAspect="1" noChangeArrowheads="1"/>
          </p:cNvPicPr>
          <p:nvPr/>
        </p:nvPicPr>
        <p:blipFill>
          <a:blip r:embed="rId6"/>
          <a:srcRect/>
          <a:stretch>
            <a:fillRect/>
          </a:stretch>
        </p:blipFill>
        <p:spPr bwMode="auto">
          <a:xfrm>
            <a:off x="3376615" y="2390775"/>
            <a:ext cx="2909897" cy="1945882"/>
          </a:xfrm>
          <a:prstGeom prst="rect">
            <a:avLst/>
          </a:prstGeom>
          <a:noFill/>
          <a:ln w="9525">
            <a:noFill/>
            <a:miter lim="800000"/>
            <a:headEnd/>
            <a:tailEnd/>
          </a:ln>
          <a:effectLst/>
        </p:spPr>
      </p:pic>
      <p:pic>
        <p:nvPicPr>
          <p:cNvPr id="3079" name="Picture 7"/>
          <p:cNvPicPr>
            <a:picLocks noChangeAspect="1" noChangeArrowheads="1"/>
          </p:cNvPicPr>
          <p:nvPr/>
        </p:nvPicPr>
        <p:blipFill>
          <a:blip r:embed="rId7"/>
          <a:srcRect/>
          <a:stretch>
            <a:fillRect/>
          </a:stretch>
        </p:blipFill>
        <p:spPr bwMode="auto">
          <a:xfrm>
            <a:off x="180966" y="2381257"/>
            <a:ext cx="3105150" cy="204787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Conclusion</a:t>
            </a:r>
            <a:endParaRPr lang="en-US" dirty="0"/>
          </a:p>
        </p:txBody>
      </p:sp>
      <p:sp>
        <p:nvSpPr>
          <p:cNvPr id="3" name="Content Placeholder 2"/>
          <p:cNvSpPr>
            <a:spLocks noGrp="1"/>
          </p:cNvSpPr>
          <p:nvPr>
            <p:ph idx="1"/>
          </p:nvPr>
        </p:nvSpPr>
        <p:spPr/>
        <p:txBody>
          <a:bodyPr>
            <a:noAutofit/>
          </a:bodyPr>
          <a:lstStyle/>
          <a:p>
            <a:pPr>
              <a:buNone/>
            </a:pPr>
            <a:r>
              <a:rPr lang="en-US" sz="1400" b="1" dirty="0" smtClean="0"/>
              <a:t>Overall Insights</a:t>
            </a:r>
          </a:p>
          <a:p>
            <a:pPr>
              <a:buNone/>
            </a:pPr>
            <a:endParaRPr lang="en-US" sz="1400" b="1" dirty="0" smtClean="0"/>
          </a:p>
          <a:p>
            <a:r>
              <a:rPr lang="en-US" sz="1400" dirty="0" smtClean="0"/>
              <a:t>Most </a:t>
            </a:r>
            <a:r>
              <a:rPr lang="en-US" sz="1400" dirty="0" smtClean="0"/>
              <a:t>of the revenue comes from a few key countries, showing strong performance in specific markets.</a:t>
            </a:r>
          </a:p>
          <a:p>
            <a:r>
              <a:rPr lang="en-US" sz="1400" dirty="0" smtClean="0"/>
              <a:t>A small group of customers contributes a large portion of total sales.</a:t>
            </a:r>
          </a:p>
          <a:p>
            <a:r>
              <a:rPr lang="en-US" sz="1400" dirty="0" smtClean="0"/>
              <a:t>Certain artists generate significantly higher revenue compared to others.</a:t>
            </a:r>
          </a:p>
          <a:p>
            <a:r>
              <a:rPr lang="en-US" sz="1400" dirty="0" smtClean="0"/>
              <a:t>Popular genres account for the majority of track purchases.</a:t>
            </a:r>
          </a:p>
          <a:p>
            <a:r>
              <a:rPr lang="en-US" sz="1400" dirty="0" smtClean="0"/>
              <a:t>Sales remain </a:t>
            </a:r>
            <a:r>
              <a:rPr lang="en-US" sz="1400" dirty="0" smtClean="0"/>
              <a:t>steady </a:t>
            </a:r>
            <a:r>
              <a:rPr lang="en-US" sz="1400" dirty="0" smtClean="0"/>
              <a:t>overall, with some noticeable peak periods during the year</a:t>
            </a:r>
            <a:r>
              <a:rPr lang="en-US" sz="1400" dirty="0" smtClean="0"/>
              <a:t>.</a:t>
            </a:r>
          </a:p>
          <a:p>
            <a:pPr>
              <a:buNone/>
            </a:pPr>
            <a:endParaRPr lang="en-US" sz="1400" b="1" dirty="0" smtClean="0"/>
          </a:p>
          <a:p>
            <a:pPr>
              <a:buNone/>
            </a:pPr>
            <a:r>
              <a:rPr lang="en-US" sz="1400" b="1" dirty="0" smtClean="0"/>
              <a:t>Business improvement</a:t>
            </a:r>
            <a:endParaRPr lang="en-US" sz="1400" b="1" dirty="0" smtClean="0"/>
          </a:p>
          <a:p>
            <a:r>
              <a:rPr lang="en-US" sz="1400" b="1" dirty="0" smtClean="0"/>
              <a:t>Reward loyal customers</a:t>
            </a:r>
            <a:r>
              <a:rPr lang="en-US" sz="1400" dirty="0" smtClean="0"/>
              <a:t> with discounts, loyalty programs, or exclusive offers to increase repeat purchases.</a:t>
            </a:r>
          </a:p>
          <a:p>
            <a:r>
              <a:rPr lang="en-US" sz="1400" b="1" dirty="0" smtClean="0"/>
              <a:t>Promote top-performing artists and genres</a:t>
            </a:r>
            <a:r>
              <a:rPr lang="en-US" sz="1400" dirty="0" smtClean="0"/>
              <a:t> through featured playlists, homepage highlights, and targeted marketing campaigns.</a:t>
            </a:r>
          </a:p>
          <a:p>
            <a:r>
              <a:rPr lang="en-US" sz="1400" b="1" dirty="0" smtClean="0"/>
              <a:t>Expand marketing in high-potential countries</a:t>
            </a:r>
            <a:r>
              <a:rPr lang="en-US" sz="1400" dirty="0" smtClean="0"/>
              <a:t> to grow sales in underperforming regions.</a:t>
            </a:r>
          </a:p>
          <a:p>
            <a:r>
              <a:rPr lang="en-US" sz="1400" b="1" dirty="0" smtClean="0"/>
              <a:t>Introduce seasonal promotions</a:t>
            </a:r>
            <a:r>
              <a:rPr lang="en-US" sz="1400" dirty="0" smtClean="0"/>
              <a:t> during peak buying periods to maximize revenue.</a:t>
            </a:r>
          </a:p>
          <a:p>
            <a:r>
              <a:rPr lang="en-US" sz="1400" b="1" dirty="0" smtClean="0"/>
              <a:t>Use personalized recommendations</a:t>
            </a:r>
            <a:r>
              <a:rPr lang="en-US" sz="1400" dirty="0" smtClean="0"/>
              <a:t> based on customer purchase history to encourage upselling and cross-selling</a:t>
            </a:r>
            <a:r>
              <a:rPr lang="en-US" sz="1400" dirty="0" smtClean="0"/>
              <a:t>.</a:t>
            </a:r>
            <a:endParaRPr lang="en-US" sz="1400" dirty="0"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3093</TotalTime>
  <Words>1039</Words>
  <Application>Microsoft Office PowerPoint</Application>
  <PresentationFormat>On-screen Show (4:3)</PresentationFormat>
  <Paragraphs>84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Itunes Apple Music Store Analysis</vt:lpstr>
      <vt:lpstr>Problem Statement</vt:lpstr>
      <vt:lpstr>Slide 3</vt:lpstr>
      <vt:lpstr>1. Customer Analytics</vt:lpstr>
      <vt:lpstr>2. Sales &amp; Revenue Analysis</vt:lpstr>
      <vt:lpstr>3. Product &amp; Content Analysis</vt:lpstr>
      <vt:lpstr>4. Artist &amp; Genre Performance</vt:lpstr>
      <vt:lpstr>5. Employee &amp; Operational Efficiency</vt:lpstr>
      <vt:lpstr>6. Geographic Trends</vt:lpstr>
      <vt:lpstr>7. Customer Retention &amp; Purchase Patterns</vt:lpstr>
      <vt:lpstr>8. Operational Optimization</vt:lpstr>
      <vt:lpstr>Slide 12</vt:lpstr>
      <vt:lpstr>Slide 13</vt:lpstr>
      <vt:lpstr>Slide 14</vt:lpstr>
      <vt:lpstr>Final 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HI</dc:creator>
  <cp:lastModifiedBy>HI</cp:lastModifiedBy>
  <cp:revision>49</cp:revision>
  <dcterms:created xsi:type="dcterms:W3CDTF">2026-02-17T15:56:10Z</dcterms:created>
  <dcterms:modified xsi:type="dcterms:W3CDTF">2026-02-23T15:42:14Z</dcterms:modified>
</cp:coreProperties>
</file>