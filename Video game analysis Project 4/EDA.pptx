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9" r:id="rId3"/>
    <p:sldId id="258" r:id="rId4"/>
    <p:sldId id="281" r:id="rId5"/>
    <p:sldId id="269" r:id="rId6"/>
    <p:sldId id="282" r:id="rId7"/>
    <p:sldId id="270" r:id="rId8"/>
    <p:sldId id="271" r:id="rId9"/>
    <p:sldId id="272" r:id="rId10"/>
    <p:sldId id="274" r:id="rId11"/>
    <p:sldId id="283" r:id="rId12"/>
    <p:sldId id="273" r:id="rId13"/>
    <p:sldId id="284" r:id="rId14"/>
    <p:sldId id="280" r:id="rId15"/>
    <p:sldId id="275" r:id="rId16"/>
    <p:sldId id="286" r:id="rId17"/>
    <p:sldId id="276" r:id="rId18"/>
    <p:sldId id="287" r:id="rId19"/>
    <p:sldId id="277" r:id="rId20"/>
    <p:sldId id="278" r:id="rId21"/>
    <p:sldId id="288" r:id="rId2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p:scale>
          <a:sx n="87" d="100"/>
          <a:sy n="87" d="100"/>
        </p:scale>
        <p:origin x="-792" y="414"/>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A3A29DF5-8E3B-4964-9B01-24C9CCD87C01}" type="datetimeFigureOut">
              <a:rPr lang="en-US" smtClean="0"/>
              <a:pPr/>
              <a:t>2/15/2026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8F85A34-5EAB-41C4-9FDA-053E1C403248}"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3A29DF5-8E3B-4964-9B01-24C9CCD87C01}" type="datetimeFigureOut">
              <a:rPr lang="en-US" smtClean="0"/>
              <a:pPr/>
              <a:t>2/15/2026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8F85A34-5EAB-41C4-9FDA-053E1C403248}"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3A29DF5-8E3B-4964-9B01-24C9CCD87C01}" type="datetimeFigureOut">
              <a:rPr lang="en-US" smtClean="0"/>
              <a:pPr/>
              <a:t>2/15/2026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8F85A34-5EAB-41C4-9FDA-053E1C403248}"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A3A29DF5-8E3B-4964-9B01-24C9CCD87C01}" type="datetimeFigureOut">
              <a:rPr lang="en-US" smtClean="0"/>
              <a:pPr/>
              <a:t>2/15/2026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8F85A34-5EAB-41C4-9FDA-053E1C403248}"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A3A29DF5-8E3B-4964-9B01-24C9CCD87C01}" type="datetimeFigureOut">
              <a:rPr lang="en-US" smtClean="0"/>
              <a:pPr/>
              <a:t>2/15/2026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78F85A34-5EAB-41C4-9FDA-053E1C403248}"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A3A29DF5-8E3B-4964-9B01-24C9CCD87C01}" type="datetimeFigureOut">
              <a:rPr lang="en-US" smtClean="0"/>
              <a:pPr/>
              <a:t>2/15/2026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78F85A34-5EAB-41C4-9FDA-053E1C403248}"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3A29DF5-8E3B-4964-9B01-24C9CCD87C01}" type="datetimeFigureOut">
              <a:rPr lang="en-US" smtClean="0"/>
              <a:pPr/>
              <a:t>2/15/2026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78F85A34-5EAB-41C4-9FDA-053E1C403248}"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3A29DF5-8E3B-4964-9B01-24C9CCD87C01}" type="datetimeFigureOut">
              <a:rPr lang="en-US" smtClean="0"/>
              <a:pPr/>
              <a:t>2/15/2026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8F85A34-5EAB-41C4-9FDA-053E1C403248}"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3A29DF5-8E3B-4964-9B01-24C9CCD87C01}" type="datetimeFigureOut">
              <a:rPr lang="en-US" smtClean="0"/>
              <a:pPr/>
              <a:t>2/15/2026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8F85A34-5EAB-41C4-9FDA-053E1C403248}"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3A29DF5-8E3B-4964-9B01-24C9CCD87C01}" type="datetimeFigureOut">
              <a:rPr lang="en-US" smtClean="0"/>
              <a:pPr/>
              <a:t>2/15/2026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8F85A34-5EAB-41C4-9FDA-053E1C403248}"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3A29DF5-8E3B-4964-9B01-24C9CCD87C01}" type="datetimeFigureOut">
              <a:rPr lang="en-US" smtClean="0"/>
              <a:pPr/>
              <a:t>2/15/2026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8F85A34-5EAB-41C4-9FDA-053E1C403248}"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3A29DF5-8E3B-4964-9B01-24C9CCD87C01}" type="datetimeFigureOut">
              <a:rPr lang="en-US" smtClean="0"/>
              <a:pPr/>
              <a:t>2/15/2026</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8F85A34-5EAB-41C4-9FDA-053E1C403248}"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5.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5.xml"/><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5.xml"/><Relationship Id="rId5" Type="http://schemas.openxmlformats.org/officeDocument/2006/relationships/image" Target="../media/image20.png"/><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Data Cleaning</a:t>
            </a:r>
            <a:endParaRPr lang="en-US" dirty="0"/>
          </a:p>
        </p:txBody>
      </p:sp>
      <p:sp>
        <p:nvSpPr>
          <p:cNvPr id="5" name="Content Placeholder 4"/>
          <p:cNvSpPr>
            <a:spLocks noGrp="1"/>
          </p:cNvSpPr>
          <p:nvPr>
            <p:ph idx="1"/>
          </p:nvPr>
        </p:nvSpPr>
        <p:spPr/>
        <p:txBody>
          <a:bodyPr>
            <a:normAutofit fontScale="62500" lnSpcReduction="20000"/>
          </a:bodyPr>
          <a:lstStyle/>
          <a:p>
            <a:pPr>
              <a:buNone/>
            </a:pPr>
            <a:r>
              <a:rPr lang="en-US" sz="1800" b="1" dirty="0" smtClean="0"/>
              <a:t>2 Datasets Shape:</a:t>
            </a:r>
          </a:p>
          <a:p>
            <a:r>
              <a:rPr lang="en-US" sz="1800" dirty="0" smtClean="0"/>
              <a:t>df1 = Games.csv – 1512 rows and 13 columns</a:t>
            </a:r>
          </a:p>
          <a:p>
            <a:r>
              <a:rPr lang="en-US" sz="1800" dirty="0" smtClean="0"/>
              <a:t>df2 = Vgsales.csv – 16598 rows and 10 columns</a:t>
            </a:r>
          </a:p>
          <a:p>
            <a:pPr>
              <a:buNone/>
            </a:pPr>
            <a:r>
              <a:rPr lang="en-US" sz="1800" b="1" dirty="0" smtClean="0"/>
              <a:t>Duplicates</a:t>
            </a:r>
          </a:p>
          <a:p>
            <a:r>
              <a:rPr lang="en-US" sz="1800" dirty="0" smtClean="0"/>
              <a:t>In df1 we have 382 duplicates</a:t>
            </a:r>
          </a:p>
          <a:p>
            <a:r>
              <a:rPr lang="en-US" sz="1800" dirty="0" smtClean="0"/>
              <a:t>In df2 we have 1 duplicate</a:t>
            </a:r>
          </a:p>
          <a:p>
            <a:pPr>
              <a:buNone/>
            </a:pPr>
            <a:r>
              <a:rPr lang="en-US" sz="1800" b="1" dirty="0" smtClean="0"/>
              <a:t>Null values</a:t>
            </a:r>
            <a:r>
              <a:rPr lang="en-US" sz="1800" dirty="0" smtClean="0"/>
              <a:t>:</a:t>
            </a:r>
          </a:p>
          <a:p>
            <a:pPr>
              <a:buNone/>
            </a:pPr>
            <a:endParaRPr lang="en-US" sz="1800" dirty="0" smtClean="0"/>
          </a:p>
          <a:p>
            <a:pPr>
              <a:buNone/>
            </a:pPr>
            <a:endParaRPr lang="en-US" sz="1800" dirty="0" smtClean="0"/>
          </a:p>
          <a:p>
            <a:pPr>
              <a:buNone/>
            </a:pPr>
            <a:endParaRPr lang="en-US" sz="1800" dirty="0" smtClean="0"/>
          </a:p>
          <a:p>
            <a:pPr>
              <a:buNone/>
            </a:pPr>
            <a:endParaRPr lang="en-US" sz="1800" dirty="0" smtClean="0"/>
          </a:p>
          <a:p>
            <a:pPr>
              <a:buNone/>
            </a:pPr>
            <a:endParaRPr lang="en-US" sz="1800" dirty="0" smtClean="0"/>
          </a:p>
          <a:p>
            <a:pPr>
              <a:buNone/>
            </a:pPr>
            <a:endParaRPr lang="en-US" sz="1800" dirty="0" smtClean="0"/>
          </a:p>
          <a:p>
            <a:pPr>
              <a:buNone/>
            </a:pPr>
            <a:endParaRPr lang="en-US" sz="1800" dirty="0" smtClean="0"/>
          </a:p>
          <a:p>
            <a:pPr>
              <a:buNone/>
            </a:pPr>
            <a:endParaRPr lang="en-US" sz="1800" dirty="0" smtClean="0"/>
          </a:p>
          <a:p>
            <a:pPr>
              <a:buNone/>
            </a:pPr>
            <a:endParaRPr lang="en-US" sz="1800" dirty="0" smtClean="0"/>
          </a:p>
          <a:p>
            <a:pPr>
              <a:buNone/>
            </a:pPr>
            <a:endParaRPr lang="en-US" sz="1800" dirty="0" smtClean="0"/>
          </a:p>
          <a:p>
            <a:pPr>
              <a:buNone/>
            </a:pPr>
            <a:endParaRPr lang="en-US" sz="1800" dirty="0" smtClean="0"/>
          </a:p>
          <a:p>
            <a:pPr>
              <a:buNone/>
            </a:pPr>
            <a:endParaRPr lang="en-US" sz="1800" dirty="0" smtClean="0"/>
          </a:p>
          <a:p>
            <a:pPr>
              <a:buNone/>
            </a:pPr>
            <a:endParaRPr lang="en-US" sz="1800" dirty="0" smtClean="0"/>
          </a:p>
          <a:p>
            <a:pPr>
              <a:buNone/>
            </a:pPr>
            <a:endParaRPr lang="en-US" sz="1800" dirty="0" smtClean="0"/>
          </a:p>
          <a:p>
            <a:pPr>
              <a:buNone/>
            </a:pPr>
            <a:endParaRPr lang="en-US" sz="1800" dirty="0" smtClean="0"/>
          </a:p>
          <a:p>
            <a:pPr>
              <a:buNone/>
            </a:pPr>
            <a:r>
              <a:rPr lang="en-US" sz="1800" b="1" dirty="0" smtClean="0"/>
              <a:t>Handled null values:</a:t>
            </a:r>
          </a:p>
          <a:p>
            <a:r>
              <a:rPr lang="en-US" sz="1800" dirty="0" smtClean="0"/>
              <a:t> </a:t>
            </a:r>
            <a:r>
              <a:rPr lang="en-US" sz="1800" dirty="0" smtClean="0"/>
              <a:t>Used </a:t>
            </a:r>
            <a:r>
              <a:rPr lang="en-US" sz="1800" b="1" dirty="0" smtClean="0"/>
              <a:t>median</a:t>
            </a:r>
            <a:r>
              <a:rPr lang="en-US" sz="1800" dirty="0" smtClean="0"/>
              <a:t> in </a:t>
            </a:r>
            <a:r>
              <a:rPr lang="en-US" sz="1800" b="1" dirty="0" smtClean="0"/>
              <a:t>Rating</a:t>
            </a:r>
            <a:r>
              <a:rPr lang="en-US" sz="1800" dirty="0" smtClean="0"/>
              <a:t> and </a:t>
            </a:r>
            <a:r>
              <a:rPr lang="en-US" sz="1800" b="1" dirty="0" smtClean="0"/>
              <a:t>Year</a:t>
            </a:r>
            <a:r>
              <a:rPr lang="en-US" sz="1800" dirty="0" smtClean="0"/>
              <a:t> and </a:t>
            </a:r>
          </a:p>
          <a:p>
            <a:r>
              <a:rPr lang="en-US" sz="1800" b="1" dirty="0" smtClean="0"/>
              <a:t>Unknown</a:t>
            </a:r>
            <a:r>
              <a:rPr lang="en-US" sz="1800" dirty="0" smtClean="0"/>
              <a:t> for Publisher</a:t>
            </a:r>
          </a:p>
          <a:p>
            <a:r>
              <a:rPr lang="en-US" sz="1800" b="1" dirty="0" smtClean="0"/>
              <a:t>Team</a:t>
            </a:r>
            <a:r>
              <a:rPr lang="en-US" sz="1800" dirty="0" smtClean="0"/>
              <a:t> Goggled and replaced the null value</a:t>
            </a:r>
          </a:p>
          <a:p>
            <a:pPr>
              <a:buNone/>
            </a:pPr>
            <a:endParaRPr lang="en-US" sz="1800" dirty="0" smtClean="0"/>
          </a:p>
        </p:txBody>
      </p:sp>
      <p:pic>
        <p:nvPicPr>
          <p:cNvPr id="1027" name="Picture 3"/>
          <p:cNvPicPr>
            <a:picLocks noChangeAspect="1" noChangeArrowheads="1"/>
          </p:cNvPicPr>
          <p:nvPr/>
        </p:nvPicPr>
        <p:blipFill>
          <a:blip r:embed="rId2"/>
          <a:srcRect/>
          <a:stretch>
            <a:fillRect/>
          </a:stretch>
        </p:blipFill>
        <p:spPr bwMode="auto">
          <a:xfrm>
            <a:off x="714348" y="2928934"/>
            <a:ext cx="1544073" cy="2143140"/>
          </a:xfrm>
          <a:prstGeom prst="rect">
            <a:avLst/>
          </a:prstGeom>
          <a:noFill/>
          <a:ln w="9525">
            <a:noFill/>
            <a:miter lim="800000"/>
            <a:headEnd/>
            <a:tailEnd/>
          </a:ln>
          <a:effectLst/>
        </p:spPr>
      </p:pic>
      <p:pic>
        <p:nvPicPr>
          <p:cNvPr id="1028" name="Picture 4"/>
          <p:cNvPicPr>
            <a:picLocks noChangeAspect="1" noChangeArrowheads="1"/>
          </p:cNvPicPr>
          <p:nvPr/>
        </p:nvPicPr>
        <p:blipFill>
          <a:blip r:embed="rId3"/>
          <a:srcRect/>
          <a:stretch>
            <a:fillRect/>
          </a:stretch>
        </p:blipFill>
        <p:spPr bwMode="auto">
          <a:xfrm>
            <a:off x="2857488" y="2928934"/>
            <a:ext cx="1336035" cy="1643074"/>
          </a:xfrm>
          <a:prstGeom prst="rect">
            <a:avLst/>
          </a:prstGeom>
          <a:noFill/>
          <a:ln w="9525">
            <a:noFill/>
            <a:miter lim="800000"/>
            <a:headEnd/>
            <a:tailEnd/>
          </a:ln>
          <a:effectLst/>
        </p:spPr>
      </p:pic>
      <p:cxnSp>
        <p:nvCxnSpPr>
          <p:cNvPr id="7" name="Straight Connector 6"/>
          <p:cNvCxnSpPr/>
          <p:nvPr/>
        </p:nvCxnSpPr>
        <p:spPr>
          <a:xfrm rot="5400000">
            <a:off x="1781163" y="3923517"/>
            <a:ext cx="5011758" cy="1588"/>
          </a:xfrm>
          <a:prstGeom prst="line">
            <a:avLst/>
          </a:prstGeom>
        </p:spPr>
        <p:style>
          <a:lnRef idx="1">
            <a:schemeClr val="accent1"/>
          </a:lnRef>
          <a:fillRef idx="0">
            <a:schemeClr val="accent1"/>
          </a:fillRef>
          <a:effectRef idx="0">
            <a:schemeClr val="accent1"/>
          </a:effectRef>
          <a:fontRef idx="minor">
            <a:schemeClr val="tx1"/>
          </a:fontRef>
        </p:style>
      </p:cxnSp>
      <p:sp>
        <p:nvSpPr>
          <p:cNvPr id="8" name="Content Placeholder 2"/>
          <p:cNvSpPr txBox="1">
            <a:spLocks/>
          </p:cNvSpPr>
          <p:nvPr/>
        </p:nvSpPr>
        <p:spPr>
          <a:xfrm>
            <a:off x="4572000" y="1600200"/>
            <a:ext cx="4114800" cy="4525963"/>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1100" b="0" i="0" u="none" strike="noStrike" kern="1200" cap="none" spc="0" normalizeH="0" baseline="0" noProof="0" dirty="0" smtClean="0">
                <a:ln>
                  <a:noFill/>
                </a:ln>
                <a:solidFill>
                  <a:schemeClr val="tx1"/>
                </a:solidFill>
                <a:effectLst/>
                <a:uLnTx/>
                <a:uFillTx/>
                <a:latin typeface="+mn-lt"/>
                <a:ea typeface="+mn-ea"/>
                <a:cs typeface="+mn-cs"/>
              </a:rPr>
              <a:t>Data types:</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11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11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11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11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11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11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11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11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11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tabLst/>
              <a:defRPr/>
            </a:pPr>
            <a:endParaRPr kumimoji="0" lang="en-US" sz="11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1100" b="0" i="0" u="none" strike="noStrike" kern="1200" cap="none" spc="0" normalizeH="0" baseline="0" noProof="0" dirty="0" smtClean="0">
                <a:ln>
                  <a:noFill/>
                </a:ln>
                <a:solidFill>
                  <a:schemeClr val="tx1"/>
                </a:solidFill>
                <a:effectLst/>
                <a:uLnTx/>
                <a:uFillTx/>
                <a:ea typeface="+mn-ea"/>
                <a:cs typeface="+mn-cs"/>
              </a:rPr>
              <a:t>Data type is object for most of the columns in df1 as </a:t>
            </a:r>
            <a:r>
              <a:rPr kumimoji="0" lang="en-US" sz="1100" b="1" i="0" u="none" strike="noStrike" kern="1200" cap="none" spc="0" normalizeH="0" baseline="0" noProof="0" dirty="0" smtClean="0">
                <a:ln>
                  <a:noFill/>
                </a:ln>
                <a:solidFill>
                  <a:schemeClr val="tx1"/>
                </a:solidFill>
                <a:effectLst/>
                <a:uLnTx/>
                <a:uFillTx/>
                <a:ea typeface="+mn-ea"/>
                <a:cs typeface="+mn-cs"/>
              </a:rPr>
              <a:t>K</a:t>
            </a:r>
            <a:r>
              <a:rPr kumimoji="0" lang="en-US" sz="1100" b="0" i="0" u="none" strike="noStrike" kern="1200" cap="none" spc="0" normalizeH="0" baseline="0" noProof="0" dirty="0" smtClean="0">
                <a:ln>
                  <a:noFill/>
                </a:ln>
                <a:solidFill>
                  <a:schemeClr val="tx1"/>
                </a:solidFill>
                <a:effectLst/>
                <a:uLnTx/>
                <a:uFillTx/>
                <a:ea typeface="+mn-ea"/>
                <a:cs typeface="+mn-cs"/>
              </a:rPr>
              <a:t> is determined as alphabet the columns are treated as object so changed k to 1000 by replacing ‘k’ with 'e+03‘</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1100" b="0" i="0" u="none" strike="noStrike" kern="1200" cap="none" spc="0" normalizeH="0" baseline="0" noProof="0" dirty="0" smtClean="0">
                <a:ln>
                  <a:noFill/>
                </a:ln>
                <a:solidFill>
                  <a:schemeClr val="tx1"/>
                </a:solidFill>
                <a:effectLst/>
                <a:uLnTx/>
                <a:uFillTx/>
                <a:ea typeface="+mn-ea"/>
                <a:cs typeface="+mn-cs"/>
              </a:rPr>
              <a:t>Changed data type of </a:t>
            </a:r>
            <a:r>
              <a:rPr kumimoji="0" lang="en-US" sz="1100" b="1" i="0" u="none" strike="noStrike" kern="1200" cap="none" spc="0" normalizeH="0" baseline="0" noProof="0" dirty="0" smtClean="0">
                <a:ln>
                  <a:noFill/>
                </a:ln>
                <a:solidFill>
                  <a:schemeClr val="tx1"/>
                </a:solidFill>
                <a:effectLst/>
                <a:uLnTx/>
                <a:uFillTx/>
                <a:ea typeface="+mn-ea"/>
                <a:cs typeface="+mn-cs"/>
              </a:rPr>
              <a:t>Times Listed, Number of Reviews, Plays, Playing, Backlogs and Wishlist</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1100" b="0" i="0" u="none" strike="noStrike" kern="1200" cap="none" spc="0" normalizeH="0" baseline="0" noProof="0" dirty="0" smtClean="0">
                <a:ln>
                  <a:noFill/>
                </a:ln>
                <a:solidFill>
                  <a:schemeClr val="tx1"/>
                </a:solidFill>
                <a:effectLst/>
                <a:uLnTx/>
                <a:uFillTx/>
                <a:ea typeface="+mn-ea"/>
                <a:cs typeface="+mn-cs"/>
              </a:rPr>
              <a:t>After changing </a:t>
            </a:r>
            <a:r>
              <a:rPr kumimoji="0" lang="en-US" sz="1100" b="1" i="0" u="none" strike="noStrike" kern="1200" cap="none" spc="0" normalizeH="0" baseline="0" noProof="0" dirty="0" smtClean="0">
                <a:ln>
                  <a:noFill/>
                </a:ln>
                <a:solidFill>
                  <a:schemeClr val="tx1"/>
                </a:solidFill>
                <a:effectLst/>
                <a:uLnTx/>
                <a:uFillTx/>
                <a:ea typeface="+mn-ea"/>
                <a:cs typeface="+mn-cs"/>
              </a:rPr>
              <a:t>Release Date </a:t>
            </a:r>
            <a:r>
              <a:rPr kumimoji="0" lang="en-US" sz="1100" b="0" i="0" u="none" strike="noStrike" kern="1200" cap="none" spc="0" normalizeH="0" baseline="0" noProof="0" dirty="0" smtClean="0">
                <a:ln>
                  <a:noFill/>
                </a:ln>
                <a:solidFill>
                  <a:schemeClr val="tx1"/>
                </a:solidFill>
                <a:effectLst/>
                <a:uLnTx/>
                <a:uFillTx/>
                <a:ea typeface="+mn-ea"/>
                <a:cs typeface="+mn-cs"/>
              </a:rPr>
              <a:t>to Datatime data type, 3 TBD values are found .As we have only 3 missing values in release dates, I googled the dates and enter them individually.</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1100" b="0" i="0" u="none" strike="noStrike" kern="1200" cap="none" spc="0" normalizeH="0" baseline="0" noProof="0" dirty="0" smtClean="0">
                <a:ln>
                  <a:noFill/>
                </a:ln>
                <a:solidFill>
                  <a:schemeClr val="tx1"/>
                </a:solidFill>
                <a:effectLst/>
                <a:uLnTx/>
                <a:uFillTx/>
                <a:ea typeface="+mn-ea"/>
                <a:cs typeface="+mn-cs"/>
              </a:rPr>
              <a:t>In df2 changed </a:t>
            </a:r>
            <a:r>
              <a:rPr kumimoji="0" lang="en-US" sz="1100" b="1" i="0" u="none" strike="noStrike" kern="1200" cap="none" spc="0" normalizeH="0" baseline="0" noProof="0" dirty="0" smtClean="0">
                <a:ln>
                  <a:noFill/>
                </a:ln>
                <a:solidFill>
                  <a:schemeClr val="tx1"/>
                </a:solidFill>
                <a:effectLst/>
                <a:uLnTx/>
                <a:uFillTx/>
                <a:ea typeface="+mn-ea"/>
                <a:cs typeface="+mn-cs"/>
              </a:rPr>
              <a:t>Year</a:t>
            </a:r>
            <a:r>
              <a:rPr kumimoji="0" lang="en-US" sz="1100" b="0" i="0" u="none" strike="noStrike" kern="1200" cap="none" spc="0" normalizeH="0" baseline="0" noProof="0" dirty="0" smtClean="0">
                <a:ln>
                  <a:noFill/>
                </a:ln>
                <a:solidFill>
                  <a:schemeClr val="tx1"/>
                </a:solidFill>
                <a:effectLst/>
                <a:uLnTx/>
                <a:uFillTx/>
                <a:ea typeface="+mn-ea"/>
                <a:cs typeface="+mn-cs"/>
              </a:rPr>
              <a:t> data type to integer</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1100" b="0" i="0" u="none" strike="noStrike" kern="1200" cap="none" spc="0" normalizeH="0" baseline="0" noProof="0" dirty="0" smtClean="0">
                <a:ln>
                  <a:noFill/>
                </a:ln>
                <a:solidFill>
                  <a:schemeClr val="tx1"/>
                </a:solidFill>
                <a:effectLst/>
                <a:uLnTx/>
                <a:uFillTx/>
                <a:ea typeface="+mn-ea"/>
                <a:cs typeface="+mn-cs"/>
              </a:rPr>
              <a:t>In df1  </a:t>
            </a:r>
            <a:r>
              <a:rPr kumimoji="0" lang="en-US" sz="1100" b="1" i="0" u="none" strike="noStrike" kern="1200" cap="none" spc="0" normalizeH="0" baseline="0" noProof="0" dirty="0" smtClean="0">
                <a:ln>
                  <a:noFill/>
                </a:ln>
                <a:solidFill>
                  <a:schemeClr val="tx1"/>
                </a:solidFill>
                <a:effectLst/>
                <a:uLnTx/>
                <a:uFillTx/>
                <a:ea typeface="+mn-ea"/>
                <a:cs typeface="+mn-cs"/>
              </a:rPr>
              <a:t>Team</a:t>
            </a:r>
            <a:r>
              <a:rPr kumimoji="0" lang="en-US" sz="1100" b="0" i="0" u="none" strike="noStrike" kern="1200" cap="none" spc="0" normalizeH="0" baseline="0" noProof="0" dirty="0" smtClean="0">
                <a:ln>
                  <a:noFill/>
                </a:ln>
                <a:solidFill>
                  <a:schemeClr val="tx1"/>
                </a:solidFill>
                <a:effectLst/>
                <a:uLnTx/>
                <a:uFillTx/>
                <a:ea typeface="+mn-ea"/>
                <a:cs typeface="+mn-cs"/>
              </a:rPr>
              <a:t> and </a:t>
            </a:r>
            <a:r>
              <a:rPr kumimoji="0" lang="en-US" sz="1100" b="1" i="0" u="none" strike="noStrike" kern="1200" cap="none" spc="0" normalizeH="0" baseline="0" noProof="0" dirty="0" smtClean="0">
                <a:ln>
                  <a:noFill/>
                </a:ln>
                <a:solidFill>
                  <a:schemeClr val="tx1"/>
                </a:solidFill>
                <a:effectLst/>
                <a:uLnTx/>
                <a:uFillTx/>
                <a:ea typeface="+mn-ea"/>
                <a:cs typeface="+mn-cs"/>
              </a:rPr>
              <a:t>Genres</a:t>
            </a:r>
            <a:r>
              <a:rPr kumimoji="0" lang="en-US" sz="1100" b="0" i="0" u="none" strike="noStrike" kern="1200" cap="none" spc="0" normalizeH="0" baseline="0" noProof="0" dirty="0" smtClean="0">
                <a:ln>
                  <a:noFill/>
                </a:ln>
                <a:solidFill>
                  <a:schemeClr val="tx1"/>
                </a:solidFill>
                <a:effectLst/>
                <a:uLnTx/>
                <a:uFillTx/>
                <a:ea typeface="+mn-ea"/>
                <a:cs typeface="+mn-cs"/>
              </a:rPr>
              <a:t> are give as list , so exploded both</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1100" b="0" i="0" u="none" strike="noStrike" kern="1200" cap="none" spc="0" normalizeH="0" baseline="0" noProof="0" dirty="0" smtClean="0">
              <a:ln>
                <a:noFill/>
              </a:ln>
              <a:solidFill>
                <a:schemeClr val="tx1"/>
              </a:solidFill>
              <a:effectLst/>
              <a:uLnTx/>
              <a:uFillTx/>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1100" b="0" i="0" u="none" strike="noStrike" kern="1200" cap="none" spc="0" normalizeH="0" baseline="0" noProof="0" dirty="0">
              <a:ln>
                <a:noFill/>
              </a:ln>
              <a:solidFill>
                <a:schemeClr val="tx1"/>
              </a:solidFill>
              <a:effectLst/>
              <a:uLnTx/>
              <a:uFillTx/>
              <a:ea typeface="+mn-ea"/>
              <a:cs typeface="+mn-cs"/>
            </a:endParaRPr>
          </a:p>
        </p:txBody>
      </p:sp>
      <p:pic>
        <p:nvPicPr>
          <p:cNvPr id="2051" name="Picture 3"/>
          <p:cNvPicPr>
            <a:picLocks noChangeAspect="1" noChangeArrowheads="1"/>
          </p:cNvPicPr>
          <p:nvPr/>
        </p:nvPicPr>
        <p:blipFill>
          <a:blip r:embed="rId4"/>
          <a:srcRect/>
          <a:stretch>
            <a:fillRect/>
          </a:stretch>
        </p:blipFill>
        <p:spPr bwMode="auto">
          <a:xfrm>
            <a:off x="7000892" y="1928802"/>
            <a:ext cx="1857388" cy="1442440"/>
          </a:xfrm>
          <a:prstGeom prst="rect">
            <a:avLst/>
          </a:prstGeom>
          <a:noFill/>
          <a:ln w="9525">
            <a:noFill/>
            <a:miter lim="800000"/>
            <a:headEnd/>
            <a:tailEnd/>
          </a:ln>
          <a:effectLst/>
        </p:spPr>
      </p:pic>
      <p:pic>
        <p:nvPicPr>
          <p:cNvPr id="2052" name="Picture 4"/>
          <p:cNvPicPr>
            <a:picLocks noChangeAspect="1" noChangeArrowheads="1"/>
          </p:cNvPicPr>
          <p:nvPr/>
        </p:nvPicPr>
        <p:blipFill>
          <a:blip r:embed="rId5"/>
          <a:srcRect/>
          <a:stretch>
            <a:fillRect/>
          </a:stretch>
        </p:blipFill>
        <p:spPr bwMode="auto">
          <a:xfrm>
            <a:off x="4501548" y="1928802"/>
            <a:ext cx="2356468" cy="1757366"/>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 Cleaning - 1</a:t>
            </a:r>
            <a:endParaRPr lang="en-US" dirty="0"/>
          </a:p>
        </p:txBody>
      </p:sp>
      <p:sp>
        <p:nvSpPr>
          <p:cNvPr id="9" name="Content Placeholder 8"/>
          <p:cNvSpPr>
            <a:spLocks noGrp="1"/>
          </p:cNvSpPr>
          <p:nvPr>
            <p:ph idx="1"/>
          </p:nvPr>
        </p:nvSpPr>
        <p:spPr>
          <a:xfrm>
            <a:off x="3857620" y="1857364"/>
            <a:ext cx="4572032" cy="1840504"/>
          </a:xfrm>
        </p:spPr>
        <p:txBody>
          <a:bodyPr>
            <a:spAutoFit/>
          </a:bodyPr>
          <a:lstStyle/>
          <a:p>
            <a:pPr>
              <a:buNone/>
            </a:pPr>
            <a:r>
              <a:rPr lang="en-US" sz="800" b="1" dirty="0" smtClean="0"/>
              <a:t>Action  - Brawler, Arcade</a:t>
            </a:r>
          </a:p>
          <a:p>
            <a:pPr>
              <a:buNone/>
            </a:pPr>
            <a:r>
              <a:rPr lang="en-US" sz="800" b="1" dirty="0" smtClean="0"/>
              <a:t>Sports – Sport</a:t>
            </a:r>
          </a:p>
          <a:p>
            <a:pPr>
              <a:buNone/>
            </a:pPr>
            <a:r>
              <a:rPr lang="en-US" sz="800" b="1" dirty="0" smtClean="0"/>
              <a:t>Misc – Indie, Music, Quiz/Trivia, Pinball, Nan</a:t>
            </a:r>
          </a:p>
          <a:p>
            <a:pPr>
              <a:buNone/>
            </a:pPr>
            <a:r>
              <a:rPr lang="en-US" sz="800" b="1" dirty="0" smtClean="0"/>
              <a:t>Role-Playing – RPG</a:t>
            </a:r>
          </a:p>
          <a:p>
            <a:pPr>
              <a:buNone/>
            </a:pPr>
            <a:r>
              <a:rPr lang="en-US" sz="800" b="1" dirty="0" smtClean="0"/>
              <a:t>Shooter – Shooter</a:t>
            </a:r>
          </a:p>
          <a:p>
            <a:pPr>
              <a:buNone/>
            </a:pPr>
            <a:r>
              <a:rPr lang="en-US" sz="800" b="1" dirty="0" smtClean="0"/>
              <a:t>Adventure – Adventure, Visual Novel, Point-and-Click</a:t>
            </a:r>
          </a:p>
          <a:p>
            <a:pPr>
              <a:buNone/>
            </a:pPr>
            <a:r>
              <a:rPr lang="en-US" sz="800" b="1" dirty="0" smtClean="0"/>
              <a:t>Racing – Racing</a:t>
            </a:r>
          </a:p>
          <a:p>
            <a:pPr>
              <a:buNone/>
            </a:pPr>
            <a:r>
              <a:rPr lang="en-US" sz="800" b="1" dirty="0" smtClean="0"/>
              <a:t>Platform – Platform</a:t>
            </a:r>
          </a:p>
          <a:p>
            <a:pPr>
              <a:buNone/>
            </a:pPr>
            <a:r>
              <a:rPr lang="en-US" sz="800" b="1" dirty="0" smtClean="0"/>
              <a:t>Simulation – Simulator</a:t>
            </a:r>
          </a:p>
          <a:p>
            <a:pPr>
              <a:buNone/>
            </a:pPr>
            <a:r>
              <a:rPr lang="en-US" sz="800" b="1" dirty="0" smtClean="0"/>
              <a:t>Fighting – Fighting</a:t>
            </a:r>
          </a:p>
          <a:p>
            <a:pPr>
              <a:buNone/>
            </a:pPr>
            <a:r>
              <a:rPr lang="en-US" sz="800" b="1" dirty="0" smtClean="0"/>
              <a:t>Strategy – Turn Based Strategy, Strategy, Card &amp; Board Game, Tactical, MOBA, Real Time Strategy</a:t>
            </a:r>
          </a:p>
          <a:p>
            <a:pPr>
              <a:buNone/>
            </a:pPr>
            <a:r>
              <a:rPr lang="en-US" sz="800" b="1" dirty="0" smtClean="0"/>
              <a:t>Puzzle - Puzzle</a:t>
            </a:r>
          </a:p>
        </p:txBody>
      </p:sp>
      <p:grpSp>
        <p:nvGrpSpPr>
          <p:cNvPr id="16" name="Group 15"/>
          <p:cNvGrpSpPr/>
          <p:nvPr/>
        </p:nvGrpSpPr>
        <p:grpSpPr>
          <a:xfrm>
            <a:off x="642910" y="1641920"/>
            <a:ext cx="1529048" cy="3215840"/>
            <a:chOff x="642910" y="1641920"/>
            <a:chExt cx="1529048" cy="3215840"/>
          </a:xfrm>
        </p:grpSpPr>
        <p:pic>
          <p:nvPicPr>
            <p:cNvPr id="1027" name="Picture 3"/>
            <p:cNvPicPr>
              <a:picLocks noChangeAspect="1" noChangeArrowheads="1"/>
            </p:cNvPicPr>
            <p:nvPr/>
          </p:nvPicPr>
          <p:blipFill>
            <a:blip r:embed="rId2"/>
            <a:srcRect/>
            <a:stretch>
              <a:fillRect/>
            </a:stretch>
          </p:blipFill>
          <p:spPr bwMode="auto">
            <a:xfrm>
              <a:off x="642910" y="1857364"/>
              <a:ext cx="1529048" cy="3000396"/>
            </a:xfrm>
            <a:prstGeom prst="rect">
              <a:avLst/>
            </a:prstGeom>
            <a:noFill/>
            <a:ln w="9525">
              <a:noFill/>
              <a:miter lim="800000"/>
              <a:headEnd/>
              <a:tailEnd/>
            </a:ln>
            <a:effectLst/>
          </p:spPr>
        </p:pic>
        <p:sp>
          <p:nvSpPr>
            <p:cNvPr id="11" name="TextBox 10"/>
            <p:cNvSpPr txBox="1"/>
            <p:nvPr/>
          </p:nvSpPr>
          <p:spPr>
            <a:xfrm>
              <a:off x="642910" y="1641920"/>
              <a:ext cx="1357322" cy="215444"/>
            </a:xfrm>
            <a:prstGeom prst="rect">
              <a:avLst/>
            </a:prstGeom>
            <a:noFill/>
          </p:spPr>
          <p:txBody>
            <a:bodyPr wrap="square" rtlCol="0">
              <a:spAutoFit/>
            </a:bodyPr>
            <a:lstStyle/>
            <a:p>
              <a:r>
                <a:rPr lang="en-US" sz="800" b="1" dirty="0" smtClean="0"/>
                <a:t>df1</a:t>
              </a:r>
              <a:endParaRPr lang="en-US" sz="800" b="1" dirty="0"/>
            </a:p>
          </p:txBody>
        </p:sp>
      </p:grpSp>
      <p:grpSp>
        <p:nvGrpSpPr>
          <p:cNvPr id="17" name="Group 16"/>
          <p:cNvGrpSpPr/>
          <p:nvPr/>
        </p:nvGrpSpPr>
        <p:grpSpPr>
          <a:xfrm>
            <a:off x="2319813" y="1641920"/>
            <a:ext cx="1389953" cy="1929955"/>
            <a:chOff x="2214546" y="1641920"/>
            <a:chExt cx="1389953" cy="1929955"/>
          </a:xfrm>
        </p:grpSpPr>
        <p:pic>
          <p:nvPicPr>
            <p:cNvPr id="1026" name="Picture 2"/>
            <p:cNvPicPr>
              <a:picLocks noChangeAspect="1" noChangeArrowheads="1"/>
            </p:cNvPicPr>
            <p:nvPr/>
          </p:nvPicPr>
          <p:blipFill>
            <a:blip r:embed="rId3"/>
            <a:srcRect/>
            <a:stretch>
              <a:fillRect/>
            </a:stretch>
          </p:blipFill>
          <p:spPr bwMode="auto">
            <a:xfrm>
              <a:off x="2214546" y="1857364"/>
              <a:ext cx="1389953" cy="1714511"/>
            </a:xfrm>
            <a:prstGeom prst="rect">
              <a:avLst/>
            </a:prstGeom>
            <a:noFill/>
            <a:ln w="9525">
              <a:noFill/>
              <a:miter lim="800000"/>
              <a:headEnd/>
              <a:tailEnd/>
            </a:ln>
            <a:effectLst/>
          </p:spPr>
        </p:pic>
        <p:sp>
          <p:nvSpPr>
            <p:cNvPr id="12" name="TextBox 11"/>
            <p:cNvSpPr txBox="1"/>
            <p:nvPr/>
          </p:nvSpPr>
          <p:spPr>
            <a:xfrm>
              <a:off x="2214546" y="1641920"/>
              <a:ext cx="1357322" cy="215444"/>
            </a:xfrm>
            <a:prstGeom prst="rect">
              <a:avLst/>
            </a:prstGeom>
            <a:noFill/>
          </p:spPr>
          <p:txBody>
            <a:bodyPr wrap="square" rtlCol="0">
              <a:spAutoFit/>
            </a:bodyPr>
            <a:lstStyle/>
            <a:p>
              <a:r>
                <a:rPr lang="en-US" sz="800" b="1" dirty="0" smtClean="0"/>
                <a:t>df2</a:t>
              </a:r>
              <a:endParaRPr lang="en-US" sz="800" b="1" dirty="0"/>
            </a:p>
          </p:txBody>
        </p:sp>
      </p:grpSp>
      <p:sp>
        <p:nvSpPr>
          <p:cNvPr id="13" name="TextBox 12"/>
          <p:cNvSpPr txBox="1"/>
          <p:nvPr/>
        </p:nvSpPr>
        <p:spPr>
          <a:xfrm>
            <a:off x="3857620" y="1641920"/>
            <a:ext cx="1857388" cy="215444"/>
          </a:xfrm>
          <a:prstGeom prst="rect">
            <a:avLst/>
          </a:prstGeom>
          <a:noFill/>
        </p:spPr>
        <p:txBody>
          <a:bodyPr wrap="square" rtlCol="0">
            <a:spAutoFit/>
          </a:bodyPr>
          <a:lstStyle/>
          <a:p>
            <a:r>
              <a:rPr lang="en-US" sz="800" b="1" dirty="0" smtClean="0"/>
              <a:t>Generalized Genre</a:t>
            </a:r>
            <a:endParaRPr lang="en-US" sz="800" b="1" dirty="0"/>
          </a:p>
        </p:txBody>
      </p:sp>
      <p:sp>
        <p:nvSpPr>
          <p:cNvPr id="18" name="TextBox 17"/>
          <p:cNvSpPr txBox="1"/>
          <p:nvPr/>
        </p:nvSpPr>
        <p:spPr>
          <a:xfrm>
            <a:off x="642910" y="5072074"/>
            <a:ext cx="8001056" cy="938719"/>
          </a:xfrm>
          <a:prstGeom prst="rect">
            <a:avLst/>
          </a:prstGeom>
          <a:noFill/>
        </p:spPr>
        <p:txBody>
          <a:bodyPr wrap="square" rtlCol="0">
            <a:spAutoFit/>
          </a:bodyPr>
          <a:lstStyle/>
          <a:p>
            <a:r>
              <a:rPr lang="en-US" sz="1100" b="1" dirty="0" smtClean="0"/>
              <a:t>Genres: </a:t>
            </a:r>
            <a:r>
              <a:rPr lang="en-US" sz="1100" dirty="0" smtClean="0"/>
              <a:t> we have 12 in df2 , 23 in df1. So generalized df1 and changed genres to they respective Genre without loosing data</a:t>
            </a:r>
            <a:endParaRPr lang="en-US" sz="1100" b="1" dirty="0" smtClean="0"/>
          </a:p>
          <a:p>
            <a:r>
              <a:rPr lang="en-US" sz="1100" b="1" dirty="0" smtClean="0"/>
              <a:t>After cleaning </a:t>
            </a:r>
          </a:p>
          <a:p>
            <a:r>
              <a:rPr lang="en-US" sz="1100" dirty="0" smtClean="0"/>
              <a:t>In df1 – 4822 rows and 13 columns</a:t>
            </a:r>
          </a:p>
          <a:p>
            <a:r>
              <a:rPr lang="en-US" sz="1100" dirty="0" smtClean="0"/>
              <a:t>In df2 – 16597 rows and 10 columns</a:t>
            </a:r>
          </a:p>
          <a:p>
            <a:endParaRPr lang="en-US" sz="110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EDA – Games dataset</a:t>
            </a:r>
            <a:endParaRPr lang="en-US" dirty="0"/>
          </a:p>
        </p:txBody>
      </p:sp>
      <p:sp>
        <p:nvSpPr>
          <p:cNvPr id="7" name="Text Placeholder 6"/>
          <p:cNvSpPr>
            <a:spLocks noGrp="1"/>
          </p:cNvSpPr>
          <p:nvPr>
            <p:ph type="body" idx="1"/>
          </p:nvPr>
        </p:nvSpPr>
        <p:spPr>
          <a:xfrm>
            <a:off x="457200" y="1535113"/>
            <a:ext cx="4040188" cy="261610"/>
          </a:xfrm>
        </p:spPr>
        <p:txBody>
          <a:bodyPr>
            <a:spAutoFit/>
          </a:bodyPr>
          <a:lstStyle/>
          <a:p>
            <a:r>
              <a:rPr lang="en-US" sz="1100" dirty="0" smtClean="0"/>
              <a:t>1. What are the top-rated games by user reviews?</a:t>
            </a:r>
          </a:p>
        </p:txBody>
      </p:sp>
      <p:sp>
        <p:nvSpPr>
          <p:cNvPr id="8" name="Text Placeholder 7"/>
          <p:cNvSpPr>
            <a:spLocks noGrp="1"/>
          </p:cNvSpPr>
          <p:nvPr>
            <p:ph type="body" sz="quarter" idx="3"/>
          </p:nvPr>
        </p:nvSpPr>
        <p:spPr>
          <a:xfrm>
            <a:off x="4643438" y="1535113"/>
            <a:ext cx="4041775" cy="261610"/>
          </a:xfrm>
        </p:spPr>
        <p:txBody>
          <a:bodyPr>
            <a:spAutoFit/>
          </a:bodyPr>
          <a:lstStyle/>
          <a:p>
            <a:r>
              <a:rPr lang="en-US" sz="1100" dirty="0" smtClean="0"/>
              <a:t>2. Which developers (Teams) have the highest average ratings?</a:t>
            </a:r>
          </a:p>
        </p:txBody>
      </p:sp>
      <p:pic>
        <p:nvPicPr>
          <p:cNvPr id="1026" name="Picture 2"/>
          <p:cNvPicPr>
            <a:picLocks noChangeAspect="1" noChangeArrowheads="1"/>
          </p:cNvPicPr>
          <p:nvPr/>
        </p:nvPicPr>
        <p:blipFill>
          <a:blip r:embed="rId2"/>
          <a:srcRect/>
          <a:stretch>
            <a:fillRect/>
          </a:stretch>
        </p:blipFill>
        <p:spPr bwMode="auto">
          <a:xfrm>
            <a:off x="457200" y="1838328"/>
            <a:ext cx="3362325" cy="2000250"/>
          </a:xfrm>
          <a:prstGeom prst="rect">
            <a:avLst/>
          </a:prstGeom>
          <a:noFill/>
          <a:ln w="9525">
            <a:noFill/>
            <a:miter lim="800000"/>
            <a:headEnd/>
            <a:tailEnd/>
          </a:ln>
          <a:effectLst/>
        </p:spPr>
      </p:pic>
      <p:pic>
        <p:nvPicPr>
          <p:cNvPr id="1028" name="Picture 4"/>
          <p:cNvPicPr>
            <a:picLocks noChangeAspect="1" noChangeArrowheads="1"/>
          </p:cNvPicPr>
          <p:nvPr/>
        </p:nvPicPr>
        <p:blipFill>
          <a:blip r:embed="rId3"/>
          <a:srcRect/>
          <a:stretch>
            <a:fillRect/>
          </a:stretch>
        </p:blipFill>
        <p:spPr bwMode="auto">
          <a:xfrm>
            <a:off x="4786314" y="1838328"/>
            <a:ext cx="2962275" cy="2019300"/>
          </a:xfrm>
          <a:prstGeom prst="rect">
            <a:avLst/>
          </a:prstGeom>
          <a:noFill/>
          <a:ln w="9525">
            <a:noFill/>
            <a:miter lim="800000"/>
            <a:headEnd/>
            <a:tailEnd/>
          </a:ln>
          <a:effectLst/>
        </p:spPr>
      </p:pic>
      <p:sp>
        <p:nvSpPr>
          <p:cNvPr id="12" name="TextBox 11"/>
          <p:cNvSpPr txBox="1"/>
          <p:nvPr/>
        </p:nvSpPr>
        <p:spPr>
          <a:xfrm>
            <a:off x="428596" y="4071942"/>
            <a:ext cx="4143404" cy="1446550"/>
          </a:xfrm>
          <a:prstGeom prst="rect">
            <a:avLst/>
          </a:prstGeom>
          <a:noFill/>
        </p:spPr>
        <p:txBody>
          <a:bodyPr wrap="square" rtlCol="0">
            <a:spAutoFit/>
          </a:bodyPr>
          <a:lstStyle/>
          <a:p>
            <a:pPr marL="174625" indent="-174625">
              <a:buFont typeface="Arial" pitchFamily="34" charset="0"/>
              <a:buChar char="•"/>
            </a:pPr>
            <a:r>
              <a:rPr lang="en-US" sz="1100" dirty="0" smtClean="0"/>
              <a:t>High Player Volume</a:t>
            </a:r>
          </a:p>
          <a:p>
            <a:pPr marL="174625" indent="-174625">
              <a:buFont typeface="Arial" pitchFamily="34" charset="0"/>
              <a:buChar char="•"/>
            </a:pPr>
            <a:r>
              <a:rPr lang="en-US" sz="1100" dirty="0" smtClean="0"/>
              <a:t>Strong Visibility &amp; Marketing</a:t>
            </a:r>
          </a:p>
          <a:p>
            <a:pPr marL="174625" indent="-174625">
              <a:buFont typeface="Arial" pitchFamily="34" charset="0"/>
              <a:buChar char="•"/>
            </a:pPr>
            <a:r>
              <a:rPr lang="en-US" sz="1100" dirty="0" smtClean="0"/>
              <a:t>Longevity</a:t>
            </a:r>
          </a:p>
          <a:p>
            <a:pPr marL="174625" indent="-174625">
              <a:buFont typeface="Arial" pitchFamily="34" charset="0"/>
              <a:buChar char="•"/>
            </a:pPr>
            <a:r>
              <a:rPr lang="en-US" sz="1100" dirty="0" smtClean="0"/>
              <a:t>Platform Effects</a:t>
            </a:r>
          </a:p>
          <a:p>
            <a:pPr marL="174625" indent="-174625">
              <a:buFont typeface="Arial" pitchFamily="34" charset="0"/>
              <a:buChar char="•"/>
            </a:pPr>
            <a:r>
              <a:rPr lang="en-US" sz="1100" dirty="0" smtClean="0"/>
              <a:t>It Does </a:t>
            </a:r>
            <a:r>
              <a:rPr lang="en-US" sz="1100" i="1" dirty="0" smtClean="0"/>
              <a:t>Not</a:t>
            </a:r>
            <a:r>
              <a:rPr lang="en-US" sz="1100" dirty="0" smtClean="0"/>
              <a:t> Automatically Mean “Best” but Is very popular and Has high player engagement</a:t>
            </a:r>
          </a:p>
          <a:p>
            <a:pPr marL="174625" indent="-174625">
              <a:buFont typeface="Arial" pitchFamily="34" charset="0"/>
              <a:buChar char="•"/>
            </a:pPr>
            <a:r>
              <a:rPr lang="en-US" sz="1100" dirty="0" smtClean="0"/>
              <a:t>Highest number of reviews = strongest player reach and engagement.</a:t>
            </a:r>
          </a:p>
        </p:txBody>
      </p:sp>
      <p:sp>
        <p:nvSpPr>
          <p:cNvPr id="9" name="TextBox 8"/>
          <p:cNvSpPr txBox="1"/>
          <p:nvPr/>
        </p:nvSpPr>
        <p:spPr>
          <a:xfrm>
            <a:off x="4786314" y="4071942"/>
            <a:ext cx="4143404" cy="769441"/>
          </a:xfrm>
          <a:prstGeom prst="rect">
            <a:avLst/>
          </a:prstGeom>
          <a:noFill/>
        </p:spPr>
        <p:txBody>
          <a:bodyPr wrap="square" rtlCol="0">
            <a:spAutoFit/>
          </a:bodyPr>
          <a:lstStyle/>
          <a:p>
            <a:pPr marL="174625" indent="-174625">
              <a:buFont typeface="Arial" pitchFamily="34" charset="0"/>
              <a:buChar char="•"/>
            </a:pPr>
            <a:r>
              <a:rPr lang="en-US" sz="1100" dirty="0" smtClean="0"/>
              <a:t>Highest average rating of a developer/publisher = strong overall quality reputation and consistent execution.</a:t>
            </a:r>
          </a:p>
          <a:p>
            <a:pPr marL="174625" indent="-174625">
              <a:buFont typeface="Arial" pitchFamily="34" charset="0"/>
              <a:buChar char="•"/>
            </a:pPr>
            <a:r>
              <a:rPr lang="en-US" sz="1100" dirty="0" smtClean="0"/>
              <a:t>Highest rating = strongest satisfaction (relative to number of reviewers)</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EDA – Games dataset (1)</a:t>
            </a:r>
            <a:endParaRPr lang="en-US" dirty="0"/>
          </a:p>
        </p:txBody>
      </p:sp>
      <p:sp>
        <p:nvSpPr>
          <p:cNvPr id="10" name="Text Placeholder 6"/>
          <p:cNvSpPr txBox="1">
            <a:spLocks/>
          </p:cNvSpPr>
          <p:nvPr/>
        </p:nvSpPr>
        <p:spPr>
          <a:xfrm>
            <a:off x="457200" y="1543718"/>
            <a:ext cx="4040188" cy="261610"/>
          </a:xfrm>
          <a:prstGeom prst="rect">
            <a:avLst/>
          </a:prstGeom>
        </p:spPr>
        <p:txBody>
          <a:bodyPr vert="horz" lIns="91440" tIns="45720" rIns="91440" bIns="45720" rtlCol="0" anchor="b">
            <a:spAutoFit/>
          </a:bodyPr>
          <a:lstStyle/>
          <a:p>
            <a:pPr lvl="0">
              <a:spcBef>
                <a:spcPct val="20000"/>
              </a:spcBef>
            </a:pPr>
            <a:r>
              <a:rPr lang="en-US" sz="1100" b="1" dirty="0" smtClean="0"/>
              <a:t>3. What are the most common genres in the dataset?</a:t>
            </a:r>
            <a:endParaRPr kumimoji="0" lang="en-US" sz="1100" b="1"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1" name="Text Placeholder 7"/>
          <p:cNvSpPr txBox="1">
            <a:spLocks/>
          </p:cNvSpPr>
          <p:nvPr/>
        </p:nvSpPr>
        <p:spPr>
          <a:xfrm>
            <a:off x="4643438" y="1543718"/>
            <a:ext cx="4041775" cy="261610"/>
          </a:xfrm>
          <a:prstGeom prst="rect">
            <a:avLst/>
          </a:prstGeom>
        </p:spPr>
        <p:txBody>
          <a:bodyPr vert="horz" lIns="91440" tIns="45720" rIns="91440" bIns="45720" rtlCol="0" anchor="b">
            <a:spAutoFit/>
          </a:bodyPr>
          <a:lstStyle/>
          <a:p>
            <a:pPr lvl="0">
              <a:spcBef>
                <a:spcPct val="20000"/>
              </a:spcBef>
            </a:pPr>
            <a:r>
              <a:rPr lang="en-US" sz="1100" b="1" dirty="0" smtClean="0"/>
              <a:t>4. Which games have the highest backlog compared to wishlist?</a:t>
            </a:r>
            <a:endParaRPr kumimoji="0" lang="en-US" sz="1100" b="1" i="0" u="none" strike="noStrike" kern="1200" cap="none" spc="0" normalizeH="0" baseline="0" noProof="0" dirty="0" smtClean="0">
              <a:ln>
                <a:noFill/>
              </a:ln>
              <a:solidFill>
                <a:schemeClr val="tx1"/>
              </a:solidFill>
              <a:effectLst/>
              <a:uLnTx/>
              <a:uFillTx/>
              <a:latin typeface="+mn-lt"/>
              <a:ea typeface="+mn-ea"/>
              <a:cs typeface="+mn-cs"/>
            </a:endParaRPr>
          </a:p>
        </p:txBody>
      </p:sp>
      <p:pic>
        <p:nvPicPr>
          <p:cNvPr id="1030" name="Picture 6"/>
          <p:cNvPicPr>
            <a:picLocks noChangeAspect="1" noChangeArrowheads="1"/>
          </p:cNvPicPr>
          <p:nvPr/>
        </p:nvPicPr>
        <p:blipFill>
          <a:blip r:embed="rId2"/>
          <a:srcRect/>
          <a:stretch>
            <a:fillRect/>
          </a:stretch>
        </p:blipFill>
        <p:spPr bwMode="auto">
          <a:xfrm>
            <a:off x="4643438" y="1885005"/>
            <a:ext cx="3905250" cy="2085975"/>
          </a:xfrm>
          <a:prstGeom prst="rect">
            <a:avLst/>
          </a:prstGeom>
          <a:noFill/>
          <a:ln w="9525">
            <a:noFill/>
            <a:miter lim="800000"/>
            <a:headEnd/>
            <a:tailEnd/>
          </a:ln>
          <a:effectLst/>
        </p:spPr>
      </p:pic>
      <p:pic>
        <p:nvPicPr>
          <p:cNvPr id="1031" name="Picture 7"/>
          <p:cNvPicPr>
            <a:picLocks noChangeAspect="1" noChangeArrowheads="1"/>
          </p:cNvPicPr>
          <p:nvPr/>
        </p:nvPicPr>
        <p:blipFill>
          <a:blip r:embed="rId3"/>
          <a:srcRect b="45454"/>
          <a:stretch>
            <a:fillRect/>
          </a:stretch>
        </p:blipFill>
        <p:spPr bwMode="auto">
          <a:xfrm>
            <a:off x="642910" y="2885137"/>
            <a:ext cx="1771650" cy="1143008"/>
          </a:xfrm>
          <a:prstGeom prst="rect">
            <a:avLst/>
          </a:prstGeom>
          <a:noFill/>
          <a:ln w="9525">
            <a:noFill/>
            <a:miter lim="800000"/>
            <a:headEnd/>
            <a:tailEnd/>
          </a:ln>
          <a:effectLst/>
        </p:spPr>
      </p:pic>
      <p:pic>
        <p:nvPicPr>
          <p:cNvPr id="1034" name="Picture 10"/>
          <p:cNvPicPr>
            <a:picLocks noChangeAspect="1" noChangeArrowheads="1"/>
          </p:cNvPicPr>
          <p:nvPr/>
        </p:nvPicPr>
        <p:blipFill>
          <a:blip r:embed="rId4" cstate="print"/>
          <a:srcRect/>
          <a:stretch>
            <a:fillRect/>
          </a:stretch>
        </p:blipFill>
        <p:spPr bwMode="auto">
          <a:xfrm>
            <a:off x="428596" y="1813567"/>
            <a:ext cx="3942319" cy="1071570"/>
          </a:xfrm>
          <a:prstGeom prst="rect">
            <a:avLst/>
          </a:prstGeom>
          <a:noFill/>
          <a:ln w="9525">
            <a:noFill/>
            <a:miter lim="800000"/>
            <a:headEnd/>
            <a:tailEnd/>
          </a:ln>
          <a:effectLst/>
        </p:spPr>
      </p:pic>
      <p:sp>
        <p:nvSpPr>
          <p:cNvPr id="12" name="TextBox 11"/>
          <p:cNvSpPr txBox="1"/>
          <p:nvPr/>
        </p:nvSpPr>
        <p:spPr>
          <a:xfrm>
            <a:off x="571472" y="4214818"/>
            <a:ext cx="4000528" cy="1200329"/>
          </a:xfrm>
          <a:prstGeom prst="rect">
            <a:avLst/>
          </a:prstGeom>
          <a:noFill/>
        </p:spPr>
        <p:txBody>
          <a:bodyPr wrap="square" rtlCol="0">
            <a:spAutoFit/>
          </a:bodyPr>
          <a:lstStyle/>
          <a:p>
            <a:r>
              <a:rPr lang="en-US" sz="1200" dirty="0" smtClean="0"/>
              <a:t>It shows what type of games are </a:t>
            </a:r>
            <a:r>
              <a:rPr lang="en-US" sz="1200" b="1" dirty="0" smtClean="0"/>
              <a:t>most represented</a:t>
            </a:r>
            <a:r>
              <a:rPr lang="en-US" sz="1200" dirty="0" smtClean="0"/>
              <a:t> or </a:t>
            </a:r>
            <a:r>
              <a:rPr lang="en-US" sz="1200" b="1" dirty="0" smtClean="0"/>
              <a:t>most popular in quantity</a:t>
            </a:r>
            <a:r>
              <a:rPr lang="en-US" sz="1200" dirty="0" smtClean="0"/>
              <a:t>.</a:t>
            </a:r>
          </a:p>
          <a:p>
            <a:endParaRPr lang="en-US" sz="1200" dirty="0" smtClean="0"/>
          </a:p>
          <a:p>
            <a:pPr indent="174625">
              <a:buFont typeface="Arial" pitchFamily="34" charset="0"/>
              <a:buChar char="•"/>
            </a:pPr>
            <a:r>
              <a:rPr lang="en-US" sz="1200" dirty="0" smtClean="0"/>
              <a:t>Many developers are creating games in that genre</a:t>
            </a:r>
          </a:p>
          <a:p>
            <a:pPr indent="174625">
              <a:buFont typeface="Arial" pitchFamily="34" charset="0"/>
              <a:buChar char="•"/>
            </a:pPr>
            <a:r>
              <a:rPr lang="en-US" sz="1200" dirty="0" smtClean="0"/>
              <a:t>That genre sells well</a:t>
            </a:r>
          </a:p>
          <a:p>
            <a:pPr indent="174625">
              <a:buFont typeface="Arial" pitchFamily="34" charset="0"/>
              <a:buChar char="•"/>
            </a:pPr>
            <a:r>
              <a:rPr lang="en-US" sz="1200" dirty="0" smtClean="0"/>
              <a:t>Players demand more of that type</a:t>
            </a:r>
          </a:p>
        </p:txBody>
      </p:sp>
      <p:sp>
        <p:nvSpPr>
          <p:cNvPr id="9" name="TextBox 8"/>
          <p:cNvSpPr txBox="1"/>
          <p:nvPr/>
        </p:nvSpPr>
        <p:spPr>
          <a:xfrm>
            <a:off x="4643438" y="4214818"/>
            <a:ext cx="4000528" cy="1200329"/>
          </a:xfrm>
          <a:prstGeom prst="rect">
            <a:avLst/>
          </a:prstGeom>
          <a:noFill/>
        </p:spPr>
        <p:txBody>
          <a:bodyPr wrap="square" rtlCol="0">
            <a:spAutoFit/>
          </a:bodyPr>
          <a:lstStyle/>
          <a:p>
            <a:r>
              <a:rPr lang="en-US" sz="1200" b="1" dirty="0" smtClean="0"/>
              <a:t>Wishlist</a:t>
            </a:r>
            <a:r>
              <a:rPr lang="en-US" sz="1200" dirty="0" smtClean="0"/>
              <a:t> → People </a:t>
            </a:r>
            <a:r>
              <a:rPr lang="en-US" sz="1200" i="1" dirty="0" smtClean="0"/>
              <a:t>want</a:t>
            </a:r>
            <a:r>
              <a:rPr lang="en-US" sz="1200" dirty="0" smtClean="0"/>
              <a:t> to play it (interest)</a:t>
            </a:r>
          </a:p>
          <a:p>
            <a:r>
              <a:rPr lang="en-US" sz="1200" b="1" dirty="0" smtClean="0"/>
              <a:t>Backlog</a:t>
            </a:r>
            <a:r>
              <a:rPr lang="en-US" sz="1200" dirty="0" smtClean="0"/>
              <a:t> → People </a:t>
            </a:r>
            <a:r>
              <a:rPr lang="en-US" sz="1200" i="1" dirty="0" smtClean="0"/>
              <a:t>own it but haven’t played or finished it</a:t>
            </a:r>
            <a:r>
              <a:rPr lang="en-US" sz="1200" dirty="0" smtClean="0"/>
              <a:t> (delayed action)</a:t>
            </a:r>
          </a:p>
          <a:p>
            <a:pPr marL="271463" indent="-271463">
              <a:buFont typeface="Arial" pitchFamily="34" charset="0"/>
              <a:buChar char="•"/>
            </a:pPr>
            <a:r>
              <a:rPr lang="en-US" sz="1200" dirty="0" smtClean="0"/>
              <a:t>Strong purchasing behavior</a:t>
            </a:r>
          </a:p>
          <a:p>
            <a:pPr marL="271463" indent="-271463">
              <a:buFont typeface="Arial" pitchFamily="34" charset="0"/>
              <a:buChar char="•"/>
            </a:pPr>
            <a:r>
              <a:rPr lang="en-US" sz="1200" dirty="0" smtClean="0"/>
              <a:t>Lower immediate play priority</a:t>
            </a:r>
          </a:p>
          <a:p>
            <a:pPr marL="271463" indent="-271463">
              <a:buFont typeface="Arial" pitchFamily="34" charset="0"/>
              <a:buChar char="•"/>
            </a:pPr>
            <a:r>
              <a:rPr lang="en-US" sz="1200" dirty="0" smtClean="0"/>
              <a:t>Potential “overbuying” trend</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EDA – Games dataset (2)</a:t>
            </a:r>
            <a:endParaRPr lang="en-US" dirty="0"/>
          </a:p>
        </p:txBody>
      </p:sp>
      <p:sp>
        <p:nvSpPr>
          <p:cNvPr id="7" name="Text Placeholder 6"/>
          <p:cNvSpPr>
            <a:spLocks noGrp="1"/>
          </p:cNvSpPr>
          <p:nvPr>
            <p:ph type="body" idx="1"/>
          </p:nvPr>
        </p:nvSpPr>
        <p:spPr>
          <a:xfrm>
            <a:off x="457200" y="1535113"/>
            <a:ext cx="4040188" cy="261610"/>
          </a:xfrm>
        </p:spPr>
        <p:txBody>
          <a:bodyPr>
            <a:spAutoFit/>
          </a:bodyPr>
          <a:lstStyle/>
          <a:p>
            <a:r>
              <a:rPr lang="en-US" sz="1100" dirty="0" smtClean="0"/>
              <a:t>5.What is the game release trend across years?</a:t>
            </a:r>
          </a:p>
        </p:txBody>
      </p:sp>
      <p:pic>
        <p:nvPicPr>
          <p:cNvPr id="2050" name="Picture 2"/>
          <p:cNvPicPr>
            <a:picLocks noChangeAspect="1" noChangeArrowheads="1"/>
          </p:cNvPicPr>
          <p:nvPr/>
        </p:nvPicPr>
        <p:blipFill>
          <a:blip r:embed="rId2" cstate="print"/>
          <a:srcRect/>
          <a:stretch>
            <a:fillRect/>
          </a:stretch>
        </p:blipFill>
        <p:spPr bwMode="auto">
          <a:xfrm>
            <a:off x="457200" y="1785926"/>
            <a:ext cx="7143800" cy="1889958"/>
          </a:xfrm>
          <a:prstGeom prst="rect">
            <a:avLst/>
          </a:prstGeom>
          <a:noFill/>
          <a:ln w="9525">
            <a:noFill/>
            <a:miter lim="800000"/>
            <a:headEnd/>
            <a:tailEnd/>
          </a:ln>
          <a:effectLst/>
        </p:spPr>
      </p:pic>
      <p:sp>
        <p:nvSpPr>
          <p:cNvPr id="9" name="TextBox 8"/>
          <p:cNvSpPr txBox="1"/>
          <p:nvPr/>
        </p:nvSpPr>
        <p:spPr>
          <a:xfrm>
            <a:off x="457200" y="3786190"/>
            <a:ext cx="7686700" cy="1785104"/>
          </a:xfrm>
          <a:prstGeom prst="rect">
            <a:avLst/>
          </a:prstGeom>
          <a:noFill/>
        </p:spPr>
        <p:txBody>
          <a:bodyPr wrap="square" rtlCol="0">
            <a:spAutoFit/>
          </a:bodyPr>
          <a:lstStyle/>
          <a:p>
            <a:r>
              <a:rPr lang="en-US" sz="1100" dirty="0" smtClean="0"/>
              <a:t>We can see very low releases from 1980 to 1995 only dozens of games per year,  it started to accelerate from 2000 with hundreds of releases from 2005+ and Rapid growth was there from 2010 to 2021.</a:t>
            </a:r>
          </a:p>
          <a:p>
            <a:endParaRPr lang="en-US" sz="1100" b="1" dirty="0" smtClean="0"/>
          </a:p>
          <a:p>
            <a:r>
              <a:rPr lang="en-US" sz="1100" dirty="0" smtClean="0"/>
              <a:t>Several spikes (2015, 2018, 2020)</a:t>
            </a:r>
          </a:p>
          <a:p>
            <a:r>
              <a:rPr lang="en-US" sz="1100" dirty="0" smtClean="0"/>
              <a:t>Peak around </a:t>
            </a:r>
            <a:r>
              <a:rPr lang="en-US" sz="1100" b="1" dirty="0" smtClean="0"/>
              <a:t>2022 (~420 games released)</a:t>
            </a:r>
          </a:p>
          <a:p>
            <a:r>
              <a:rPr lang="en-US" sz="1100" dirty="0" smtClean="0"/>
              <a:t>2023 shows a major drop (~130)</a:t>
            </a:r>
          </a:p>
          <a:p>
            <a:r>
              <a:rPr lang="en-US" sz="1100" dirty="0" smtClean="0"/>
              <a:t>2024–2025 extremely low</a:t>
            </a:r>
          </a:p>
          <a:p>
            <a:r>
              <a:rPr lang="en-US" sz="1100" dirty="0" smtClean="0"/>
              <a:t>Important:</a:t>
            </a:r>
            <a:br>
              <a:rPr lang="en-US" sz="1100" dirty="0" smtClean="0"/>
            </a:br>
            <a:r>
              <a:rPr lang="en-US" sz="1100" dirty="0" smtClean="0"/>
              <a:t>This is most likely due to: </a:t>
            </a:r>
            <a:r>
              <a:rPr lang="en-US" sz="1100" b="1" dirty="0" smtClean="0"/>
              <a:t>Incomplete data for recent years, </a:t>
            </a:r>
            <a:r>
              <a:rPr lang="en-US" sz="1100" dirty="0" smtClean="0"/>
              <a:t>Not a real industry collapse</a:t>
            </a:r>
          </a:p>
          <a:p>
            <a:endParaRPr lang="en-US" sz="1100" dirty="0" smtClean="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EDA – Games dataset (3)</a:t>
            </a:r>
            <a:endParaRPr lang="en-US" dirty="0"/>
          </a:p>
        </p:txBody>
      </p:sp>
      <p:sp>
        <p:nvSpPr>
          <p:cNvPr id="8" name="Text Placeholder 7"/>
          <p:cNvSpPr>
            <a:spLocks noGrp="1"/>
          </p:cNvSpPr>
          <p:nvPr>
            <p:ph type="body" sz="quarter" idx="3"/>
          </p:nvPr>
        </p:nvSpPr>
        <p:spPr>
          <a:xfrm>
            <a:off x="928662" y="1535113"/>
            <a:ext cx="4041775" cy="261610"/>
          </a:xfrm>
        </p:spPr>
        <p:txBody>
          <a:bodyPr>
            <a:spAutoFit/>
          </a:bodyPr>
          <a:lstStyle/>
          <a:p>
            <a:r>
              <a:rPr lang="en-US" sz="1100" dirty="0" smtClean="0"/>
              <a:t>6. What is the distribution of user ratings?</a:t>
            </a:r>
          </a:p>
        </p:txBody>
      </p:sp>
      <p:pic>
        <p:nvPicPr>
          <p:cNvPr id="2051" name="Picture 3"/>
          <p:cNvPicPr>
            <a:picLocks noChangeAspect="1" noChangeArrowheads="1"/>
          </p:cNvPicPr>
          <p:nvPr/>
        </p:nvPicPr>
        <p:blipFill>
          <a:blip r:embed="rId2" cstate="print"/>
          <a:srcRect/>
          <a:stretch>
            <a:fillRect/>
          </a:stretch>
        </p:blipFill>
        <p:spPr bwMode="auto">
          <a:xfrm>
            <a:off x="857224" y="1785926"/>
            <a:ext cx="7500990" cy="2473265"/>
          </a:xfrm>
          <a:prstGeom prst="rect">
            <a:avLst/>
          </a:prstGeom>
          <a:noFill/>
          <a:ln w="9525">
            <a:noFill/>
            <a:miter lim="800000"/>
            <a:headEnd/>
            <a:tailEnd/>
          </a:ln>
          <a:effectLst/>
        </p:spPr>
      </p:pic>
      <p:sp>
        <p:nvSpPr>
          <p:cNvPr id="9" name="TextBox 8"/>
          <p:cNvSpPr txBox="1"/>
          <p:nvPr/>
        </p:nvSpPr>
        <p:spPr>
          <a:xfrm>
            <a:off x="857224" y="4143380"/>
            <a:ext cx="7572428" cy="769441"/>
          </a:xfrm>
          <a:prstGeom prst="rect">
            <a:avLst/>
          </a:prstGeom>
          <a:noFill/>
        </p:spPr>
        <p:txBody>
          <a:bodyPr wrap="square" rtlCol="0">
            <a:spAutoFit/>
          </a:bodyPr>
          <a:lstStyle/>
          <a:p>
            <a:r>
              <a:rPr lang="en-US" sz="1100" b="1" dirty="0" smtClean="0"/>
              <a:t>Ratings Are Heavily Concentrated between 3 and 4</a:t>
            </a:r>
          </a:p>
          <a:p>
            <a:r>
              <a:rPr lang="en-US" sz="1100" dirty="0" smtClean="0"/>
              <a:t>Rating  (3-4) (~56%) dominates.</a:t>
            </a:r>
          </a:p>
          <a:p>
            <a:r>
              <a:rPr lang="en-US" sz="1100" dirty="0" smtClean="0"/>
              <a:t>Rating Group 4 (~34%) is the second largest.</a:t>
            </a:r>
          </a:p>
          <a:p>
            <a:r>
              <a:rPr lang="en-US" sz="1100" dirty="0" smtClean="0"/>
              <a:t>Lower rating groups (0–2) together make up less than 10%.</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EDA – Games dataset (4)</a:t>
            </a:r>
            <a:endParaRPr lang="en-US" dirty="0"/>
          </a:p>
        </p:txBody>
      </p:sp>
      <p:sp>
        <p:nvSpPr>
          <p:cNvPr id="7" name="Text Placeholder 6"/>
          <p:cNvSpPr>
            <a:spLocks noGrp="1"/>
          </p:cNvSpPr>
          <p:nvPr>
            <p:ph type="body" idx="1"/>
          </p:nvPr>
        </p:nvSpPr>
        <p:spPr>
          <a:xfrm>
            <a:off x="3671910" y="1511315"/>
            <a:ext cx="4186238" cy="261610"/>
          </a:xfrm>
        </p:spPr>
        <p:txBody>
          <a:bodyPr wrap="square">
            <a:spAutoFit/>
          </a:bodyPr>
          <a:lstStyle/>
          <a:p>
            <a:r>
              <a:rPr lang="en-US" sz="1100" dirty="0" smtClean="0"/>
              <a:t>9.Which developer studios are the most productive and impactful?</a:t>
            </a:r>
          </a:p>
        </p:txBody>
      </p:sp>
      <p:sp>
        <p:nvSpPr>
          <p:cNvPr id="13" name="Text Placeholder 6"/>
          <p:cNvSpPr txBox="1">
            <a:spLocks/>
          </p:cNvSpPr>
          <p:nvPr/>
        </p:nvSpPr>
        <p:spPr>
          <a:xfrm>
            <a:off x="457200" y="1535113"/>
            <a:ext cx="4040188" cy="261610"/>
          </a:xfrm>
          <a:prstGeom prst="rect">
            <a:avLst/>
          </a:prstGeom>
        </p:spPr>
        <p:txBody>
          <a:bodyPr vert="horz" lIns="91440" tIns="45720" rIns="91440" bIns="45720" rtlCol="0" anchor="b">
            <a:spAutoFit/>
          </a:bodyPr>
          <a:lstStyle/>
          <a:p>
            <a:pPr lvl="0">
              <a:spcBef>
                <a:spcPct val="20000"/>
              </a:spcBef>
            </a:pPr>
            <a:r>
              <a:rPr lang="en-US" sz="1100" b="1" dirty="0" smtClean="0"/>
              <a:t> 7. What are the top 10 most wishlisted games?</a:t>
            </a:r>
            <a:endParaRPr kumimoji="0" lang="en-US" sz="1100" b="1"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4" name="Text Placeholder 7"/>
          <p:cNvSpPr txBox="1">
            <a:spLocks/>
          </p:cNvSpPr>
          <p:nvPr/>
        </p:nvSpPr>
        <p:spPr>
          <a:xfrm>
            <a:off x="357158" y="3905577"/>
            <a:ext cx="4041775" cy="261610"/>
          </a:xfrm>
          <a:prstGeom prst="rect">
            <a:avLst/>
          </a:prstGeom>
        </p:spPr>
        <p:txBody>
          <a:bodyPr vert="horz" lIns="91440" tIns="45720" rIns="91440" bIns="45720" rtlCol="0" anchor="b">
            <a:spAutoFit/>
          </a:bodyPr>
          <a:lstStyle/>
          <a:p>
            <a:r>
              <a:rPr lang="en-US" sz="1100" b="1" dirty="0" smtClean="0"/>
              <a:t>8.What’s the average number of plays per genre?</a:t>
            </a:r>
          </a:p>
        </p:txBody>
      </p:sp>
      <p:pic>
        <p:nvPicPr>
          <p:cNvPr id="15" name="Picture 4"/>
          <p:cNvPicPr>
            <a:picLocks noChangeAspect="1" noChangeArrowheads="1"/>
          </p:cNvPicPr>
          <p:nvPr/>
        </p:nvPicPr>
        <p:blipFill>
          <a:blip r:embed="rId2"/>
          <a:srcRect/>
          <a:stretch>
            <a:fillRect/>
          </a:stretch>
        </p:blipFill>
        <p:spPr bwMode="auto">
          <a:xfrm>
            <a:off x="571472" y="1868161"/>
            <a:ext cx="3028950" cy="2076450"/>
          </a:xfrm>
          <a:prstGeom prst="rect">
            <a:avLst/>
          </a:prstGeom>
          <a:noFill/>
          <a:ln w="9525">
            <a:noFill/>
            <a:miter lim="800000"/>
            <a:headEnd/>
            <a:tailEnd/>
          </a:ln>
          <a:effectLst/>
        </p:spPr>
      </p:pic>
      <p:sp>
        <p:nvSpPr>
          <p:cNvPr id="10" name="TextBox 9"/>
          <p:cNvSpPr txBox="1"/>
          <p:nvPr/>
        </p:nvSpPr>
        <p:spPr>
          <a:xfrm>
            <a:off x="3000364" y="4286256"/>
            <a:ext cx="5857916" cy="1954381"/>
          </a:xfrm>
          <a:prstGeom prst="rect">
            <a:avLst/>
          </a:prstGeom>
          <a:noFill/>
        </p:spPr>
        <p:txBody>
          <a:bodyPr wrap="square" rtlCol="0">
            <a:spAutoFit/>
          </a:bodyPr>
          <a:lstStyle/>
          <a:p>
            <a:r>
              <a:rPr lang="en-US" sz="1100" dirty="0" smtClean="0"/>
              <a:t>High Wishlist Indicates strong consumer anticipation and future purchase intent. leading indicator of market demand.</a:t>
            </a:r>
          </a:p>
          <a:p>
            <a:r>
              <a:rPr lang="en-US" sz="1100" dirty="0" smtClean="0"/>
              <a:t>It measures </a:t>
            </a:r>
            <a:r>
              <a:rPr lang="en-US" sz="1100" b="1" dirty="0" smtClean="0"/>
              <a:t>engagement intensity</a:t>
            </a:r>
          </a:p>
          <a:p>
            <a:endParaRPr lang="en-US" sz="1100" b="1" dirty="0" smtClean="0"/>
          </a:p>
          <a:p>
            <a:r>
              <a:rPr lang="en-US" sz="1100" b="1" dirty="0" smtClean="0"/>
              <a:t>High average plays per genre = high engagement and replayability.</a:t>
            </a:r>
            <a:r>
              <a:rPr lang="en-US" sz="1100" dirty="0" smtClean="0"/>
              <a:t/>
            </a:r>
            <a:br>
              <a:rPr lang="en-US" sz="1100" dirty="0" smtClean="0"/>
            </a:br>
            <a:r>
              <a:rPr lang="en-US" sz="1100" b="1" dirty="0" smtClean="0"/>
              <a:t>Low average plays per genre = shorter or one-time experiences.</a:t>
            </a:r>
          </a:p>
          <a:p>
            <a:endParaRPr lang="en-US" sz="1100" b="1" dirty="0" smtClean="0"/>
          </a:p>
          <a:p>
            <a:r>
              <a:rPr lang="en-US" sz="1100" dirty="0" smtClean="0"/>
              <a:t>A Studio is </a:t>
            </a:r>
            <a:r>
              <a:rPr lang="en-US" sz="1100" b="1" dirty="0" smtClean="0"/>
              <a:t>most productive</a:t>
            </a:r>
            <a:r>
              <a:rPr lang="en-US" sz="1100" dirty="0" smtClean="0"/>
              <a:t> → many games exist (high backlog, high release count).</a:t>
            </a:r>
          </a:p>
          <a:p>
            <a:r>
              <a:rPr lang="en-US" sz="1100" dirty="0" smtClean="0"/>
              <a:t>A Studio is </a:t>
            </a:r>
            <a:r>
              <a:rPr lang="en-US" sz="1100" b="1" dirty="0" smtClean="0"/>
              <a:t>most impactful</a:t>
            </a:r>
            <a:r>
              <a:rPr lang="en-US" sz="1100" dirty="0" smtClean="0"/>
              <a:t> → their games are widely played, actively engaged with, or highly anticipated (plays, playing, wishlist).</a:t>
            </a:r>
          </a:p>
          <a:p>
            <a:endParaRPr lang="en-US" sz="1100" dirty="0"/>
          </a:p>
        </p:txBody>
      </p:sp>
      <p:pic>
        <p:nvPicPr>
          <p:cNvPr id="1029" name="Picture 5"/>
          <p:cNvPicPr>
            <a:picLocks noChangeAspect="1" noChangeArrowheads="1"/>
          </p:cNvPicPr>
          <p:nvPr/>
        </p:nvPicPr>
        <p:blipFill>
          <a:blip r:embed="rId3"/>
          <a:srcRect/>
          <a:stretch>
            <a:fillRect/>
          </a:stretch>
        </p:blipFill>
        <p:spPr bwMode="auto">
          <a:xfrm>
            <a:off x="3714744" y="1857364"/>
            <a:ext cx="5214974" cy="1990852"/>
          </a:xfrm>
          <a:prstGeom prst="rect">
            <a:avLst/>
          </a:prstGeom>
          <a:noFill/>
          <a:ln w="9525">
            <a:noFill/>
            <a:miter lim="800000"/>
            <a:headEnd/>
            <a:tailEnd/>
          </a:ln>
          <a:effectLst/>
        </p:spPr>
      </p:pic>
      <p:pic>
        <p:nvPicPr>
          <p:cNvPr id="1026" name="Picture 2"/>
          <p:cNvPicPr>
            <a:picLocks noChangeAspect="1" noChangeArrowheads="1"/>
          </p:cNvPicPr>
          <p:nvPr/>
        </p:nvPicPr>
        <p:blipFill>
          <a:blip r:embed="rId4"/>
          <a:srcRect/>
          <a:stretch>
            <a:fillRect/>
          </a:stretch>
        </p:blipFill>
        <p:spPr bwMode="auto">
          <a:xfrm>
            <a:off x="571472" y="4214818"/>
            <a:ext cx="1608343" cy="2286016"/>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EDA – Vgames dataset</a:t>
            </a:r>
            <a:endParaRPr lang="en-US" dirty="0"/>
          </a:p>
        </p:txBody>
      </p:sp>
      <p:sp>
        <p:nvSpPr>
          <p:cNvPr id="7" name="Text Placeholder 6"/>
          <p:cNvSpPr>
            <a:spLocks noGrp="1"/>
          </p:cNvSpPr>
          <p:nvPr>
            <p:ph type="body" idx="1"/>
          </p:nvPr>
        </p:nvSpPr>
        <p:spPr>
          <a:xfrm>
            <a:off x="457200" y="1535113"/>
            <a:ext cx="4040188" cy="261610"/>
          </a:xfrm>
        </p:spPr>
        <p:txBody>
          <a:bodyPr>
            <a:spAutoFit/>
          </a:bodyPr>
          <a:lstStyle/>
          <a:p>
            <a:r>
              <a:rPr lang="en-US" sz="1100" dirty="0" smtClean="0"/>
              <a:t>10.Which region generates the most game sales?</a:t>
            </a:r>
          </a:p>
        </p:txBody>
      </p:sp>
      <p:sp>
        <p:nvSpPr>
          <p:cNvPr id="8" name="Text Placeholder 7"/>
          <p:cNvSpPr>
            <a:spLocks noGrp="1"/>
          </p:cNvSpPr>
          <p:nvPr>
            <p:ph type="body" sz="quarter" idx="3"/>
          </p:nvPr>
        </p:nvSpPr>
        <p:spPr>
          <a:xfrm>
            <a:off x="3643306" y="1535113"/>
            <a:ext cx="4041775" cy="261610"/>
          </a:xfrm>
        </p:spPr>
        <p:txBody>
          <a:bodyPr>
            <a:spAutoFit/>
          </a:bodyPr>
          <a:lstStyle/>
          <a:p>
            <a:r>
              <a:rPr lang="en-US" sz="1100" dirty="0" smtClean="0"/>
              <a:t>11. What are the best-selling platforms?</a:t>
            </a:r>
          </a:p>
        </p:txBody>
      </p:sp>
      <p:sp>
        <p:nvSpPr>
          <p:cNvPr id="11" name="Text Placeholder 7"/>
          <p:cNvSpPr txBox="1">
            <a:spLocks/>
          </p:cNvSpPr>
          <p:nvPr/>
        </p:nvSpPr>
        <p:spPr>
          <a:xfrm>
            <a:off x="5610214" y="1985944"/>
            <a:ext cx="2463175" cy="261610"/>
          </a:xfrm>
          <a:prstGeom prst="rect">
            <a:avLst/>
          </a:prstGeom>
        </p:spPr>
        <p:txBody>
          <a:bodyPr vert="horz" wrap="none" lIns="91440" tIns="45720" rIns="0" bIns="45720" rtlCol="0" anchor="b">
            <a:spAutoFit/>
          </a:bodyPr>
          <a:lstStyle/>
          <a:p>
            <a:r>
              <a:rPr lang="en-US" sz="1100" b="1" dirty="0" smtClean="0"/>
              <a:t>13. Who are the top publishers by sales?</a:t>
            </a:r>
          </a:p>
        </p:txBody>
      </p:sp>
      <p:pic>
        <p:nvPicPr>
          <p:cNvPr id="3075" name="Picture 3"/>
          <p:cNvPicPr>
            <a:picLocks noChangeAspect="1" noChangeArrowheads="1"/>
          </p:cNvPicPr>
          <p:nvPr/>
        </p:nvPicPr>
        <p:blipFill>
          <a:blip r:embed="rId2"/>
          <a:srcRect/>
          <a:stretch>
            <a:fillRect/>
          </a:stretch>
        </p:blipFill>
        <p:spPr bwMode="auto">
          <a:xfrm>
            <a:off x="3748100" y="1862135"/>
            <a:ext cx="1628775" cy="1209675"/>
          </a:xfrm>
          <a:prstGeom prst="rect">
            <a:avLst/>
          </a:prstGeom>
          <a:noFill/>
          <a:ln w="9525">
            <a:noFill/>
            <a:miter lim="800000"/>
            <a:headEnd/>
            <a:tailEnd/>
          </a:ln>
          <a:effectLst/>
        </p:spPr>
      </p:pic>
      <p:pic>
        <p:nvPicPr>
          <p:cNvPr id="3076" name="Picture 4"/>
          <p:cNvPicPr>
            <a:picLocks noChangeAspect="1" noChangeArrowheads="1"/>
          </p:cNvPicPr>
          <p:nvPr/>
        </p:nvPicPr>
        <p:blipFill>
          <a:blip r:embed="rId3"/>
          <a:srcRect/>
          <a:stretch>
            <a:fillRect/>
          </a:stretch>
        </p:blipFill>
        <p:spPr bwMode="auto">
          <a:xfrm>
            <a:off x="5715008" y="2285992"/>
            <a:ext cx="2609850" cy="1200150"/>
          </a:xfrm>
          <a:prstGeom prst="rect">
            <a:avLst/>
          </a:prstGeom>
          <a:noFill/>
          <a:ln w="9525">
            <a:noFill/>
            <a:miter lim="800000"/>
            <a:headEnd/>
            <a:tailEnd/>
          </a:ln>
          <a:effectLst/>
        </p:spPr>
      </p:pic>
      <p:pic>
        <p:nvPicPr>
          <p:cNvPr id="3079" name="Picture 7"/>
          <p:cNvPicPr>
            <a:picLocks noChangeAspect="1" noChangeArrowheads="1"/>
          </p:cNvPicPr>
          <p:nvPr/>
        </p:nvPicPr>
        <p:blipFill>
          <a:blip r:embed="rId4"/>
          <a:srcRect/>
          <a:stretch>
            <a:fillRect/>
          </a:stretch>
        </p:blipFill>
        <p:spPr bwMode="auto">
          <a:xfrm>
            <a:off x="500034" y="1819779"/>
            <a:ext cx="2667003" cy="1537783"/>
          </a:xfrm>
          <a:prstGeom prst="rect">
            <a:avLst/>
          </a:prstGeom>
          <a:noFill/>
          <a:ln w="9525">
            <a:noFill/>
            <a:miter lim="800000"/>
            <a:headEnd/>
            <a:tailEnd/>
          </a:ln>
          <a:effectLst/>
        </p:spPr>
      </p:pic>
      <p:sp>
        <p:nvSpPr>
          <p:cNvPr id="12" name="Text Placeholder 6"/>
          <p:cNvSpPr txBox="1">
            <a:spLocks/>
          </p:cNvSpPr>
          <p:nvPr/>
        </p:nvSpPr>
        <p:spPr>
          <a:xfrm>
            <a:off x="457200" y="3500438"/>
            <a:ext cx="4040188" cy="261610"/>
          </a:xfrm>
          <a:prstGeom prst="rect">
            <a:avLst/>
          </a:prstGeom>
        </p:spPr>
        <p:txBody>
          <a:bodyPr vert="horz" lIns="91440" tIns="45720" rIns="91440" bIns="45720" rtlCol="0" anchor="b">
            <a:spAutoFit/>
          </a:bodyPr>
          <a:lstStyle/>
          <a:p>
            <a:r>
              <a:rPr lang="en-US" sz="1100" b="1" dirty="0" smtClean="0"/>
              <a:t>12. What’s the trend of game releases and sales over years?</a:t>
            </a:r>
          </a:p>
        </p:txBody>
      </p:sp>
      <p:pic>
        <p:nvPicPr>
          <p:cNvPr id="13" name="Picture 5"/>
          <p:cNvPicPr>
            <a:picLocks noChangeAspect="1" noChangeArrowheads="1"/>
          </p:cNvPicPr>
          <p:nvPr/>
        </p:nvPicPr>
        <p:blipFill>
          <a:blip r:embed="rId5"/>
          <a:srcRect/>
          <a:stretch>
            <a:fillRect/>
          </a:stretch>
        </p:blipFill>
        <p:spPr bwMode="auto">
          <a:xfrm>
            <a:off x="357158" y="3816806"/>
            <a:ext cx="3929090" cy="2469714"/>
          </a:xfrm>
          <a:prstGeom prst="rect">
            <a:avLst/>
          </a:prstGeom>
          <a:noFill/>
          <a:ln w="9525">
            <a:noFill/>
            <a:miter lim="800000"/>
            <a:headEnd/>
            <a:tailEnd/>
          </a:ln>
          <a:effectLst/>
        </p:spPr>
      </p:pic>
      <p:sp>
        <p:nvSpPr>
          <p:cNvPr id="14" name="TextBox 13"/>
          <p:cNvSpPr txBox="1"/>
          <p:nvPr/>
        </p:nvSpPr>
        <p:spPr>
          <a:xfrm>
            <a:off x="4500562" y="4071942"/>
            <a:ext cx="3643338" cy="1785104"/>
          </a:xfrm>
          <a:prstGeom prst="rect">
            <a:avLst/>
          </a:prstGeom>
          <a:noFill/>
        </p:spPr>
        <p:txBody>
          <a:bodyPr wrap="square" rtlCol="0">
            <a:spAutoFit/>
          </a:bodyPr>
          <a:lstStyle/>
          <a:p>
            <a:r>
              <a:rPr lang="en-US" sz="1100" b="1" dirty="0" smtClean="0"/>
              <a:t>Strong Growth Phase (Mid-1990s to 2008)</a:t>
            </a:r>
          </a:p>
          <a:p>
            <a:r>
              <a:rPr lang="en-US" sz="1100" dirty="0" smtClean="0"/>
              <a:t>Peak activity occurred around </a:t>
            </a:r>
            <a:r>
              <a:rPr lang="en-US" sz="1100" b="1" dirty="0" smtClean="0"/>
              <a:t>2008–2009</a:t>
            </a:r>
            <a:r>
              <a:rPr lang="en-US" sz="1100" dirty="0" smtClean="0"/>
              <a:t>, with:</a:t>
            </a:r>
          </a:p>
          <a:p>
            <a:pPr lvl="1"/>
            <a:r>
              <a:rPr lang="en-US" sz="1100" dirty="0" smtClean="0"/>
              <a:t>~1,400+ game releases</a:t>
            </a:r>
          </a:p>
          <a:p>
            <a:pPr lvl="1"/>
            <a:r>
              <a:rPr lang="en-US" sz="1100" dirty="0" smtClean="0"/>
              <a:t>~700+ million in global sales</a:t>
            </a:r>
          </a:p>
          <a:p>
            <a:r>
              <a:rPr lang="en-US" sz="1100" b="1" dirty="0" smtClean="0"/>
              <a:t>Sharp Decline After 2010</a:t>
            </a:r>
          </a:p>
          <a:p>
            <a:r>
              <a:rPr lang="en-US" sz="1100" dirty="0" smtClean="0"/>
              <a:t>The steepest fall appears between </a:t>
            </a:r>
            <a:r>
              <a:rPr lang="en-US" sz="1100" b="1" dirty="0" smtClean="0"/>
              <a:t>2011–2015</a:t>
            </a:r>
            <a:r>
              <a:rPr lang="en-US" sz="1100" dirty="0" smtClean="0"/>
              <a:t>.</a:t>
            </a:r>
          </a:p>
          <a:p>
            <a:r>
              <a:rPr lang="en-US" sz="1100" dirty="0" smtClean="0"/>
              <a:t>This does </a:t>
            </a:r>
            <a:r>
              <a:rPr lang="en-US" sz="1100" b="1" dirty="0" smtClean="0"/>
              <a:t>not necessarily mean the gaming industry declined</a:t>
            </a:r>
            <a:r>
              <a:rPr lang="en-US" sz="1100" dirty="0" smtClean="0"/>
              <a:t>, but rather that the dataset likely tracks traditional console/retail sales.</a:t>
            </a:r>
          </a:p>
          <a:p>
            <a:r>
              <a:rPr lang="en-US" sz="1100" dirty="0" smtClean="0"/>
              <a:t>Strong </a:t>
            </a:r>
            <a:r>
              <a:rPr lang="en-US" sz="1100" b="1" dirty="0" smtClean="0"/>
              <a:t>positive correlation</a:t>
            </a:r>
            <a:r>
              <a:rPr lang="en-US" sz="1100" dirty="0" smtClean="0"/>
              <a:t> (1995–2008).</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EDA – Vgames dataset (1)</a:t>
            </a:r>
            <a:endParaRPr lang="en-US" dirty="0"/>
          </a:p>
        </p:txBody>
      </p:sp>
      <p:sp>
        <p:nvSpPr>
          <p:cNvPr id="7" name="Text Placeholder 6"/>
          <p:cNvSpPr>
            <a:spLocks noGrp="1"/>
          </p:cNvSpPr>
          <p:nvPr>
            <p:ph type="body" idx="1"/>
          </p:nvPr>
        </p:nvSpPr>
        <p:spPr>
          <a:xfrm>
            <a:off x="457200" y="1535113"/>
            <a:ext cx="4040188" cy="261610"/>
          </a:xfrm>
        </p:spPr>
        <p:txBody>
          <a:bodyPr>
            <a:spAutoFit/>
          </a:bodyPr>
          <a:lstStyle/>
          <a:p>
            <a:r>
              <a:rPr lang="en-US" sz="1100" dirty="0" smtClean="0"/>
              <a:t>14. Which games are the top 10 best-sellers globally?</a:t>
            </a:r>
          </a:p>
        </p:txBody>
      </p:sp>
      <p:sp>
        <p:nvSpPr>
          <p:cNvPr id="10" name="Text Placeholder 6"/>
          <p:cNvSpPr txBox="1">
            <a:spLocks/>
          </p:cNvSpPr>
          <p:nvPr/>
        </p:nvSpPr>
        <p:spPr>
          <a:xfrm>
            <a:off x="457200" y="3944969"/>
            <a:ext cx="4040188" cy="261610"/>
          </a:xfrm>
          <a:prstGeom prst="rect">
            <a:avLst/>
          </a:prstGeom>
        </p:spPr>
        <p:txBody>
          <a:bodyPr vert="horz" lIns="91440" tIns="45720" rIns="91440" bIns="45720" rtlCol="0" anchor="b">
            <a:spAutoFit/>
          </a:bodyPr>
          <a:lstStyle/>
          <a:p>
            <a:r>
              <a:rPr lang="en-US" sz="1100" b="1" dirty="0" smtClean="0"/>
              <a:t>15. How do regional sales compare for specific platforms?</a:t>
            </a:r>
          </a:p>
        </p:txBody>
      </p:sp>
      <p:pic>
        <p:nvPicPr>
          <p:cNvPr id="4098" name="Picture 2"/>
          <p:cNvPicPr>
            <a:picLocks noChangeAspect="1" noChangeArrowheads="1"/>
          </p:cNvPicPr>
          <p:nvPr/>
        </p:nvPicPr>
        <p:blipFill>
          <a:blip r:embed="rId2"/>
          <a:srcRect/>
          <a:stretch>
            <a:fillRect/>
          </a:stretch>
        </p:blipFill>
        <p:spPr bwMode="auto">
          <a:xfrm>
            <a:off x="571472" y="1785926"/>
            <a:ext cx="2638425" cy="2085975"/>
          </a:xfrm>
          <a:prstGeom prst="rect">
            <a:avLst/>
          </a:prstGeom>
          <a:noFill/>
          <a:ln w="9525">
            <a:noFill/>
            <a:miter lim="800000"/>
            <a:headEnd/>
            <a:tailEnd/>
          </a:ln>
          <a:effectLst/>
        </p:spPr>
      </p:pic>
      <p:pic>
        <p:nvPicPr>
          <p:cNvPr id="4100" name="Picture 4"/>
          <p:cNvPicPr>
            <a:picLocks noChangeAspect="1" noChangeArrowheads="1"/>
          </p:cNvPicPr>
          <p:nvPr/>
        </p:nvPicPr>
        <p:blipFill>
          <a:blip r:embed="rId3"/>
          <a:srcRect/>
          <a:stretch>
            <a:fillRect/>
          </a:stretch>
        </p:blipFill>
        <p:spPr bwMode="auto">
          <a:xfrm>
            <a:off x="571504" y="4261034"/>
            <a:ext cx="7786710" cy="2096924"/>
          </a:xfrm>
          <a:prstGeom prst="rect">
            <a:avLst/>
          </a:prstGeom>
          <a:noFill/>
          <a:ln w="9525">
            <a:noFill/>
            <a:miter lim="800000"/>
            <a:headEnd/>
            <a:tailEnd/>
          </a:ln>
          <a:effectLst/>
        </p:spPr>
      </p:pic>
      <p:sp>
        <p:nvSpPr>
          <p:cNvPr id="8" name="TextBox 7"/>
          <p:cNvSpPr txBox="1"/>
          <p:nvPr/>
        </p:nvSpPr>
        <p:spPr>
          <a:xfrm>
            <a:off x="3714744" y="2000240"/>
            <a:ext cx="5143536" cy="1277273"/>
          </a:xfrm>
          <a:prstGeom prst="rect">
            <a:avLst/>
          </a:prstGeom>
          <a:noFill/>
        </p:spPr>
        <p:txBody>
          <a:bodyPr wrap="square" rtlCol="0">
            <a:spAutoFit/>
          </a:bodyPr>
          <a:lstStyle/>
          <a:p>
            <a:r>
              <a:rPr lang="en-US" sz="1100" b="1" dirty="0" smtClean="0"/>
              <a:t>Best-Selling Platforms Overall</a:t>
            </a:r>
          </a:p>
          <a:p>
            <a:r>
              <a:rPr lang="en-US" sz="1100" dirty="0" smtClean="0"/>
              <a:t>The highest total sales come from: </a:t>
            </a:r>
            <a:r>
              <a:rPr lang="en-US" sz="1100" b="1" dirty="0" smtClean="0"/>
              <a:t>PS2</a:t>
            </a:r>
            <a:r>
              <a:rPr lang="en-US" sz="1100" dirty="0" smtClean="0"/>
              <a:t> – Dominant leader, </a:t>
            </a:r>
            <a:r>
              <a:rPr lang="en-US" sz="1100" b="1" dirty="0" smtClean="0"/>
              <a:t>X360,Wii, PS3</a:t>
            </a:r>
            <a:endParaRPr lang="en-US" sz="1100" dirty="0" smtClean="0"/>
          </a:p>
          <a:p>
            <a:r>
              <a:rPr lang="en-US" sz="1100" b="1" dirty="0" smtClean="0"/>
              <a:t>2. North America Is the Largest Market : </a:t>
            </a:r>
            <a:r>
              <a:rPr lang="en-US" sz="1100" dirty="0" smtClean="0"/>
              <a:t>Across almost all major platforms</a:t>
            </a:r>
          </a:p>
          <a:p>
            <a:r>
              <a:rPr lang="en-US" sz="1100" dirty="0" smtClean="0"/>
              <a:t>NA contributes the largest share of sales.</a:t>
            </a:r>
          </a:p>
          <a:p>
            <a:r>
              <a:rPr lang="en-US" sz="1100" dirty="0" smtClean="0"/>
              <a:t>Especially dominant for: </a:t>
            </a:r>
            <a:r>
              <a:rPr lang="en-US" sz="1100" b="1" dirty="0" smtClean="0"/>
              <a:t>X360, </a:t>
            </a:r>
            <a:r>
              <a:rPr lang="en-US" sz="1100" b="1" dirty="0" smtClean="0"/>
              <a:t> </a:t>
            </a:r>
            <a:r>
              <a:rPr lang="en-US" sz="1100" b="1" dirty="0" smtClean="0"/>
              <a:t>PS2</a:t>
            </a:r>
            <a:endParaRPr lang="en-US" sz="1100" dirty="0" smtClean="0"/>
          </a:p>
          <a:p>
            <a:r>
              <a:rPr lang="en-US" sz="1100" b="1" dirty="0" smtClean="0"/>
              <a:t>3. Europe Closely Follows North America</a:t>
            </a:r>
          </a:p>
          <a:p>
            <a:r>
              <a:rPr lang="en-US" sz="1100" b="1" dirty="0" smtClean="0"/>
              <a:t>4. Japan Shows Platform-Specific Strength</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EDA – Vgames dataset (2)</a:t>
            </a:r>
            <a:endParaRPr lang="en-US" dirty="0"/>
          </a:p>
        </p:txBody>
      </p:sp>
      <p:sp>
        <p:nvSpPr>
          <p:cNvPr id="10" name="Text Placeholder 6"/>
          <p:cNvSpPr txBox="1">
            <a:spLocks/>
          </p:cNvSpPr>
          <p:nvPr/>
        </p:nvSpPr>
        <p:spPr>
          <a:xfrm>
            <a:off x="457200" y="1535113"/>
            <a:ext cx="4040188" cy="261610"/>
          </a:xfrm>
          <a:prstGeom prst="rect">
            <a:avLst/>
          </a:prstGeom>
        </p:spPr>
        <p:txBody>
          <a:bodyPr vert="horz" lIns="91440" tIns="45720" rIns="91440" bIns="45720" rtlCol="0" anchor="b">
            <a:spAutoFit/>
          </a:bodyPr>
          <a:lstStyle/>
          <a:p>
            <a:r>
              <a:rPr lang="en-US" sz="1100" b="1" dirty="0" smtClean="0"/>
              <a:t>16. How has the market evolved by platform over time?</a:t>
            </a:r>
          </a:p>
        </p:txBody>
      </p:sp>
      <p:pic>
        <p:nvPicPr>
          <p:cNvPr id="6146" name="Picture 2"/>
          <p:cNvPicPr>
            <a:picLocks noChangeAspect="1" noChangeArrowheads="1"/>
          </p:cNvPicPr>
          <p:nvPr/>
        </p:nvPicPr>
        <p:blipFill>
          <a:blip r:embed="rId2"/>
          <a:srcRect/>
          <a:stretch>
            <a:fillRect/>
          </a:stretch>
        </p:blipFill>
        <p:spPr bwMode="auto">
          <a:xfrm>
            <a:off x="428628" y="1785926"/>
            <a:ext cx="7715272" cy="2082929"/>
          </a:xfrm>
          <a:prstGeom prst="rect">
            <a:avLst/>
          </a:prstGeom>
          <a:noFill/>
          <a:ln w="9525">
            <a:noFill/>
            <a:miter lim="800000"/>
            <a:headEnd/>
            <a:tailEnd/>
          </a:ln>
          <a:effectLst/>
        </p:spPr>
      </p:pic>
      <p:sp>
        <p:nvSpPr>
          <p:cNvPr id="7" name="TextBox 6"/>
          <p:cNvSpPr txBox="1"/>
          <p:nvPr/>
        </p:nvSpPr>
        <p:spPr>
          <a:xfrm>
            <a:off x="714348" y="3929066"/>
            <a:ext cx="7429552" cy="1277273"/>
          </a:xfrm>
          <a:prstGeom prst="rect">
            <a:avLst/>
          </a:prstGeom>
          <a:noFill/>
        </p:spPr>
        <p:txBody>
          <a:bodyPr wrap="square" rtlCol="0">
            <a:spAutoFit/>
          </a:bodyPr>
          <a:lstStyle/>
          <a:p>
            <a:endParaRPr lang="en-US" sz="1100" b="1" dirty="0" smtClean="0"/>
          </a:p>
          <a:p>
            <a:pPr indent="174625">
              <a:buFont typeface="Arial" pitchFamily="34" charset="0"/>
              <a:buChar char="•"/>
            </a:pPr>
            <a:r>
              <a:rPr lang="en-US" sz="1100" dirty="0" smtClean="0"/>
              <a:t>The number of platforms steadily increased from 1980 to the mid-1990s.</a:t>
            </a:r>
          </a:p>
          <a:p>
            <a:pPr indent="174625">
              <a:buFont typeface="Arial" pitchFamily="34" charset="0"/>
              <a:buChar char="•"/>
            </a:pPr>
            <a:r>
              <a:rPr lang="en-US" sz="1100" dirty="0" smtClean="0"/>
              <a:t>Growth accelerated in the early 2000s, leading to a peak around 2007.</a:t>
            </a:r>
          </a:p>
          <a:p>
            <a:pPr indent="174625">
              <a:buFont typeface="Arial" pitchFamily="34" charset="0"/>
              <a:buChar char="•"/>
            </a:pPr>
            <a:r>
              <a:rPr lang="en-US" sz="1100" dirty="0" smtClean="0"/>
              <a:t>The highest number of platforms occurs in 2007.</a:t>
            </a:r>
          </a:p>
          <a:p>
            <a:pPr indent="174625">
              <a:buFont typeface="Arial" pitchFamily="34" charset="0"/>
              <a:buChar char="•"/>
            </a:pPr>
            <a:r>
              <a:rPr lang="en-US" sz="1100" dirty="0" smtClean="0"/>
              <a:t>After 2007, the trend generally declines with some fluctuations.</a:t>
            </a:r>
          </a:p>
          <a:p>
            <a:pPr indent="174625">
              <a:buFont typeface="Arial" pitchFamily="34" charset="0"/>
              <a:buChar char="•"/>
            </a:pPr>
            <a:r>
              <a:rPr lang="en-US" sz="1100" dirty="0" smtClean="0"/>
              <a:t>A sharp drop is visible after 2016, indicating strong market consolidation.</a:t>
            </a:r>
          </a:p>
          <a:p>
            <a:endParaRPr lang="en-US" sz="1100" b="1" dirty="0" smtClean="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EDA – Vgames dataset (3)</a:t>
            </a:r>
            <a:endParaRPr lang="en-US" dirty="0"/>
          </a:p>
        </p:txBody>
      </p:sp>
      <p:sp>
        <p:nvSpPr>
          <p:cNvPr id="11" name="Text Placeholder 7"/>
          <p:cNvSpPr txBox="1">
            <a:spLocks/>
          </p:cNvSpPr>
          <p:nvPr/>
        </p:nvSpPr>
        <p:spPr>
          <a:xfrm>
            <a:off x="428628" y="1535113"/>
            <a:ext cx="4041775" cy="261610"/>
          </a:xfrm>
          <a:prstGeom prst="rect">
            <a:avLst/>
          </a:prstGeom>
        </p:spPr>
        <p:txBody>
          <a:bodyPr vert="horz" lIns="91440" tIns="45720" rIns="91440" bIns="45720" rtlCol="0" anchor="b">
            <a:spAutoFit/>
          </a:bodyPr>
          <a:lstStyle/>
          <a:p>
            <a:r>
              <a:rPr lang="en-US" sz="1100" b="1" dirty="0" smtClean="0"/>
              <a:t>17.  What are the regional genre preferences?</a:t>
            </a:r>
          </a:p>
        </p:txBody>
      </p:sp>
      <p:pic>
        <p:nvPicPr>
          <p:cNvPr id="6147" name="Picture 3"/>
          <p:cNvPicPr>
            <a:picLocks noChangeAspect="1" noChangeArrowheads="1"/>
          </p:cNvPicPr>
          <p:nvPr/>
        </p:nvPicPr>
        <p:blipFill>
          <a:blip r:embed="rId2"/>
          <a:srcRect/>
          <a:stretch>
            <a:fillRect/>
          </a:stretch>
        </p:blipFill>
        <p:spPr bwMode="auto">
          <a:xfrm>
            <a:off x="428628" y="1994657"/>
            <a:ext cx="7643866" cy="2434475"/>
          </a:xfrm>
          <a:prstGeom prst="rect">
            <a:avLst/>
          </a:prstGeom>
          <a:noFill/>
          <a:ln w="9525">
            <a:noFill/>
            <a:miter lim="800000"/>
            <a:headEnd/>
            <a:tailEnd/>
          </a:ln>
          <a:effectLst/>
        </p:spPr>
      </p:pic>
      <p:sp>
        <p:nvSpPr>
          <p:cNvPr id="8" name="TextBox 7"/>
          <p:cNvSpPr txBox="1"/>
          <p:nvPr/>
        </p:nvSpPr>
        <p:spPr>
          <a:xfrm>
            <a:off x="571472" y="4429132"/>
            <a:ext cx="4143404" cy="1954381"/>
          </a:xfrm>
          <a:prstGeom prst="rect">
            <a:avLst/>
          </a:prstGeom>
          <a:noFill/>
        </p:spPr>
        <p:txBody>
          <a:bodyPr wrap="square" rtlCol="0">
            <a:spAutoFit/>
          </a:bodyPr>
          <a:lstStyle/>
          <a:p>
            <a:r>
              <a:rPr lang="en-US" sz="1100" b="1" dirty="0" smtClean="0"/>
              <a:t>North America Dominates Overall Sales</a:t>
            </a:r>
          </a:p>
          <a:p>
            <a:r>
              <a:rPr lang="en-US" sz="1100" dirty="0" smtClean="0"/>
              <a:t>NA leads in almost every genre.</a:t>
            </a:r>
          </a:p>
          <a:p>
            <a:r>
              <a:rPr lang="en-US" sz="1100" dirty="0" smtClean="0"/>
              <a:t>Especially strong in: Action, Sports, Shooter, Platform</a:t>
            </a:r>
          </a:p>
          <a:p>
            <a:endParaRPr lang="en-US" sz="1100" dirty="0" smtClean="0"/>
          </a:p>
          <a:p>
            <a:r>
              <a:rPr lang="en-US" sz="1100" b="1" dirty="0" smtClean="0"/>
              <a:t>Europe Mirrors North America (But at Lower Scale)</a:t>
            </a:r>
          </a:p>
          <a:p>
            <a:r>
              <a:rPr lang="en-US" sz="1100" dirty="0" smtClean="0"/>
              <a:t>EU follows similar genre patterns to NA.</a:t>
            </a:r>
          </a:p>
          <a:p>
            <a:r>
              <a:rPr lang="en-US" sz="1100" dirty="0" smtClean="0"/>
              <a:t>Strong in: Action,  Sports, Shooter, Racing</a:t>
            </a:r>
          </a:p>
          <a:p>
            <a:endParaRPr lang="en-US" sz="1100" dirty="0" smtClean="0"/>
          </a:p>
          <a:p>
            <a:r>
              <a:rPr lang="en-US" sz="1100" b="1" dirty="0" smtClean="0"/>
              <a:t>Japan Strongly Prefers Role-Playing Games (RPGs)</a:t>
            </a:r>
          </a:p>
          <a:p>
            <a:r>
              <a:rPr lang="en-US" sz="1100" dirty="0" smtClean="0"/>
              <a:t>JP peaks dramatically in </a:t>
            </a:r>
            <a:r>
              <a:rPr lang="en-US" sz="1100" b="1" dirty="0" smtClean="0"/>
              <a:t>Role-Playing</a:t>
            </a:r>
            <a:r>
              <a:rPr lang="en-US" sz="1100" dirty="0" smtClean="0"/>
              <a:t>.</a:t>
            </a:r>
          </a:p>
          <a:p>
            <a:r>
              <a:rPr lang="en-US" sz="1100" dirty="0" smtClean="0"/>
              <a:t>Much weaker in: Shooter, Sports, Simulation</a:t>
            </a:r>
          </a:p>
        </p:txBody>
      </p:sp>
      <p:sp>
        <p:nvSpPr>
          <p:cNvPr id="12" name="Rectangle 11"/>
          <p:cNvSpPr/>
          <p:nvPr/>
        </p:nvSpPr>
        <p:spPr>
          <a:xfrm>
            <a:off x="5286380" y="4500570"/>
            <a:ext cx="3357554" cy="1107996"/>
          </a:xfrm>
          <a:prstGeom prst="rect">
            <a:avLst/>
          </a:prstGeom>
        </p:spPr>
        <p:txBody>
          <a:bodyPr wrap="square">
            <a:spAutoFit/>
          </a:bodyPr>
          <a:lstStyle/>
          <a:p>
            <a:r>
              <a:rPr lang="en-US" sz="1100" b="1" dirty="0" smtClean="0"/>
              <a:t>Overall Market Conclusion</a:t>
            </a:r>
          </a:p>
          <a:p>
            <a:r>
              <a:rPr lang="en-US" sz="1100" b="1" dirty="0" smtClean="0"/>
              <a:t>NA = Largest revenue driver</a:t>
            </a:r>
            <a:endParaRPr lang="en-US" sz="1100" dirty="0" smtClean="0"/>
          </a:p>
          <a:p>
            <a:r>
              <a:rPr lang="en-US" sz="1100" b="1" dirty="0" smtClean="0"/>
              <a:t>EU = Similar to NA but smaller</a:t>
            </a:r>
            <a:endParaRPr lang="en-US" sz="1100" dirty="0" smtClean="0"/>
          </a:p>
          <a:p>
            <a:r>
              <a:rPr lang="en-US" sz="1100" b="1" dirty="0" smtClean="0"/>
              <a:t>JP = Distinct taste profile (RPG-focused)</a:t>
            </a:r>
            <a:endParaRPr lang="en-US" sz="1100" dirty="0" smtClean="0"/>
          </a:p>
          <a:p>
            <a:r>
              <a:rPr lang="en-US" sz="1100" b="1" dirty="0" smtClean="0"/>
              <a:t>Action = Globally dominant genre</a:t>
            </a:r>
            <a:endParaRPr lang="en-US" sz="1100" dirty="0" smtClean="0"/>
          </a:p>
          <a:p>
            <a:r>
              <a:rPr lang="en-US" sz="1100" dirty="0" smtClean="0"/>
              <a:t>Genre success depends heavily on regional culture</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EDA – Vgames dataset (4)</a:t>
            </a:r>
            <a:endParaRPr lang="en-US" dirty="0"/>
          </a:p>
        </p:txBody>
      </p:sp>
      <p:sp>
        <p:nvSpPr>
          <p:cNvPr id="7" name="Text Placeholder 6"/>
          <p:cNvSpPr>
            <a:spLocks noGrp="1"/>
          </p:cNvSpPr>
          <p:nvPr>
            <p:ph type="body" idx="1"/>
          </p:nvPr>
        </p:nvSpPr>
        <p:spPr>
          <a:xfrm>
            <a:off x="457200" y="1535113"/>
            <a:ext cx="4040188" cy="261610"/>
          </a:xfrm>
        </p:spPr>
        <p:txBody>
          <a:bodyPr>
            <a:spAutoFit/>
          </a:bodyPr>
          <a:lstStyle/>
          <a:p>
            <a:r>
              <a:rPr lang="en-US" sz="1100" dirty="0" smtClean="0"/>
              <a:t>18. What’s the yearly sales change per region?</a:t>
            </a:r>
          </a:p>
        </p:txBody>
      </p:sp>
      <p:pic>
        <p:nvPicPr>
          <p:cNvPr id="2050" name="Picture 2"/>
          <p:cNvPicPr>
            <a:picLocks noChangeAspect="1" noChangeArrowheads="1"/>
          </p:cNvPicPr>
          <p:nvPr/>
        </p:nvPicPr>
        <p:blipFill>
          <a:blip r:embed="rId2"/>
          <a:srcRect/>
          <a:stretch>
            <a:fillRect/>
          </a:stretch>
        </p:blipFill>
        <p:spPr bwMode="auto">
          <a:xfrm>
            <a:off x="500034" y="1785927"/>
            <a:ext cx="6357982" cy="1980530"/>
          </a:xfrm>
          <a:prstGeom prst="rect">
            <a:avLst/>
          </a:prstGeom>
          <a:noFill/>
          <a:ln w="9525">
            <a:noFill/>
            <a:miter lim="800000"/>
            <a:headEnd/>
            <a:tailEnd/>
          </a:ln>
          <a:effectLst/>
        </p:spPr>
      </p:pic>
      <p:sp>
        <p:nvSpPr>
          <p:cNvPr id="11" name="TextBox 10"/>
          <p:cNvSpPr txBox="1"/>
          <p:nvPr/>
        </p:nvSpPr>
        <p:spPr>
          <a:xfrm>
            <a:off x="785786" y="3857628"/>
            <a:ext cx="3571900" cy="2800767"/>
          </a:xfrm>
          <a:prstGeom prst="rect">
            <a:avLst/>
          </a:prstGeom>
          <a:noFill/>
        </p:spPr>
        <p:txBody>
          <a:bodyPr wrap="square" rtlCol="0">
            <a:spAutoFit/>
          </a:bodyPr>
          <a:lstStyle/>
          <a:p>
            <a:r>
              <a:rPr lang="en-US" sz="1100" b="1" dirty="0" smtClean="0"/>
              <a:t>Extremely High Volatility in Early Years (1980s–mid 1990s)</a:t>
            </a:r>
          </a:p>
          <a:p>
            <a:r>
              <a:rPr lang="en-US" sz="1100" dirty="0" smtClean="0"/>
              <a:t>Very large spikes (some reaching </a:t>
            </a:r>
            <a:r>
              <a:rPr lang="en-US" sz="1100" b="1" dirty="0" smtClean="0"/>
              <a:t>300–400% growth</a:t>
            </a:r>
            <a:r>
              <a:rPr lang="en-US" sz="1100" dirty="0" smtClean="0"/>
              <a:t>).</a:t>
            </a:r>
          </a:p>
          <a:p>
            <a:r>
              <a:rPr lang="en-US" sz="1100" dirty="0" smtClean="0"/>
              <a:t>Sharp drops immediately after big spikes.</a:t>
            </a:r>
          </a:p>
          <a:p>
            <a:r>
              <a:rPr lang="en-US" sz="1100" b="1" dirty="0" smtClean="0"/>
              <a:t>Peak Expansion Period Around Mid-1990s</a:t>
            </a:r>
          </a:p>
          <a:p>
            <a:r>
              <a:rPr lang="en-US" sz="1100" dirty="0" smtClean="0"/>
              <a:t>Multiple regions show strong synchronized spikes.</a:t>
            </a:r>
          </a:p>
          <a:p>
            <a:r>
              <a:rPr lang="en-US" sz="1100" dirty="0" smtClean="0"/>
              <a:t>NA and EU appear to move closely together.</a:t>
            </a:r>
          </a:p>
          <a:p>
            <a:r>
              <a:rPr lang="en-US" sz="1100" b="1" dirty="0" smtClean="0"/>
              <a:t>Stabilization After Early 2000s</a:t>
            </a:r>
          </a:p>
          <a:p>
            <a:r>
              <a:rPr lang="en-US" sz="1100" dirty="0" smtClean="0"/>
              <a:t>Volatility significantly reduces.</a:t>
            </a:r>
          </a:p>
          <a:p>
            <a:r>
              <a:rPr lang="en-US" sz="1100" dirty="0" smtClean="0"/>
              <a:t>Most YoY changes stay within ±50%.</a:t>
            </a:r>
          </a:p>
          <a:p>
            <a:r>
              <a:rPr lang="en-US" sz="1100" dirty="0" smtClean="0"/>
              <a:t>Movements become more gradual.</a:t>
            </a:r>
          </a:p>
          <a:p>
            <a:r>
              <a:rPr lang="en-US" sz="1100" b="1" dirty="0" smtClean="0"/>
              <a:t>Strong Regional Correlation</a:t>
            </a:r>
          </a:p>
          <a:p>
            <a:r>
              <a:rPr lang="en-US" sz="1100" dirty="0" smtClean="0"/>
              <a:t>NA and EU trends closely mirror each other.</a:t>
            </a:r>
          </a:p>
          <a:p>
            <a:r>
              <a:rPr lang="en-US" sz="1100" dirty="0" smtClean="0"/>
              <a:t>JP appears more moderate and sometimes diverges.</a:t>
            </a:r>
          </a:p>
          <a:p>
            <a:r>
              <a:rPr lang="en-US" sz="1100" dirty="0" smtClean="0"/>
              <a:t>“Other” region shows higher volatility in early years.</a:t>
            </a:r>
          </a:p>
          <a:p>
            <a:endParaRPr lang="en-US" sz="1100" dirty="0" smtClean="0"/>
          </a:p>
          <a:p>
            <a:endParaRPr lang="en-US" sz="1100" dirty="0" smtClean="0"/>
          </a:p>
        </p:txBody>
      </p:sp>
      <p:sp>
        <p:nvSpPr>
          <p:cNvPr id="13" name="TextBox 12"/>
          <p:cNvSpPr txBox="1"/>
          <p:nvPr/>
        </p:nvSpPr>
        <p:spPr>
          <a:xfrm>
            <a:off x="4572000" y="3786190"/>
            <a:ext cx="3571900" cy="1954381"/>
          </a:xfrm>
          <a:prstGeom prst="rect">
            <a:avLst/>
          </a:prstGeom>
          <a:noFill/>
        </p:spPr>
        <p:txBody>
          <a:bodyPr wrap="square" rtlCol="0">
            <a:spAutoFit/>
          </a:bodyPr>
          <a:lstStyle/>
          <a:p>
            <a:r>
              <a:rPr lang="en-US" sz="1100" b="1" dirty="0" smtClean="0"/>
              <a:t>Consistent Decline Around 2016–2018</a:t>
            </a:r>
          </a:p>
          <a:p>
            <a:r>
              <a:rPr lang="en-US" sz="1100" dirty="0" smtClean="0"/>
              <a:t>All regions show synchronized negative growth.</a:t>
            </a:r>
          </a:p>
          <a:p>
            <a:r>
              <a:rPr lang="en-US" sz="1100" dirty="0" smtClean="0"/>
              <a:t>Drop approaches -100% toward the end.</a:t>
            </a:r>
          </a:p>
          <a:p>
            <a:r>
              <a:rPr lang="en-US" sz="1100" b="1" dirty="0" smtClean="0"/>
              <a:t>🔎 Interpretation:</a:t>
            </a:r>
          </a:p>
          <a:p>
            <a:r>
              <a:rPr lang="en-US" sz="1100" dirty="0" smtClean="0"/>
              <a:t>Industry contraction phase.</a:t>
            </a:r>
          </a:p>
          <a:p>
            <a:r>
              <a:rPr lang="en-US" sz="1100" dirty="0" smtClean="0"/>
              <a:t>Possibly transition to digital sales not captured in dataset.</a:t>
            </a:r>
          </a:p>
          <a:p>
            <a:r>
              <a:rPr lang="en-US" sz="1100" dirty="0" smtClean="0"/>
              <a:t>Or dataset ends and trailing years have incomplete data.</a:t>
            </a:r>
          </a:p>
          <a:p>
            <a:endParaRPr lang="en-US" sz="1100" dirty="0" smtClean="0"/>
          </a:p>
          <a:p>
            <a:r>
              <a:rPr lang="en-US" sz="1100" dirty="0" smtClean="0"/>
              <a:t>Western markets behave similarly.</a:t>
            </a:r>
          </a:p>
          <a:p>
            <a:r>
              <a:rPr lang="en-US" sz="1100" dirty="0" smtClean="0"/>
              <a:t>Japan may have different consumer behavior or platform preferences.</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EDA – Vgames dataset (5)</a:t>
            </a:r>
            <a:endParaRPr lang="en-US" dirty="0"/>
          </a:p>
        </p:txBody>
      </p:sp>
      <p:sp>
        <p:nvSpPr>
          <p:cNvPr id="8" name="Text Placeholder 7"/>
          <p:cNvSpPr>
            <a:spLocks noGrp="1"/>
          </p:cNvSpPr>
          <p:nvPr>
            <p:ph type="body" sz="quarter" idx="3"/>
          </p:nvPr>
        </p:nvSpPr>
        <p:spPr>
          <a:xfrm>
            <a:off x="428596" y="1538954"/>
            <a:ext cx="4041775" cy="261610"/>
          </a:xfrm>
        </p:spPr>
        <p:txBody>
          <a:bodyPr>
            <a:spAutoFit/>
          </a:bodyPr>
          <a:lstStyle/>
          <a:p>
            <a:r>
              <a:rPr lang="en-US" sz="1100" dirty="0" smtClean="0"/>
              <a:t>19. What is the average sales per publisher?</a:t>
            </a:r>
          </a:p>
        </p:txBody>
      </p:sp>
      <p:sp>
        <p:nvSpPr>
          <p:cNvPr id="10" name="Text Placeholder 6"/>
          <p:cNvSpPr txBox="1">
            <a:spLocks/>
          </p:cNvSpPr>
          <p:nvPr/>
        </p:nvSpPr>
        <p:spPr>
          <a:xfrm>
            <a:off x="4500562" y="1500174"/>
            <a:ext cx="4040188" cy="261610"/>
          </a:xfrm>
          <a:prstGeom prst="rect">
            <a:avLst/>
          </a:prstGeom>
        </p:spPr>
        <p:txBody>
          <a:bodyPr vert="horz" lIns="91440" tIns="45720" rIns="91440" bIns="45720" rtlCol="0" anchor="b">
            <a:spAutoFit/>
          </a:bodyPr>
          <a:lstStyle/>
          <a:p>
            <a:r>
              <a:rPr lang="en-US" sz="1100" b="1" dirty="0" smtClean="0"/>
              <a:t>20. What are the top 5 best-selling games per platform?</a:t>
            </a:r>
          </a:p>
        </p:txBody>
      </p:sp>
      <p:pic>
        <p:nvPicPr>
          <p:cNvPr id="5122" name="Picture 2"/>
          <p:cNvPicPr>
            <a:picLocks noChangeAspect="1" noChangeArrowheads="1"/>
          </p:cNvPicPr>
          <p:nvPr/>
        </p:nvPicPr>
        <p:blipFill>
          <a:blip r:embed="rId2"/>
          <a:srcRect/>
          <a:stretch>
            <a:fillRect/>
          </a:stretch>
        </p:blipFill>
        <p:spPr bwMode="auto">
          <a:xfrm>
            <a:off x="500034" y="1789767"/>
            <a:ext cx="2847975" cy="2076450"/>
          </a:xfrm>
          <a:prstGeom prst="rect">
            <a:avLst/>
          </a:prstGeom>
          <a:noFill/>
          <a:ln w="9525">
            <a:noFill/>
            <a:miter lim="800000"/>
            <a:headEnd/>
            <a:tailEnd/>
          </a:ln>
          <a:effectLst/>
        </p:spPr>
      </p:pic>
      <p:pic>
        <p:nvPicPr>
          <p:cNvPr id="5124" name="Picture 4"/>
          <p:cNvPicPr>
            <a:picLocks noChangeAspect="1" noChangeArrowheads="1"/>
          </p:cNvPicPr>
          <p:nvPr/>
        </p:nvPicPr>
        <p:blipFill>
          <a:blip r:embed="rId3"/>
          <a:srcRect/>
          <a:stretch>
            <a:fillRect/>
          </a:stretch>
        </p:blipFill>
        <p:spPr bwMode="auto">
          <a:xfrm>
            <a:off x="4543396" y="1770022"/>
            <a:ext cx="2786082" cy="2142577"/>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Merging data and Cleaning</a:t>
            </a:r>
            <a:endParaRPr lang="en-US" dirty="0"/>
          </a:p>
        </p:txBody>
      </p:sp>
      <p:sp>
        <p:nvSpPr>
          <p:cNvPr id="3" name="Content Placeholder 2"/>
          <p:cNvSpPr>
            <a:spLocks noGrp="1"/>
          </p:cNvSpPr>
          <p:nvPr>
            <p:ph idx="1"/>
          </p:nvPr>
        </p:nvSpPr>
        <p:spPr/>
        <p:txBody>
          <a:bodyPr>
            <a:normAutofit fontScale="55000" lnSpcReduction="20000"/>
          </a:bodyPr>
          <a:lstStyle/>
          <a:p>
            <a:r>
              <a:rPr lang="en-US" dirty="0" smtClean="0"/>
              <a:t>Joined df1 and df2 on </a:t>
            </a:r>
            <a:r>
              <a:rPr lang="en-US" b="1" dirty="0" smtClean="0"/>
              <a:t>Title</a:t>
            </a:r>
            <a:r>
              <a:rPr lang="en-US" dirty="0" smtClean="0"/>
              <a:t> and </a:t>
            </a:r>
            <a:r>
              <a:rPr lang="en-US" b="1" dirty="0" smtClean="0"/>
              <a:t>name</a:t>
            </a:r>
            <a:r>
              <a:rPr lang="en-US" dirty="0" smtClean="0"/>
              <a:t> using </a:t>
            </a:r>
            <a:r>
              <a:rPr lang="en-US" b="1" dirty="0" smtClean="0"/>
              <a:t>Inner join </a:t>
            </a:r>
            <a:r>
              <a:rPr lang="en-US" dirty="0" smtClean="0"/>
              <a:t>and named it as </a:t>
            </a:r>
            <a:r>
              <a:rPr lang="en-US" b="1" dirty="0" smtClean="0"/>
              <a:t>df3</a:t>
            </a:r>
          </a:p>
          <a:p>
            <a:r>
              <a:rPr lang="en-US" b="1" dirty="0" smtClean="0"/>
              <a:t>Df3.shape – (3829 ,23)</a:t>
            </a:r>
          </a:p>
          <a:p>
            <a:r>
              <a:rPr lang="en-US" dirty="0" smtClean="0"/>
              <a:t>Replaced 'unknown‘ values in </a:t>
            </a:r>
            <a:r>
              <a:rPr lang="en-US" b="1" dirty="0" smtClean="0"/>
              <a:t>publisher</a:t>
            </a:r>
            <a:r>
              <a:rPr lang="en-US" dirty="0" smtClean="0"/>
              <a:t> with the value from </a:t>
            </a:r>
            <a:r>
              <a:rPr lang="en-US" b="1" dirty="0" smtClean="0"/>
              <a:t>team</a:t>
            </a:r>
            <a:r>
              <a:rPr lang="en-US" dirty="0" smtClean="0"/>
              <a:t> column</a:t>
            </a:r>
          </a:p>
          <a:p>
            <a:r>
              <a:rPr lang="en-US" dirty="0" smtClean="0"/>
              <a:t>We have 4 different titles with unknown publisher which contains 24 rows</a:t>
            </a:r>
          </a:p>
          <a:p>
            <a:r>
              <a:rPr lang="en-US" dirty="0" smtClean="0"/>
              <a:t>In Team column we had publisher and developer combined so if we know the publisher for 4 games we can remove rows with developer</a:t>
            </a:r>
          </a:p>
          <a:p>
            <a:r>
              <a:rPr lang="en-US" dirty="0" smtClean="0"/>
              <a:t>Based on those 4 titles we know that ["NIS America","Atlus USA","Sonic Team","Headup Games"] are developers so I dropped rows where team is </a:t>
            </a:r>
            <a:r>
              <a:rPr lang="en-US" dirty="0" smtClean="0"/>
              <a:t>["</a:t>
            </a:r>
            <a:r>
              <a:rPr lang="en-US" dirty="0" smtClean="0"/>
              <a:t>NIS America","Atlus USA","Sonic Team","Headup Games"] </a:t>
            </a:r>
          </a:p>
          <a:p>
            <a:r>
              <a:rPr lang="en-US" dirty="0" smtClean="0"/>
              <a:t>Combining </a:t>
            </a:r>
            <a:r>
              <a:rPr lang="en-US" dirty="0" smtClean="0"/>
              <a:t>2 genre column using  ‘,’</a:t>
            </a:r>
          </a:p>
          <a:p>
            <a:r>
              <a:rPr lang="en-US" dirty="0" smtClean="0"/>
              <a:t>Created new dataset df4 with required columns (3704)</a:t>
            </a:r>
          </a:p>
          <a:p>
            <a:r>
              <a:rPr lang="en-US" dirty="0" smtClean="0"/>
              <a:t>Exploding genre_combined column</a:t>
            </a:r>
          </a:p>
          <a:p>
            <a:r>
              <a:rPr lang="en-US" dirty="0" smtClean="0"/>
              <a:t>Stripping spaces after exploding</a:t>
            </a:r>
          </a:p>
          <a:p>
            <a:r>
              <a:rPr lang="en-US" dirty="0" smtClean="0"/>
              <a:t>Removing </a:t>
            </a:r>
            <a:r>
              <a:rPr lang="en-US" dirty="0" smtClean="0"/>
              <a:t>duplicates </a:t>
            </a:r>
            <a:endParaRPr lang="en-US" dirty="0" smtClean="0"/>
          </a:p>
          <a:p>
            <a:r>
              <a:rPr lang="en-US" dirty="0" smtClean="0"/>
              <a:t>Df4 shape – (2228,17</a:t>
            </a:r>
            <a:r>
              <a:rPr lang="en-US" dirty="0" smtClean="0"/>
              <a:t>)</a:t>
            </a:r>
          </a:p>
          <a:p>
            <a:r>
              <a:rPr lang="en-US" dirty="0" smtClean="0"/>
              <a:t>In SQL – (2321,17)</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EDA Merged data</a:t>
            </a:r>
            <a:endParaRPr lang="en-US" dirty="0"/>
          </a:p>
        </p:txBody>
      </p:sp>
      <p:sp>
        <p:nvSpPr>
          <p:cNvPr id="7" name="Text Placeholder 6"/>
          <p:cNvSpPr>
            <a:spLocks noGrp="1"/>
          </p:cNvSpPr>
          <p:nvPr>
            <p:ph type="body" idx="1"/>
          </p:nvPr>
        </p:nvSpPr>
        <p:spPr>
          <a:xfrm>
            <a:off x="457200" y="1535113"/>
            <a:ext cx="4040188" cy="261610"/>
          </a:xfrm>
        </p:spPr>
        <p:txBody>
          <a:bodyPr>
            <a:spAutoFit/>
          </a:bodyPr>
          <a:lstStyle/>
          <a:p>
            <a:r>
              <a:rPr lang="en-US" sz="1100" dirty="0" smtClean="0"/>
              <a:t>21. Which game genres generate the most global sales?</a:t>
            </a:r>
          </a:p>
        </p:txBody>
      </p:sp>
      <p:sp>
        <p:nvSpPr>
          <p:cNvPr id="10" name="Text Placeholder 6"/>
          <p:cNvSpPr txBox="1">
            <a:spLocks/>
          </p:cNvSpPr>
          <p:nvPr/>
        </p:nvSpPr>
        <p:spPr>
          <a:xfrm>
            <a:off x="457200" y="3714752"/>
            <a:ext cx="4614866" cy="261610"/>
          </a:xfrm>
          <a:prstGeom prst="rect">
            <a:avLst/>
          </a:prstGeom>
        </p:spPr>
        <p:txBody>
          <a:bodyPr vert="horz" wrap="square" lIns="91440" tIns="45720" rIns="91440" bIns="45720" rtlCol="0" anchor="b">
            <a:spAutoFit/>
          </a:bodyPr>
          <a:lstStyle/>
          <a:p>
            <a:r>
              <a:rPr lang="en-US" sz="1100" b="1" dirty="0" smtClean="0"/>
              <a:t>23.Which platforms have the most games with high ratings (e.g., above 4)?</a:t>
            </a:r>
          </a:p>
        </p:txBody>
      </p:sp>
      <p:pic>
        <p:nvPicPr>
          <p:cNvPr id="7170" name="Picture 2"/>
          <p:cNvPicPr>
            <a:picLocks noChangeAspect="1" noChangeArrowheads="1"/>
          </p:cNvPicPr>
          <p:nvPr/>
        </p:nvPicPr>
        <p:blipFill>
          <a:blip r:embed="rId2"/>
          <a:srcRect/>
          <a:stretch>
            <a:fillRect/>
          </a:stretch>
        </p:blipFill>
        <p:spPr bwMode="auto">
          <a:xfrm>
            <a:off x="571472" y="1785926"/>
            <a:ext cx="1143008" cy="1799909"/>
          </a:xfrm>
          <a:prstGeom prst="rect">
            <a:avLst/>
          </a:prstGeom>
          <a:noFill/>
          <a:ln w="9525">
            <a:noFill/>
            <a:miter lim="800000"/>
            <a:headEnd/>
            <a:tailEnd/>
          </a:ln>
          <a:effectLst/>
        </p:spPr>
      </p:pic>
      <p:pic>
        <p:nvPicPr>
          <p:cNvPr id="7174" name="Picture 6"/>
          <p:cNvPicPr>
            <a:picLocks noChangeAspect="1" noChangeArrowheads="1"/>
          </p:cNvPicPr>
          <p:nvPr/>
        </p:nvPicPr>
        <p:blipFill>
          <a:blip r:embed="rId3"/>
          <a:srcRect/>
          <a:stretch>
            <a:fillRect/>
          </a:stretch>
        </p:blipFill>
        <p:spPr bwMode="auto">
          <a:xfrm>
            <a:off x="500034" y="4001954"/>
            <a:ext cx="7358114" cy="2340101"/>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EDA Merged data</a:t>
            </a:r>
            <a:endParaRPr lang="en-US" dirty="0"/>
          </a:p>
        </p:txBody>
      </p:sp>
      <p:sp>
        <p:nvSpPr>
          <p:cNvPr id="8" name="Text Placeholder 7"/>
          <p:cNvSpPr>
            <a:spLocks noGrp="1"/>
          </p:cNvSpPr>
          <p:nvPr>
            <p:ph type="body" sz="quarter" idx="3"/>
          </p:nvPr>
        </p:nvSpPr>
        <p:spPr>
          <a:xfrm>
            <a:off x="457200" y="1535113"/>
            <a:ext cx="4041775" cy="261610"/>
          </a:xfrm>
        </p:spPr>
        <p:txBody>
          <a:bodyPr>
            <a:spAutoFit/>
          </a:bodyPr>
          <a:lstStyle/>
          <a:p>
            <a:r>
              <a:rPr lang="en-US" sz="1100" dirty="0" smtClean="0"/>
              <a:t>22. How does user rating affect global sales?</a:t>
            </a:r>
          </a:p>
        </p:txBody>
      </p:sp>
      <p:pic>
        <p:nvPicPr>
          <p:cNvPr id="7173" name="Picture 5"/>
          <p:cNvPicPr>
            <a:picLocks noChangeAspect="1" noChangeArrowheads="1"/>
          </p:cNvPicPr>
          <p:nvPr/>
        </p:nvPicPr>
        <p:blipFill>
          <a:blip r:embed="rId2" cstate="print"/>
          <a:srcRect/>
          <a:stretch>
            <a:fillRect/>
          </a:stretch>
        </p:blipFill>
        <p:spPr bwMode="auto">
          <a:xfrm>
            <a:off x="457200" y="2000240"/>
            <a:ext cx="5757874" cy="1827436"/>
          </a:xfrm>
          <a:prstGeom prst="rect">
            <a:avLst/>
          </a:prstGeom>
          <a:noFill/>
          <a:ln w="9525">
            <a:noFill/>
            <a:miter lim="800000"/>
            <a:headEnd/>
            <a:tailEnd/>
          </a:ln>
          <a:effectLst/>
        </p:spPr>
      </p:pic>
      <p:sp>
        <p:nvSpPr>
          <p:cNvPr id="9" name="TextBox 8"/>
          <p:cNvSpPr txBox="1"/>
          <p:nvPr/>
        </p:nvSpPr>
        <p:spPr>
          <a:xfrm>
            <a:off x="6429388" y="4071942"/>
            <a:ext cx="2428892" cy="1615827"/>
          </a:xfrm>
          <a:prstGeom prst="rect">
            <a:avLst/>
          </a:prstGeom>
          <a:noFill/>
        </p:spPr>
        <p:txBody>
          <a:bodyPr wrap="square" rtlCol="0">
            <a:spAutoFit/>
          </a:bodyPr>
          <a:lstStyle/>
          <a:p>
            <a:r>
              <a:rPr lang="en-US" sz="1100" b="1" dirty="0" smtClean="0"/>
              <a:t>High Rating ≠ Guaranteed High Sales</a:t>
            </a:r>
          </a:p>
          <a:p>
            <a:r>
              <a:rPr lang="en-US" sz="1100" dirty="0" smtClean="0"/>
              <a:t>Many games rated 4+ still have low sales.</a:t>
            </a:r>
            <a:br>
              <a:rPr lang="en-US" sz="1100" dirty="0" smtClean="0"/>
            </a:br>
            <a:r>
              <a:rPr lang="en-US" sz="1100" b="1" dirty="0" smtClean="0"/>
              <a:t>Low Ratings Rarely Become Best Sellers</a:t>
            </a:r>
          </a:p>
          <a:p>
            <a:r>
              <a:rPr lang="en-US" sz="1100" dirty="0" smtClean="0"/>
              <a:t>Very low-rated games (&lt;2) almost never reach high sales, suggesting poor quality limits extreme commercial success.</a:t>
            </a:r>
          </a:p>
        </p:txBody>
      </p:sp>
      <p:pic>
        <p:nvPicPr>
          <p:cNvPr id="7169" name="Picture 1"/>
          <p:cNvPicPr>
            <a:picLocks noChangeAspect="1" noChangeArrowheads="1"/>
          </p:cNvPicPr>
          <p:nvPr/>
        </p:nvPicPr>
        <p:blipFill>
          <a:blip r:embed="rId3"/>
          <a:srcRect/>
          <a:stretch>
            <a:fillRect/>
          </a:stretch>
        </p:blipFill>
        <p:spPr bwMode="auto">
          <a:xfrm>
            <a:off x="357158" y="4000504"/>
            <a:ext cx="5976980" cy="1887467"/>
          </a:xfrm>
          <a:prstGeom prst="rect">
            <a:avLst/>
          </a:prstGeom>
          <a:noFill/>
          <a:ln w="9525">
            <a:noFill/>
            <a:miter lim="800000"/>
            <a:headEnd/>
            <a:tailEnd/>
          </a:ln>
          <a:effectLst/>
        </p:spPr>
      </p:pic>
      <p:sp>
        <p:nvSpPr>
          <p:cNvPr id="11" name="TextBox 10"/>
          <p:cNvSpPr txBox="1"/>
          <p:nvPr/>
        </p:nvSpPr>
        <p:spPr>
          <a:xfrm>
            <a:off x="6286512" y="2000240"/>
            <a:ext cx="2714644" cy="1615827"/>
          </a:xfrm>
          <a:prstGeom prst="rect">
            <a:avLst/>
          </a:prstGeom>
          <a:noFill/>
        </p:spPr>
        <p:txBody>
          <a:bodyPr wrap="square" rtlCol="0">
            <a:spAutoFit/>
          </a:bodyPr>
          <a:lstStyle/>
          <a:p>
            <a:r>
              <a:rPr lang="en-US" sz="1100" b="1" dirty="0" smtClean="0"/>
              <a:t>Weak Positive Correlation</a:t>
            </a:r>
          </a:p>
          <a:p>
            <a:r>
              <a:rPr lang="en-US" sz="1100" dirty="0" smtClean="0"/>
              <a:t>There is a </a:t>
            </a:r>
            <a:r>
              <a:rPr lang="en-US" sz="1100" b="1" dirty="0" smtClean="0"/>
              <a:t>slight upward trend</a:t>
            </a:r>
            <a:r>
              <a:rPr lang="en-US" sz="1100" dirty="0" smtClean="0"/>
              <a:t>, meaning higher-rated games tend to sell more — but the relationship is weak. Rating alone does not strongly predict sales.</a:t>
            </a:r>
          </a:p>
          <a:p>
            <a:r>
              <a:rPr lang="en-US" sz="1100" b="1" dirty="0" smtClean="0"/>
              <a:t>Sales Are Highly Skewed</a:t>
            </a:r>
          </a:p>
          <a:p>
            <a:r>
              <a:rPr lang="en-US" sz="1100" dirty="0" smtClean="0"/>
              <a:t>Most games:</a:t>
            </a:r>
          </a:p>
          <a:p>
            <a:r>
              <a:rPr lang="en-US" sz="1100" dirty="0" smtClean="0"/>
              <a:t>Sell under ~5 million units</a:t>
            </a:r>
          </a:p>
          <a:p>
            <a:r>
              <a:rPr lang="en-US" sz="1100" dirty="0" smtClean="0"/>
              <a:t>Have ratings between 3–4.5</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EDA Merged data (1)</a:t>
            </a:r>
            <a:endParaRPr lang="en-US" dirty="0"/>
          </a:p>
        </p:txBody>
      </p:sp>
      <p:sp>
        <p:nvSpPr>
          <p:cNvPr id="7" name="Text Placeholder 6"/>
          <p:cNvSpPr>
            <a:spLocks noGrp="1"/>
          </p:cNvSpPr>
          <p:nvPr>
            <p:ph type="body" idx="1"/>
          </p:nvPr>
        </p:nvSpPr>
        <p:spPr>
          <a:xfrm>
            <a:off x="457200" y="1535113"/>
            <a:ext cx="4040188" cy="261610"/>
          </a:xfrm>
        </p:spPr>
        <p:txBody>
          <a:bodyPr>
            <a:spAutoFit/>
          </a:bodyPr>
          <a:lstStyle/>
          <a:p>
            <a:r>
              <a:rPr lang="en-US" sz="1100" dirty="0" smtClean="0"/>
              <a:t>24. What’s the trend of releases and sales over time?</a:t>
            </a:r>
          </a:p>
        </p:txBody>
      </p:sp>
      <p:sp>
        <p:nvSpPr>
          <p:cNvPr id="8" name="TextBox 7"/>
          <p:cNvSpPr txBox="1"/>
          <p:nvPr/>
        </p:nvSpPr>
        <p:spPr>
          <a:xfrm>
            <a:off x="857224" y="4429132"/>
            <a:ext cx="7215238" cy="1277273"/>
          </a:xfrm>
          <a:prstGeom prst="rect">
            <a:avLst/>
          </a:prstGeom>
          <a:noFill/>
        </p:spPr>
        <p:txBody>
          <a:bodyPr wrap="square" rtlCol="0">
            <a:spAutoFit/>
          </a:bodyPr>
          <a:lstStyle/>
          <a:p>
            <a:r>
              <a:rPr lang="en-US" sz="1100" b="1" dirty="0" smtClean="0"/>
              <a:t>Strong growth and peak in late 2000s–early 2010s:</a:t>
            </a:r>
            <a:r>
              <a:rPr lang="en-US" sz="1100" dirty="0" smtClean="0"/>
              <a:t> Both global sales and the number of games released increased significantly from the mid-1990s, peaking around 2008–2012. Global sales show sharper spikes than releases, indicating a few blockbuster years drove disproportionately high revenue.</a:t>
            </a:r>
          </a:p>
          <a:p>
            <a:r>
              <a:rPr lang="en-US" sz="1100" b="1" dirty="0" smtClean="0"/>
              <a:t>Sharp decline after 2012:</a:t>
            </a:r>
            <a:r>
              <a:rPr lang="en-US" sz="1100" dirty="0" smtClean="0"/>
              <a:t> Following the peak, both metrics dropped noticeably, with global sales falling more steeply than the number of releases. This suggests reduced overall market revenue despite continued game production, possibly due to market saturation or industry shifts (e.g., digital/mobile transitions).</a:t>
            </a:r>
          </a:p>
          <a:p>
            <a:endParaRPr lang="en-US" sz="1100" dirty="0"/>
          </a:p>
        </p:txBody>
      </p:sp>
      <p:pic>
        <p:nvPicPr>
          <p:cNvPr id="6145" name="Picture 1"/>
          <p:cNvPicPr>
            <a:picLocks noChangeAspect="1" noChangeArrowheads="1"/>
          </p:cNvPicPr>
          <p:nvPr/>
        </p:nvPicPr>
        <p:blipFill>
          <a:blip r:embed="rId2"/>
          <a:srcRect/>
          <a:stretch>
            <a:fillRect/>
          </a:stretch>
        </p:blipFill>
        <p:spPr bwMode="auto">
          <a:xfrm>
            <a:off x="428628" y="1807857"/>
            <a:ext cx="7858148" cy="2424462"/>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EDA Merged data </a:t>
            </a:r>
            <a:r>
              <a:rPr lang="en-US" dirty="0" smtClean="0"/>
              <a:t>(2)</a:t>
            </a:r>
            <a:endParaRPr lang="en-US" dirty="0"/>
          </a:p>
        </p:txBody>
      </p:sp>
      <p:sp>
        <p:nvSpPr>
          <p:cNvPr id="10" name="Text Placeholder 6"/>
          <p:cNvSpPr txBox="1">
            <a:spLocks/>
          </p:cNvSpPr>
          <p:nvPr/>
        </p:nvSpPr>
        <p:spPr>
          <a:xfrm>
            <a:off x="457200" y="1535113"/>
            <a:ext cx="4040188" cy="261610"/>
          </a:xfrm>
          <a:prstGeom prst="rect">
            <a:avLst/>
          </a:prstGeom>
        </p:spPr>
        <p:txBody>
          <a:bodyPr vert="horz" lIns="91440" tIns="45720" rIns="91440" bIns="45720" rtlCol="0" anchor="b">
            <a:spAutoFit/>
          </a:bodyPr>
          <a:lstStyle/>
          <a:p>
            <a:r>
              <a:rPr lang="en-US" sz="1100" b="1" dirty="0" smtClean="0"/>
              <a:t>25. Do highly wishlisted games lead to more sales?</a:t>
            </a:r>
          </a:p>
        </p:txBody>
      </p:sp>
      <p:pic>
        <p:nvPicPr>
          <p:cNvPr id="8195" name="Picture 3"/>
          <p:cNvPicPr>
            <a:picLocks noChangeAspect="1" noChangeArrowheads="1"/>
          </p:cNvPicPr>
          <p:nvPr/>
        </p:nvPicPr>
        <p:blipFill>
          <a:blip r:embed="rId2"/>
          <a:srcRect/>
          <a:stretch>
            <a:fillRect/>
          </a:stretch>
        </p:blipFill>
        <p:spPr bwMode="auto">
          <a:xfrm>
            <a:off x="500034" y="1857364"/>
            <a:ext cx="7831766" cy="2357454"/>
          </a:xfrm>
          <a:prstGeom prst="rect">
            <a:avLst/>
          </a:prstGeom>
          <a:noFill/>
          <a:ln w="9525">
            <a:noFill/>
            <a:miter lim="800000"/>
            <a:headEnd/>
            <a:tailEnd/>
          </a:ln>
          <a:effectLst/>
        </p:spPr>
      </p:pic>
      <p:sp>
        <p:nvSpPr>
          <p:cNvPr id="11" name="TextBox 10"/>
          <p:cNvSpPr txBox="1"/>
          <p:nvPr/>
        </p:nvSpPr>
        <p:spPr>
          <a:xfrm>
            <a:off x="357158" y="4500570"/>
            <a:ext cx="8501122" cy="1107996"/>
          </a:xfrm>
          <a:prstGeom prst="rect">
            <a:avLst/>
          </a:prstGeom>
          <a:noFill/>
        </p:spPr>
        <p:txBody>
          <a:bodyPr wrap="square" rtlCol="0">
            <a:spAutoFit/>
          </a:bodyPr>
          <a:lstStyle/>
          <a:p>
            <a:r>
              <a:rPr lang="en-US" sz="1100" b="1" dirty="0" smtClean="0"/>
              <a:t>Higher wishlist doesn’t always mean higher sales:</a:t>
            </a:r>
            <a:r>
              <a:rPr lang="en-US" sz="1100" dirty="0" smtClean="0"/>
              <a:t> Although </a:t>
            </a:r>
            <a:r>
              <a:rPr lang="en-US" sz="1100" b="1" dirty="0" smtClean="0"/>
              <a:t>Dark Souls III</a:t>
            </a:r>
            <a:r>
              <a:rPr lang="en-US" sz="1100" dirty="0" smtClean="0"/>
              <a:t> has the highest wishlist count (~6600), its global sales (~2M) are lower than </a:t>
            </a:r>
            <a:r>
              <a:rPr lang="en-US" sz="1100" b="1" dirty="0" smtClean="0"/>
              <a:t>God of War</a:t>
            </a:r>
            <a:r>
              <a:rPr lang="en-US" sz="1100" dirty="0" smtClean="0"/>
              <a:t>, which has fewer wishlists (~2600) but the highest sales (~4.5M). This suggests strong brand power and broader market appeal can outperform pre-release interest.</a:t>
            </a:r>
          </a:p>
          <a:p>
            <a:r>
              <a:rPr lang="en-US" sz="1100" b="1" dirty="0" smtClean="0"/>
              <a:t>Strong alignment in some cases:</a:t>
            </a:r>
            <a:r>
              <a:rPr lang="en-US" sz="1100" dirty="0" smtClean="0"/>
              <a:t> </a:t>
            </a:r>
            <a:r>
              <a:rPr lang="en-US" sz="1100" b="1" dirty="0" smtClean="0"/>
              <a:t>Chrono Trigger</a:t>
            </a:r>
            <a:r>
              <a:rPr lang="en-US" sz="1100" dirty="0" smtClean="0"/>
              <a:t> shows both relatively high wishlist (~4400) and strong sales (~4M), indicating that for certain titles, higher consumer anticipation closely translates into higher global sales.</a:t>
            </a:r>
          </a:p>
          <a:p>
            <a:endParaRPr lang="en-US" sz="1100"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EDA Merged data </a:t>
            </a:r>
            <a:r>
              <a:rPr lang="en-US" dirty="0" smtClean="0"/>
              <a:t>(3)</a:t>
            </a:r>
            <a:endParaRPr lang="en-US" dirty="0"/>
          </a:p>
        </p:txBody>
      </p:sp>
      <p:sp>
        <p:nvSpPr>
          <p:cNvPr id="7" name="Text Placeholder 6"/>
          <p:cNvSpPr>
            <a:spLocks noGrp="1"/>
          </p:cNvSpPr>
          <p:nvPr>
            <p:ph type="body" idx="1"/>
          </p:nvPr>
        </p:nvSpPr>
        <p:spPr>
          <a:xfrm>
            <a:off x="457200" y="1535113"/>
            <a:ext cx="4400552" cy="261610"/>
          </a:xfrm>
        </p:spPr>
        <p:txBody>
          <a:bodyPr wrap="square">
            <a:spAutoFit/>
          </a:bodyPr>
          <a:lstStyle/>
          <a:p>
            <a:r>
              <a:rPr lang="en-US" sz="1100" dirty="0" smtClean="0"/>
              <a:t> 26. Which genres have the highest engagement but lowest sales</a:t>
            </a:r>
          </a:p>
        </p:txBody>
      </p:sp>
      <p:sp>
        <p:nvSpPr>
          <p:cNvPr id="10" name="Text Placeholder 6"/>
          <p:cNvSpPr txBox="1">
            <a:spLocks/>
          </p:cNvSpPr>
          <p:nvPr/>
        </p:nvSpPr>
        <p:spPr>
          <a:xfrm>
            <a:off x="4857752" y="1582761"/>
            <a:ext cx="4227439" cy="246221"/>
          </a:xfrm>
          <a:prstGeom prst="rect">
            <a:avLst/>
          </a:prstGeom>
        </p:spPr>
        <p:txBody>
          <a:bodyPr vert="horz" wrap="none" lIns="91440" tIns="45720" rIns="91440" bIns="45720" rtlCol="0" anchor="b">
            <a:spAutoFit/>
          </a:bodyPr>
          <a:lstStyle/>
          <a:p>
            <a:r>
              <a:rPr lang="en-US" sz="1000" b="1" dirty="0" smtClean="0"/>
              <a:t> 27. Do highly listed games (wishlist/backlogs) correlate with better ratings?</a:t>
            </a:r>
          </a:p>
        </p:txBody>
      </p:sp>
      <p:pic>
        <p:nvPicPr>
          <p:cNvPr id="9219" name="Picture 3"/>
          <p:cNvPicPr>
            <a:picLocks noChangeAspect="1" noChangeArrowheads="1"/>
          </p:cNvPicPr>
          <p:nvPr/>
        </p:nvPicPr>
        <p:blipFill>
          <a:blip r:embed="rId2"/>
          <a:srcRect/>
          <a:stretch>
            <a:fillRect/>
          </a:stretch>
        </p:blipFill>
        <p:spPr bwMode="auto">
          <a:xfrm>
            <a:off x="5286380" y="1995486"/>
            <a:ext cx="2276475" cy="1219200"/>
          </a:xfrm>
          <a:prstGeom prst="rect">
            <a:avLst/>
          </a:prstGeom>
          <a:noFill/>
          <a:ln w="9525">
            <a:noFill/>
            <a:miter lim="800000"/>
            <a:headEnd/>
            <a:tailEnd/>
          </a:ln>
          <a:effectLst/>
        </p:spPr>
      </p:pic>
      <p:sp>
        <p:nvSpPr>
          <p:cNvPr id="9" name="TextBox 8"/>
          <p:cNvSpPr txBox="1"/>
          <p:nvPr/>
        </p:nvSpPr>
        <p:spPr>
          <a:xfrm>
            <a:off x="5143504" y="3313371"/>
            <a:ext cx="3571900" cy="2123658"/>
          </a:xfrm>
          <a:prstGeom prst="rect">
            <a:avLst/>
          </a:prstGeom>
          <a:noFill/>
        </p:spPr>
        <p:txBody>
          <a:bodyPr wrap="square" rtlCol="0">
            <a:spAutoFit/>
          </a:bodyPr>
          <a:lstStyle/>
          <a:p>
            <a:r>
              <a:rPr lang="en-US" sz="1100" dirty="0" smtClean="0"/>
              <a:t>A </a:t>
            </a:r>
            <a:r>
              <a:rPr lang="en-US" sz="1100" b="1" dirty="0" smtClean="0"/>
              <a:t>moderate, positive, linear relationship</a:t>
            </a:r>
            <a:r>
              <a:rPr lang="en-US" sz="1100" dirty="0" smtClean="0"/>
              <a:t> between two variables. </a:t>
            </a:r>
          </a:p>
          <a:p>
            <a:endParaRPr lang="en-US" sz="1100" dirty="0" smtClean="0"/>
          </a:p>
          <a:p>
            <a:r>
              <a:rPr lang="en-US" sz="1100" dirty="0" smtClean="0"/>
              <a:t>A correlation of </a:t>
            </a:r>
            <a:r>
              <a:rPr lang="en-US" sz="1100" b="1" dirty="0" smtClean="0"/>
              <a:t>0.59</a:t>
            </a:r>
            <a:r>
              <a:rPr lang="en-US" sz="1100" dirty="0" smtClean="0"/>
              <a:t> suggests:</a:t>
            </a:r>
          </a:p>
          <a:p>
            <a:r>
              <a:rPr lang="en-US" sz="1100" dirty="0" smtClean="0"/>
              <a:t>Games with higher ratings tend to have </a:t>
            </a:r>
            <a:r>
              <a:rPr lang="en-US" sz="1100" b="1" dirty="0" smtClean="0"/>
              <a:t>more users adding them to their wishlist</a:t>
            </a:r>
            <a:r>
              <a:rPr lang="en-US" sz="1100" dirty="0" smtClean="0"/>
              <a:t>.</a:t>
            </a:r>
          </a:p>
          <a:p>
            <a:endParaRPr lang="en-US" sz="1100" dirty="0" smtClean="0"/>
          </a:p>
          <a:p>
            <a:r>
              <a:rPr lang="en-US" sz="1100" dirty="0" smtClean="0"/>
              <a:t>A correlation of </a:t>
            </a:r>
            <a:r>
              <a:rPr lang="en-US" sz="1100" b="1" dirty="0" smtClean="0"/>
              <a:t>0.52</a:t>
            </a:r>
            <a:r>
              <a:rPr lang="en-US" sz="1100" dirty="0" smtClean="0"/>
              <a:t> suggests:</a:t>
            </a:r>
          </a:p>
          <a:p>
            <a:r>
              <a:rPr lang="en-US" sz="1100" dirty="0" smtClean="0"/>
              <a:t>Higher-rated games are more likely to appear in users’ backlogs.</a:t>
            </a:r>
          </a:p>
          <a:p>
            <a:r>
              <a:rPr lang="en-US" sz="1100" dirty="0" smtClean="0"/>
              <a:t>Ratings have a </a:t>
            </a:r>
            <a:r>
              <a:rPr lang="en-US" sz="1100" b="1" dirty="0" smtClean="0"/>
              <a:t>meaningful but not dominant influence</a:t>
            </a:r>
            <a:r>
              <a:rPr lang="en-US" sz="1100" dirty="0" smtClean="0"/>
              <a:t> on user interest and ownership behavior.</a:t>
            </a:r>
          </a:p>
        </p:txBody>
      </p:sp>
      <p:sp>
        <p:nvSpPr>
          <p:cNvPr id="48" name="TextBox 47"/>
          <p:cNvSpPr txBox="1"/>
          <p:nvPr/>
        </p:nvSpPr>
        <p:spPr>
          <a:xfrm>
            <a:off x="500034" y="4929198"/>
            <a:ext cx="5000660" cy="1323439"/>
          </a:xfrm>
          <a:prstGeom prst="rect">
            <a:avLst/>
          </a:prstGeom>
          <a:noFill/>
        </p:spPr>
        <p:txBody>
          <a:bodyPr wrap="square" rtlCol="0">
            <a:spAutoFit/>
          </a:bodyPr>
          <a:lstStyle/>
          <a:p>
            <a:r>
              <a:rPr lang="en-US" sz="1000" b="1" dirty="0" smtClean="0"/>
              <a:t>Engagement and Sales Are Strongly Positively Correlated</a:t>
            </a:r>
            <a:endParaRPr lang="en-US" sz="1000" dirty="0" smtClean="0"/>
          </a:p>
          <a:p>
            <a:r>
              <a:rPr lang="en-US" sz="1000" dirty="0" smtClean="0"/>
              <a:t>Genres with higher engagement scores tend to generate higher global sales.</a:t>
            </a:r>
          </a:p>
          <a:p>
            <a:r>
              <a:rPr lang="en-US" sz="1000" b="1" dirty="0" smtClean="0"/>
              <a:t>Adventure</a:t>
            </a:r>
            <a:r>
              <a:rPr lang="en-US" sz="1000" dirty="0" smtClean="0"/>
              <a:t> and </a:t>
            </a:r>
            <a:r>
              <a:rPr lang="en-US" sz="1000" b="1" dirty="0" smtClean="0"/>
              <a:t>Shooter</a:t>
            </a:r>
            <a:r>
              <a:rPr lang="en-US" sz="1000" dirty="0" smtClean="0"/>
              <a:t> lead both in engagement and sales.</a:t>
            </a:r>
          </a:p>
          <a:p>
            <a:endParaRPr lang="en-US" sz="1000" b="1" dirty="0" smtClean="0"/>
          </a:p>
          <a:p>
            <a:r>
              <a:rPr lang="en-US" sz="1000" b="1" dirty="0" smtClean="0"/>
              <a:t>Not All Engagement Converts Equally Across Genres</a:t>
            </a:r>
            <a:endParaRPr lang="en-US" sz="1000" dirty="0" smtClean="0"/>
          </a:p>
          <a:p>
            <a:r>
              <a:rPr lang="en-US" sz="1000" dirty="0" smtClean="0"/>
              <a:t>Some genres show moderate engagement but comparatively lower sales:</a:t>
            </a:r>
          </a:p>
          <a:p>
            <a:r>
              <a:rPr lang="en-US" sz="1000" b="1" dirty="0" smtClean="0"/>
              <a:t>Action</a:t>
            </a:r>
            <a:r>
              <a:rPr lang="en-US" sz="1000" dirty="0" smtClean="0"/>
              <a:t> has strong engagement but doesn’t surpass Adventure/Shooter in sales.</a:t>
            </a:r>
          </a:p>
          <a:p>
            <a:r>
              <a:rPr lang="en-US" sz="1000" b="1" dirty="0" smtClean="0"/>
              <a:t>Fighting, Sports, and Simulation</a:t>
            </a:r>
            <a:r>
              <a:rPr lang="en-US" sz="1000" dirty="0" smtClean="0"/>
              <a:t> have lower engagement and correspondingly lower sales.</a:t>
            </a:r>
          </a:p>
        </p:txBody>
      </p:sp>
      <p:pic>
        <p:nvPicPr>
          <p:cNvPr id="5160" name="Picture 40"/>
          <p:cNvPicPr>
            <a:picLocks noChangeAspect="1" noChangeArrowheads="1"/>
          </p:cNvPicPr>
          <p:nvPr/>
        </p:nvPicPr>
        <p:blipFill>
          <a:blip r:embed="rId3"/>
          <a:srcRect/>
          <a:stretch>
            <a:fillRect/>
          </a:stretch>
        </p:blipFill>
        <p:spPr bwMode="auto">
          <a:xfrm>
            <a:off x="642910" y="1785926"/>
            <a:ext cx="4540915" cy="3162306"/>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EDA Merged data </a:t>
            </a:r>
            <a:r>
              <a:rPr lang="en-US" dirty="0" smtClean="0"/>
              <a:t>(4)</a:t>
            </a:r>
            <a:endParaRPr lang="en-US" dirty="0"/>
          </a:p>
        </p:txBody>
      </p:sp>
      <p:sp>
        <p:nvSpPr>
          <p:cNvPr id="10" name="Text Placeholder 6"/>
          <p:cNvSpPr txBox="1">
            <a:spLocks/>
          </p:cNvSpPr>
          <p:nvPr/>
        </p:nvSpPr>
        <p:spPr>
          <a:xfrm>
            <a:off x="4786314" y="1571612"/>
            <a:ext cx="4188967" cy="261610"/>
          </a:xfrm>
          <a:prstGeom prst="rect">
            <a:avLst/>
          </a:prstGeom>
        </p:spPr>
        <p:txBody>
          <a:bodyPr vert="horz" wrap="none" lIns="91440" tIns="45720" rIns="91440" bIns="45720" rtlCol="0" anchor="b">
            <a:spAutoFit/>
          </a:bodyPr>
          <a:lstStyle/>
          <a:p>
            <a:r>
              <a:rPr lang="en-US" sz="1100" b="1" dirty="0" smtClean="0"/>
              <a:t>29. What are the top-performing combinations of Genre + Platform?</a:t>
            </a:r>
          </a:p>
        </p:txBody>
      </p:sp>
      <p:pic>
        <p:nvPicPr>
          <p:cNvPr id="10243" name="Picture 3"/>
          <p:cNvPicPr>
            <a:picLocks noChangeAspect="1" noChangeArrowheads="1"/>
          </p:cNvPicPr>
          <p:nvPr/>
        </p:nvPicPr>
        <p:blipFill>
          <a:blip r:embed="rId2"/>
          <a:srcRect/>
          <a:stretch>
            <a:fillRect/>
          </a:stretch>
        </p:blipFill>
        <p:spPr bwMode="auto">
          <a:xfrm>
            <a:off x="5572132" y="2000240"/>
            <a:ext cx="2143125" cy="2105025"/>
          </a:xfrm>
          <a:prstGeom prst="rect">
            <a:avLst/>
          </a:prstGeom>
          <a:noFill/>
          <a:ln w="9525">
            <a:noFill/>
            <a:miter lim="800000"/>
            <a:headEnd/>
            <a:tailEnd/>
          </a:ln>
          <a:effectLst/>
        </p:spPr>
      </p:pic>
      <p:sp>
        <p:nvSpPr>
          <p:cNvPr id="11" name="Text Placeholder 6"/>
          <p:cNvSpPr>
            <a:spLocks noGrp="1"/>
          </p:cNvSpPr>
          <p:nvPr>
            <p:ph type="body" idx="1"/>
          </p:nvPr>
        </p:nvSpPr>
        <p:spPr>
          <a:xfrm>
            <a:off x="471430" y="1571612"/>
            <a:ext cx="4400552" cy="261610"/>
          </a:xfrm>
        </p:spPr>
        <p:txBody>
          <a:bodyPr vert="horz" wrap="square" lIns="91440" tIns="45720" rIns="91440" bIns="45720" rtlCol="0" anchor="b">
            <a:spAutoFit/>
          </a:bodyPr>
          <a:lstStyle/>
          <a:p>
            <a:r>
              <a:rPr lang="en-US" sz="1100" dirty="0" smtClean="0"/>
              <a:t>30. What does a regional sales heatmap by genre reveal?</a:t>
            </a:r>
          </a:p>
        </p:txBody>
      </p:sp>
      <p:pic>
        <p:nvPicPr>
          <p:cNvPr id="12" name="Picture 2"/>
          <p:cNvPicPr>
            <a:picLocks noChangeAspect="1" noChangeArrowheads="1"/>
          </p:cNvPicPr>
          <p:nvPr/>
        </p:nvPicPr>
        <p:blipFill>
          <a:blip r:embed="rId3"/>
          <a:srcRect t="1803"/>
          <a:stretch>
            <a:fillRect/>
          </a:stretch>
        </p:blipFill>
        <p:spPr bwMode="auto">
          <a:xfrm>
            <a:off x="471430" y="1934536"/>
            <a:ext cx="4243446" cy="2670951"/>
          </a:xfrm>
          <a:prstGeom prst="rect">
            <a:avLst/>
          </a:prstGeom>
          <a:noFill/>
          <a:ln w="9525">
            <a:noFill/>
            <a:miter lim="800000"/>
            <a:headEnd/>
            <a:tailEnd/>
          </a:ln>
          <a:effectLst/>
        </p:spPr>
      </p:pic>
      <p:sp>
        <p:nvSpPr>
          <p:cNvPr id="13" name="Rectangle 9"/>
          <p:cNvSpPr>
            <a:spLocks noChangeArrowheads="1"/>
          </p:cNvSpPr>
          <p:nvPr/>
        </p:nvSpPr>
        <p:spPr bwMode="auto">
          <a:xfrm>
            <a:off x="928662" y="4929198"/>
            <a:ext cx="4071966" cy="1169551"/>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tabLst/>
            </a:pPr>
            <a:r>
              <a:rPr kumimoji="0" lang="en-US" sz="1000" i="0" u="none" strike="noStrike" cap="none" normalizeH="0" baseline="0" dirty="0" smtClean="0">
                <a:ln>
                  <a:noFill/>
                </a:ln>
                <a:solidFill>
                  <a:schemeClr val="tx1"/>
                </a:solidFill>
                <a:effectLst/>
                <a:cs typeface="Arial" charset="0"/>
              </a:rPr>
              <a:t>Overall Conclusion</a:t>
            </a:r>
          </a:p>
          <a:p>
            <a:pPr marL="0" marR="0" lvl="0" indent="0" algn="l" defTabSz="914400" rtl="0" eaLnBrk="0" fontAlgn="base" latinLnBrk="0" hangingPunct="0">
              <a:lnSpc>
                <a:spcPct val="100000"/>
              </a:lnSpc>
              <a:spcBef>
                <a:spcPct val="0"/>
              </a:spcBef>
              <a:spcAft>
                <a:spcPct val="0"/>
              </a:spcAft>
              <a:buClrTx/>
              <a:buSzTx/>
              <a:tabLst/>
            </a:pPr>
            <a:r>
              <a:rPr kumimoji="0" lang="en-US" sz="1000" i="0" u="none" strike="noStrike" cap="none" normalizeH="0" baseline="0" dirty="0" smtClean="0">
                <a:ln>
                  <a:noFill/>
                </a:ln>
                <a:solidFill>
                  <a:schemeClr val="tx1"/>
                </a:solidFill>
                <a:effectLst/>
                <a:cs typeface="Arial" charset="0"/>
              </a:rPr>
              <a:t>NA = Primary revenue engine</a:t>
            </a:r>
          </a:p>
          <a:p>
            <a:pPr marL="0" marR="0" lvl="0" indent="0" algn="l" defTabSz="914400" rtl="0" eaLnBrk="0" fontAlgn="base" latinLnBrk="0" hangingPunct="0">
              <a:lnSpc>
                <a:spcPct val="100000"/>
              </a:lnSpc>
              <a:spcBef>
                <a:spcPct val="0"/>
              </a:spcBef>
              <a:spcAft>
                <a:spcPct val="0"/>
              </a:spcAft>
              <a:buClrTx/>
              <a:buSzTx/>
              <a:tabLst/>
            </a:pPr>
            <a:r>
              <a:rPr kumimoji="0" lang="en-US" sz="1000" i="0" u="none" strike="noStrike" cap="none" normalizeH="0" baseline="0" dirty="0" smtClean="0">
                <a:ln>
                  <a:noFill/>
                </a:ln>
                <a:solidFill>
                  <a:schemeClr val="tx1"/>
                </a:solidFill>
                <a:effectLst/>
                <a:cs typeface="Arial" charset="0"/>
              </a:rPr>
              <a:t>EU = Similar preferences, smaller scale</a:t>
            </a:r>
          </a:p>
          <a:p>
            <a:pPr marL="0" marR="0" lvl="0" indent="0" algn="l" defTabSz="914400" rtl="0" eaLnBrk="0" fontAlgn="base" latinLnBrk="0" hangingPunct="0">
              <a:lnSpc>
                <a:spcPct val="100000"/>
              </a:lnSpc>
              <a:spcBef>
                <a:spcPct val="0"/>
              </a:spcBef>
              <a:spcAft>
                <a:spcPct val="0"/>
              </a:spcAft>
              <a:buClrTx/>
              <a:buSzTx/>
              <a:tabLst/>
            </a:pPr>
            <a:r>
              <a:rPr kumimoji="0" lang="en-US" sz="1000" i="0" u="none" strike="noStrike" cap="none" normalizeH="0" baseline="0" dirty="0" smtClean="0">
                <a:ln>
                  <a:noFill/>
                </a:ln>
                <a:solidFill>
                  <a:schemeClr val="tx1"/>
                </a:solidFill>
                <a:effectLst/>
                <a:cs typeface="Arial" charset="0"/>
              </a:rPr>
              <a:t>JP = Distinct, RPG/adventure-oriented</a:t>
            </a:r>
          </a:p>
          <a:p>
            <a:pPr marL="0" marR="0" lvl="0" indent="0" algn="l" defTabSz="914400" rtl="0" eaLnBrk="0" fontAlgn="base" latinLnBrk="0" hangingPunct="0">
              <a:lnSpc>
                <a:spcPct val="100000"/>
              </a:lnSpc>
              <a:spcBef>
                <a:spcPct val="0"/>
              </a:spcBef>
              <a:spcAft>
                <a:spcPct val="0"/>
              </a:spcAft>
              <a:buClrTx/>
              <a:buSzTx/>
              <a:tabLst/>
            </a:pPr>
            <a:r>
              <a:rPr kumimoji="0" lang="en-US" sz="1000" i="0" u="none" strike="noStrike" cap="none" normalizeH="0" baseline="0" dirty="0" smtClean="0">
                <a:ln>
                  <a:noFill/>
                </a:ln>
                <a:solidFill>
                  <a:schemeClr val="tx1"/>
                </a:solidFill>
                <a:effectLst/>
                <a:cs typeface="Arial" charset="0"/>
              </a:rPr>
              <a:t>Adventure is the global winner</a:t>
            </a:r>
          </a:p>
          <a:p>
            <a:pPr marL="0" marR="0" lvl="0" indent="0" algn="l" defTabSz="914400" rtl="0" eaLnBrk="0" fontAlgn="base" latinLnBrk="0" hangingPunct="0">
              <a:lnSpc>
                <a:spcPct val="100000"/>
              </a:lnSpc>
              <a:spcBef>
                <a:spcPct val="0"/>
              </a:spcBef>
              <a:spcAft>
                <a:spcPct val="0"/>
              </a:spcAft>
              <a:buClrTx/>
              <a:buSzTx/>
              <a:tabLst/>
            </a:pPr>
            <a:r>
              <a:rPr kumimoji="0" lang="en-US" sz="1000" i="0" u="none" strike="noStrike" cap="none" normalizeH="0" baseline="0" dirty="0" smtClean="0">
                <a:ln>
                  <a:noFill/>
                </a:ln>
                <a:solidFill>
                  <a:schemeClr val="tx1"/>
                </a:solidFill>
                <a:effectLst/>
                <a:cs typeface="Arial" charset="0"/>
              </a:rPr>
              <a:t>Shooters dominate in Western markets but underperform in Japan</a:t>
            </a:r>
          </a:p>
          <a:p>
            <a:pPr marL="0" marR="0" lvl="0" indent="0" algn="l" defTabSz="914400" rtl="0" eaLnBrk="0" fontAlgn="base" latinLnBrk="0" hangingPunct="0">
              <a:lnSpc>
                <a:spcPct val="100000"/>
              </a:lnSpc>
              <a:spcBef>
                <a:spcPct val="0"/>
              </a:spcBef>
              <a:spcAft>
                <a:spcPct val="0"/>
              </a:spcAft>
              <a:buClrTx/>
              <a:buSzTx/>
              <a:tabLst/>
            </a:pPr>
            <a:endParaRPr kumimoji="0" lang="en-US" sz="1000" i="0" u="none" strike="noStrike" cap="none" normalizeH="0" baseline="0" dirty="0" smtClean="0">
              <a:ln>
                <a:noFill/>
              </a:ln>
              <a:solidFill>
                <a:schemeClr val="tx1"/>
              </a:solidFill>
              <a:effectLst/>
              <a:cs typeface="Arial" charset="0"/>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Business Insights</a:t>
            </a:r>
            <a:endParaRPr lang="en-US" dirty="0"/>
          </a:p>
        </p:txBody>
      </p:sp>
      <p:sp>
        <p:nvSpPr>
          <p:cNvPr id="3" name="Content Placeholder 2"/>
          <p:cNvSpPr>
            <a:spLocks noGrp="1"/>
          </p:cNvSpPr>
          <p:nvPr>
            <p:ph idx="1"/>
          </p:nvPr>
        </p:nvSpPr>
        <p:spPr/>
        <p:txBody>
          <a:bodyPr>
            <a:normAutofit/>
          </a:bodyPr>
          <a:lstStyle/>
          <a:p>
            <a:pPr>
              <a:buNone/>
            </a:pPr>
            <a:r>
              <a:rPr lang="en-US" sz="1100" b="1" dirty="0" smtClean="0"/>
              <a:t>Genre</a:t>
            </a:r>
            <a:r>
              <a:rPr lang="en-US" sz="1100" dirty="0" smtClean="0"/>
              <a:t>: Action, Adventure, and Shooter genres generate the highest overall sales globally</a:t>
            </a:r>
            <a:r>
              <a:rPr lang="en-US" sz="1100" dirty="0" smtClean="0"/>
              <a:t>.</a:t>
            </a:r>
          </a:p>
          <a:p>
            <a:r>
              <a:rPr lang="en-US" sz="1100" dirty="0" smtClean="0"/>
              <a:t>H</a:t>
            </a:r>
            <a:r>
              <a:rPr lang="en-US" sz="1100" dirty="0" smtClean="0"/>
              <a:t>igh-engagement </a:t>
            </a:r>
            <a:r>
              <a:rPr lang="en-US" sz="1100" dirty="0" smtClean="0"/>
              <a:t>genres like </a:t>
            </a:r>
            <a:r>
              <a:rPr lang="en-US" sz="1100" dirty="0" smtClean="0"/>
              <a:t>Adventure, Action, </a:t>
            </a:r>
            <a:r>
              <a:rPr lang="en-US" sz="1100" dirty="0" smtClean="0"/>
              <a:t>Shooter, </a:t>
            </a:r>
            <a:r>
              <a:rPr lang="en-US" sz="1100" dirty="0" smtClean="0"/>
              <a:t>Platform and </a:t>
            </a:r>
            <a:r>
              <a:rPr lang="en-US" sz="1100" dirty="0" smtClean="0"/>
              <a:t>RPG were leading sales.</a:t>
            </a:r>
          </a:p>
          <a:p>
            <a:pPr>
              <a:buNone/>
            </a:pPr>
            <a:r>
              <a:rPr lang="en-US" sz="1100" b="1" dirty="0" smtClean="0"/>
              <a:t>Platforms: </a:t>
            </a:r>
            <a:r>
              <a:rPr lang="en-US" sz="1100" dirty="0" smtClean="0"/>
              <a:t>PS3,X360,PS2,Wii, PS  platforms generate the highest overall sales</a:t>
            </a:r>
          </a:p>
          <a:p>
            <a:r>
              <a:rPr lang="fr-FR" sz="1100" dirty="0" smtClean="0"/>
              <a:t>PS3, X360, PC, PS2, PS4  </a:t>
            </a:r>
            <a:r>
              <a:rPr lang="fr-FR" sz="1100" dirty="0" smtClean="0"/>
              <a:t>p</a:t>
            </a:r>
            <a:r>
              <a:rPr lang="fr-FR" sz="1100" dirty="0" smtClean="0"/>
              <a:t>latforms are High in count meaning most games are using these platforms.</a:t>
            </a:r>
          </a:p>
          <a:p>
            <a:r>
              <a:rPr lang="fr-FR" sz="1100" dirty="0" smtClean="0"/>
              <a:t>Though Wii is in top 4 sales but is in top 10 in count,</a:t>
            </a:r>
            <a:endParaRPr lang="en-US" sz="1100" b="1" dirty="0" smtClean="0"/>
          </a:p>
          <a:p>
            <a:pPr>
              <a:buNone/>
            </a:pPr>
            <a:r>
              <a:rPr lang="en-US" sz="1100" b="1" dirty="0" smtClean="0"/>
              <a:t>Rating</a:t>
            </a:r>
            <a:r>
              <a:rPr lang="en-US" sz="1100" dirty="0" smtClean="0"/>
              <a:t>: </a:t>
            </a:r>
            <a:r>
              <a:rPr lang="en-US" sz="1100" dirty="0" smtClean="0"/>
              <a:t>Ratings moderately influence wishlist and backlog </a:t>
            </a:r>
            <a:r>
              <a:rPr lang="en-US" sz="1100" dirty="0" smtClean="0"/>
              <a:t>growth</a:t>
            </a:r>
          </a:p>
          <a:p>
            <a:r>
              <a:rPr lang="en-US" sz="1100" dirty="0" smtClean="0"/>
              <a:t>Ratings and wishlists show only a weak positive link to </a:t>
            </a:r>
            <a:r>
              <a:rPr lang="en-US" sz="1100" dirty="0" smtClean="0"/>
              <a:t>sales</a:t>
            </a:r>
            <a:endParaRPr lang="en-US" sz="1100" dirty="0" smtClean="0"/>
          </a:p>
          <a:p>
            <a:r>
              <a:rPr lang="en-US" sz="1100" b="1" dirty="0" smtClean="0"/>
              <a:t>P</a:t>
            </a:r>
            <a:r>
              <a:rPr lang="en-US" sz="1100" b="1" dirty="0" smtClean="0"/>
              <a:t>latform </a:t>
            </a:r>
            <a:r>
              <a:rPr lang="en-US" sz="1100" b="1" dirty="0" smtClean="0"/>
              <a:t>strength + genre appeal + regional demand</a:t>
            </a:r>
            <a:r>
              <a:rPr lang="en-US" sz="1100" dirty="0" smtClean="0"/>
              <a:t> determine real commercial success — not ratings alone</a:t>
            </a:r>
            <a:r>
              <a:rPr lang="en-US" sz="1100" dirty="0" smtClean="0"/>
              <a:t>.</a:t>
            </a:r>
          </a:p>
          <a:p>
            <a:pPr>
              <a:buNone/>
            </a:pPr>
            <a:r>
              <a:rPr lang="en-US" sz="1100" b="1" dirty="0" smtClean="0"/>
              <a:t>Region</a:t>
            </a:r>
            <a:r>
              <a:rPr lang="en-US" sz="1100" dirty="0" smtClean="0"/>
              <a:t>: North America leads total sales, while Europe follows similar trends at a slightly lower scale.</a:t>
            </a:r>
          </a:p>
          <a:p>
            <a:r>
              <a:rPr lang="en-US" sz="1100" dirty="0" smtClean="0"/>
              <a:t>Japan shows distinct preferences, particularly stronger performance in role-playing and adventure genres</a:t>
            </a:r>
            <a:r>
              <a:rPr lang="en-US" sz="1100" dirty="0" smtClean="0"/>
              <a:t>.</a:t>
            </a:r>
          </a:p>
          <a:p>
            <a:r>
              <a:rPr lang="en-US" sz="1100" b="1" dirty="0" smtClean="0"/>
              <a:t>North America Drives Revenue, but Genre Strength Scales Globally</a:t>
            </a:r>
          </a:p>
          <a:p>
            <a:r>
              <a:rPr lang="en-US" sz="1100" dirty="0" smtClean="0"/>
              <a:t>Across platforms, North America consistently contributes the largest share of sales. However, top-performing genres (Adventure, Shooter, RPG) succeed across all regions.</a:t>
            </a:r>
          </a:p>
          <a:p>
            <a:pPr>
              <a:buNone/>
            </a:pPr>
            <a:r>
              <a:rPr lang="en-US" sz="1100" b="1" dirty="0" smtClean="0"/>
              <a:t>Year</a:t>
            </a:r>
            <a:r>
              <a:rPr lang="en-US" sz="1100" dirty="0" smtClean="0"/>
              <a:t> : </a:t>
            </a:r>
            <a:r>
              <a:rPr lang="en-US" sz="1100" dirty="0" smtClean="0"/>
              <a:t>The massive growth period (mid-1990s to 2008) aligns with dominant platforms like </a:t>
            </a:r>
            <a:r>
              <a:rPr lang="en-US" sz="1100" b="1" dirty="0" smtClean="0"/>
              <a:t>PS2</a:t>
            </a:r>
            <a:r>
              <a:rPr lang="en-US" sz="1100" dirty="0" smtClean="0"/>
              <a:t>, </a:t>
            </a:r>
            <a:r>
              <a:rPr lang="en-US" sz="1100" b="1" dirty="0" smtClean="0"/>
              <a:t>X360</a:t>
            </a:r>
            <a:r>
              <a:rPr lang="en-US" sz="1100" dirty="0" smtClean="0"/>
              <a:t>, and </a:t>
            </a:r>
            <a:r>
              <a:rPr lang="en-US" sz="1100" b="1" dirty="0" smtClean="0"/>
              <a:t>Wii</a:t>
            </a:r>
            <a:r>
              <a:rPr lang="en-US" sz="1100" dirty="0" smtClean="0"/>
              <a:t>.</a:t>
            </a:r>
          </a:p>
          <a:p>
            <a:r>
              <a:rPr lang="en-US" sz="1100" dirty="0" smtClean="0"/>
              <a:t>At </a:t>
            </a:r>
            <a:r>
              <a:rPr lang="en-US" sz="1100" dirty="0" smtClean="0"/>
              <a:t>the same time, high-engagement genres like Adventure, Shooter, and RPG were leading sales.</a:t>
            </a:r>
          </a:p>
          <a:p>
            <a:r>
              <a:rPr lang="en-US" sz="1100" dirty="0" smtClean="0"/>
              <a:t> Industry Growth Was Platform-Driven, Not Just </a:t>
            </a:r>
            <a:r>
              <a:rPr lang="en-US" sz="1100" dirty="0" smtClean="0"/>
              <a:t>Genre-Driven</a:t>
            </a:r>
            <a:endParaRPr lang="en-US" sz="1100" b="1" dirty="0" smtClean="0"/>
          </a:p>
          <a:p>
            <a:r>
              <a:rPr lang="en-US" sz="1100" b="1" dirty="0" smtClean="0"/>
              <a:t>Volume </a:t>
            </a:r>
            <a:r>
              <a:rPr lang="en-US" sz="1100" b="1" dirty="0" smtClean="0"/>
              <a:t>of Releases Doesn’t Guarantee Long-Term Growth</a:t>
            </a:r>
          </a:p>
          <a:p>
            <a:r>
              <a:rPr lang="en-US" sz="1100" dirty="0" smtClean="0"/>
              <a:t>After </a:t>
            </a:r>
            <a:r>
              <a:rPr lang="en-US" sz="1100" dirty="0" smtClean="0"/>
              <a:t>2008–2010: Releases </a:t>
            </a:r>
            <a:r>
              <a:rPr lang="en-US" sz="1100" dirty="0" smtClean="0"/>
              <a:t>remained high </a:t>
            </a:r>
            <a:r>
              <a:rPr lang="en-US" sz="1100" dirty="0" smtClean="0"/>
              <a:t>briefly, Sales </a:t>
            </a:r>
            <a:r>
              <a:rPr lang="en-US" sz="1100" dirty="0" smtClean="0"/>
              <a:t>declined </a:t>
            </a:r>
            <a:r>
              <a:rPr lang="en-US" sz="1100" dirty="0" smtClean="0"/>
              <a:t>sharply</a:t>
            </a:r>
          </a:p>
          <a:p>
            <a:r>
              <a:rPr lang="en-US" sz="1100" dirty="0" smtClean="0"/>
              <a:t>At the same time, only a few genres/platforms generate the majority of revenue</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5067</TotalTime>
  <Words>2245</Words>
  <Application>Microsoft Office PowerPoint</Application>
  <PresentationFormat>On-screen Show (4:3)</PresentationFormat>
  <Paragraphs>275</Paragraphs>
  <Slides>21</Slides>
  <Notes>0</Notes>
  <HiddenSlides>0</HiddenSlides>
  <MMClips>0</MMClip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Office Theme</vt:lpstr>
      <vt:lpstr>Data Cleaning</vt:lpstr>
      <vt:lpstr>Data Cleaning - 1</vt:lpstr>
      <vt:lpstr>EDA – Games dataset</vt:lpstr>
      <vt:lpstr>EDA – Games dataset (1)</vt:lpstr>
      <vt:lpstr>EDA – Games dataset (2)</vt:lpstr>
      <vt:lpstr>EDA – Games dataset (3)</vt:lpstr>
      <vt:lpstr>EDA – Games dataset (4)</vt:lpstr>
      <vt:lpstr>EDA – Vgames dataset</vt:lpstr>
      <vt:lpstr>EDA – Vgames dataset (1)</vt:lpstr>
      <vt:lpstr>EDA – Vgames dataset (2)</vt:lpstr>
      <vt:lpstr>EDA – Vgames dataset (3)</vt:lpstr>
      <vt:lpstr>EDA – Vgames dataset (4)</vt:lpstr>
      <vt:lpstr>EDA – Vgames dataset (5)</vt:lpstr>
      <vt:lpstr>Merging data and Cleaning</vt:lpstr>
      <vt:lpstr>EDA Merged data</vt:lpstr>
      <vt:lpstr>EDA Merged data</vt:lpstr>
      <vt:lpstr>EDA Merged data (1)</vt:lpstr>
      <vt:lpstr>EDA Merged data (2)</vt:lpstr>
      <vt:lpstr>EDA Merged data (3)</vt:lpstr>
      <vt:lpstr>EDA Merged data (4)</vt:lpstr>
      <vt:lpstr>Business Insights</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EDA</dc:title>
  <dc:creator>HI</dc:creator>
  <cp:lastModifiedBy>HI</cp:lastModifiedBy>
  <cp:revision>268</cp:revision>
  <dcterms:created xsi:type="dcterms:W3CDTF">2026-01-25T12:58:54Z</dcterms:created>
  <dcterms:modified xsi:type="dcterms:W3CDTF">2026-02-15T07:53:55Z</dcterms:modified>
</cp:coreProperties>
</file>